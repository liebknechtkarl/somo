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399790" y="2241550"/>
            <a:ext cx="53924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2024/06/03</a:t>
            </a:r>
            <a:endParaRPr lang="en-US" altLang="en-US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 difussion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 descr="Screenshot from 2024-06-13 09-57-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1550" y="238125"/>
            <a:ext cx="8397240" cy="3281045"/>
          </a:xfrm>
          <a:prstGeom prst="rect">
            <a:avLst/>
          </a:prstGeom>
        </p:spPr>
      </p:pic>
      <p:pic>
        <p:nvPicPr>
          <p:cNvPr id="4" name="图片 3" descr="Screenshot from 2024-06-13 09-49-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" y="3856355"/>
            <a:ext cx="5574030" cy="25336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313805" y="4034790"/>
            <a:ext cx="49142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带噪声图</a:t>
            </a:r>
            <a:r>
              <a:rPr lang="en-US" altLang="zh-CN"/>
              <a:t>+</a:t>
            </a:r>
            <a:r>
              <a:rPr lang="zh-CN" altLang="en-US"/>
              <a:t>加噪</a:t>
            </a:r>
            <a:r>
              <a:rPr lang="en-US" altLang="zh-CN"/>
              <a:t>step ---</a:t>
            </a:r>
            <a:r>
              <a:rPr lang="en-US" altLang="zh-CN" sz="1200">
                <a:solidFill>
                  <a:srgbClr val="FF0000"/>
                </a:solidFill>
              </a:rPr>
              <a:t>Noise Predicter</a:t>
            </a:r>
            <a:r>
              <a:rPr lang="en-US" altLang="zh-CN"/>
              <a:t> ---&gt; </a:t>
            </a:r>
            <a:r>
              <a:rPr lang="zh-CN" altLang="en-US"/>
              <a:t>噪声</a:t>
            </a:r>
            <a:endParaRPr lang="zh-CN" altLang="en-US"/>
          </a:p>
          <a:p>
            <a:r>
              <a:rPr lang="zh-CN" altLang="en-US"/>
              <a:t>带噪声图</a:t>
            </a:r>
            <a:r>
              <a:rPr lang="en-US" altLang="zh-CN"/>
              <a:t>-</a:t>
            </a:r>
            <a:r>
              <a:rPr lang="zh-CN" altLang="en-US"/>
              <a:t>噪声</a:t>
            </a:r>
            <a:r>
              <a:rPr lang="en-US" altLang="zh-CN"/>
              <a:t> ------&gt; </a:t>
            </a:r>
            <a:r>
              <a:rPr lang="zh-CN" altLang="en-US"/>
              <a:t>新带噪声图（噪声更少）</a:t>
            </a:r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955665" y="5593715"/>
            <a:ext cx="5525135" cy="94615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400">
                <a:solidFill>
                  <a:srgbClr val="FF0000"/>
                </a:solidFill>
                <a:sym typeface="+mn-ea"/>
              </a:rPr>
              <a:t>Net</a:t>
            </a:r>
            <a:r>
              <a:rPr lang="zh-CN" altLang="en-US" sz="1400">
                <a:solidFill>
                  <a:srgbClr val="FF0000"/>
                </a:solidFill>
                <a:sym typeface="+mn-ea"/>
              </a:rPr>
              <a:t>的唯一作用就是预测噪声</a:t>
            </a:r>
            <a:endParaRPr lang="zh-CN" altLang="en-US" sz="14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Screenshot from 2024-06-13 15-59-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35" y="2397125"/>
            <a:ext cx="6308090" cy="2590165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 difussion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5" name="图片 4" descr="Screenshot from 2024-06-13 16-00-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065" y="170815"/>
            <a:ext cx="7445375" cy="1894840"/>
          </a:xfrm>
          <a:prstGeom prst="rect">
            <a:avLst/>
          </a:prstGeom>
        </p:spPr>
      </p:pic>
      <p:pic>
        <p:nvPicPr>
          <p:cNvPr id="6" name="图片 5" descr="Screenshot from 2024-06-13 16-34-16"/>
          <p:cNvPicPr>
            <a:picLocks noChangeAspect="1"/>
          </p:cNvPicPr>
          <p:nvPr/>
        </p:nvPicPr>
        <p:blipFill>
          <a:blip r:embed="rId3"/>
          <a:srcRect t="2901"/>
          <a:stretch>
            <a:fillRect/>
          </a:stretch>
        </p:blipFill>
        <p:spPr>
          <a:xfrm>
            <a:off x="5594350" y="3561715"/>
            <a:ext cx="5375275" cy="2464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 difussion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2740" y="1179830"/>
            <a:ext cx="45478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FID : FID（Fréchet Inception Distance）是一种用于评估生成模型和真实数据分布之间差异的指标。</a:t>
            </a:r>
            <a:endParaRPr lang="en-US" altLang="zh-CN"/>
          </a:p>
        </p:txBody>
      </p:sp>
      <p:pic>
        <p:nvPicPr>
          <p:cNvPr id="5" name="图片 4" descr="Screenshot from 2024-06-13 17-32-54"/>
          <p:cNvPicPr>
            <a:picLocks noChangeAspect="1"/>
          </p:cNvPicPr>
          <p:nvPr/>
        </p:nvPicPr>
        <p:blipFill>
          <a:blip r:embed="rId1"/>
          <a:srcRect l="10754" t="40329" r="59173" b="6098"/>
          <a:stretch>
            <a:fillRect/>
          </a:stretch>
        </p:blipFill>
        <p:spPr>
          <a:xfrm>
            <a:off x="199390" y="2101850"/>
            <a:ext cx="5321935" cy="26663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647055" y="1069975"/>
            <a:ext cx="58635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Constrastive Language-Image Pre-training</a:t>
            </a:r>
            <a:r>
              <a:rPr lang="en-US" altLang="zh-CN"/>
              <a:t> : </a:t>
            </a:r>
            <a:r>
              <a:rPr lang="zh-CN" altLang="en-US"/>
              <a:t>采用对比学习的文本-图像预训练模型</a:t>
            </a:r>
            <a:endParaRPr lang="zh-CN" altLang="en-US"/>
          </a:p>
        </p:txBody>
      </p:sp>
      <p:pic>
        <p:nvPicPr>
          <p:cNvPr id="7" name="图片 6" descr="Screenshot from 2024-06-13 19-41-09"/>
          <p:cNvPicPr>
            <a:picLocks noChangeAspect="1"/>
          </p:cNvPicPr>
          <p:nvPr/>
        </p:nvPicPr>
        <p:blipFill>
          <a:blip r:embed="rId2"/>
          <a:srcRect l="6521" t="12131" r="23156" b="4170"/>
          <a:stretch>
            <a:fillRect/>
          </a:stretch>
        </p:blipFill>
        <p:spPr>
          <a:xfrm>
            <a:off x="5647055" y="1858645"/>
            <a:ext cx="6260465" cy="18427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Figure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65" y="479425"/>
            <a:ext cx="5908040" cy="1181735"/>
          </a:xfrm>
          <a:prstGeom prst="rect">
            <a:avLst/>
          </a:prstGeom>
        </p:spPr>
      </p:pic>
      <p:pic>
        <p:nvPicPr>
          <p:cNvPr id="4" name="图片 3" descr="Figure_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3135630"/>
            <a:ext cx="5907405" cy="1181100"/>
          </a:xfrm>
          <a:prstGeom prst="rect">
            <a:avLst/>
          </a:prstGeom>
        </p:spPr>
      </p:pic>
      <p:pic>
        <p:nvPicPr>
          <p:cNvPr id="2" name="图片 1" descr="Screenshot from 2024-06-25 21-11-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800" y="2310765"/>
            <a:ext cx="6301740" cy="6076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Figure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290" y="339090"/>
            <a:ext cx="11016615" cy="58534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igure_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Screenshot from 2024-06-27 19-30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405" y="1255395"/>
            <a:ext cx="6501130" cy="31661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077710" y="1786890"/>
            <a:ext cx="482028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endParaRPr lang="en-US" altLang="zh-CN"/>
          </a:p>
          <a:p>
            <a:r>
              <a:rPr lang="en-US" altLang="zh-CN"/>
              <a:t>2.  </a:t>
            </a:r>
            <a:r>
              <a:rPr lang="zh-CN" altLang="en-US"/>
              <a:t>从训练集里取一个数据</a:t>
            </a:r>
            <a:r>
              <a:rPr lang="en-US" altLang="zh-CN"/>
              <a:t>x</a:t>
            </a:r>
            <a:r>
              <a:rPr lang="en-US" altLang="zh-CN" baseline="-25000"/>
              <a:t>0</a:t>
            </a:r>
            <a:endParaRPr lang="en-US" altLang="zh-CN" baseline="-25000"/>
          </a:p>
          <a:p>
            <a:r>
              <a:rPr lang="en-US" altLang="zh-CN"/>
              <a:t>3.  </a:t>
            </a:r>
            <a:r>
              <a:rPr lang="zh-CN" altLang="en-US"/>
              <a:t>随机选取一个时间步</a:t>
            </a:r>
            <a:endParaRPr lang="zh-CN" altLang="en-US"/>
          </a:p>
          <a:p>
            <a:r>
              <a:rPr lang="en-US" altLang="zh-CN"/>
              <a:t>4.  </a:t>
            </a:r>
            <a:r>
              <a:rPr lang="zh-CN" altLang="en-US"/>
              <a:t>随机生成噪声∈</a:t>
            </a:r>
            <a:endParaRPr lang="zh-CN" altLang="en-US"/>
          </a:p>
          <a:p>
            <a:r>
              <a:rPr lang="en-US" altLang="zh-CN"/>
              <a:t>5.  </a:t>
            </a:r>
            <a:r>
              <a:rPr lang="zh-CN" altLang="en-US"/>
              <a:t>计算真实噪声</a:t>
            </a:r>
            <a:r>
              <a:rPr lang="zh-CN" altLang="en-US">
                <a:sym typeface="+mn-ea"/>
              </a:rPr>
              <a:t>∈和预测噪声∈</a:t>
            </a:r>
            <a:r>
              <a:rPr lang="zh-CN" altLang="en-US" baseline="-2500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θ</a:t>
            </a:r>
            <a:r>
              <a:rPr lang="zh-CN" altLang="en-US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，预测值由时间步和加噪新图输入</a:t>
            </a:r>
            <a:r>
              <a:rPr lang="en-US" altLang="zh-CN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Net</a:t>
            </a:r>
            <a:r>
              <a:rPr lang="zh-CN" altLang="en-US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获得。优化真实噪声和预测噪声损失</a:t>
            </a:r>
            <a:endParaRPr lang="zh-CN" altLang="en-US"/>
          </a:p>
          <a:p>
            <a:endParaRPr lang="en-US" altLang="zh-CN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3042285" y="3940810"/>
            <a:ext cx="2341880" cy="101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073400" y="4024630"/>
            <a:ext cx="2258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FF0000"/>
                </a:solidFill>
              </a:rPr>
              <a:t>加噪后新样本图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490845" y="3961130"/>
            <a:ext cx="290830" cy="63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5201920" y="4024630"/>
            <a:ext cx="868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B0F0"/>
                </a:solidFill>
              </a:rPr>
              <a:t>时间步</a:t>
            </a:r>
            <a:endParaRPr lang="zh-CN" altLang="en-US">
              <a:solidFill>
                <a:srgbClr val="00B0F0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前向过程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加噪声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40" y="1200785"/>
            <a:ext cx="6440170" cy="3280410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去噪声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77710" y="1786890"/>
            <a:ext cx="482028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生成纯噪声图</a:t>
            </a:r>
            <a:r>
              <a:rPr lang="en-US" altLang="zh-CN"/>
              <a:t> </a:t>
            </a:r>
            <a:r>
              <a:rPr lang="zh-CN" altLang="en-US"/>
              <a:t>相当于加噪</a:t>
            </a:r>
            <a:r>
              <a:rPr lang="en-US" altLang="zh-CN"/>
              <a:t>  T</a:t>
            </a:r>
            <a:r>
              <a:rPr lang="zh-CN" altLang="en-US"/>
              <a:t>步</a:t>
            </a:r>
            <a:endParaRPr lang="en-US" altLang="zh-CN"/>
          </a:p>
          <a:p>
            <a:r>
              <a:rPr lang="en-US" altLang="zh-CN"/>
              <a:t>2. </a:t>
            </a:r>
            <a:r>
              <a:rPr lang="en-US"/>
              <a:t>t = T</a:t>
            </a:r>
            <a:r>
              <a:rPr lang="zh-CN" altLang="en-US"/>
              <a:t>，</a:t>
            </a:r>
            <a:r>
              <a:rPr lang="en-US" altLang="zh-CN"/>
              <a:t>T-1</a:t>
            </a:r>
            <a:r>
              <a:rPr lang="zh-CN" altLang="en-US"/>
              <a:t>，</a:t>
            </a:r>
            <a:r>
              <a:rPr lang="en-US" altLang="zh-CN"/>
              <a:t>...</a:t>
            </a:r>
            <a:r>
              <a:rPr lang="zh-CN" altLang="en-US"/>
              <a:t>，</a:t>
            </a:r>
            <a:r>
              <a:rPr lang="en-US" altLang="zh-CN"/>
              <a:t>2</a:t>
            </a:r>
            <a:r>
              <a:rPr lang="zh-CN" altLang="en-US"/>
              <a:t>，</a:t>
            </a:r>
            <a:r>
              <a:rPr lang="en-US" altLang="zh-CN"/>
              <a:t>1</a:t>
            </a:r>
            <a:endParaRPr lang="en-US" altLang="zh-CN" baseline="-25000"/>
          </a:p>
          <a:p>
            <a:r>
              <a:rPr lang="en-US" altLang="zh-CN"/>
              <a:t>3.  </a:t>
            </a:r>
            <a:r>
              <a:rPr lang="zh-CN" altLang="en-US"/>
              <a:t>（</a:t>
            </a:r>
            <a:r>
              <a:rPr lang="en-US" altLang="zh-CN"/>
              <a:t>t</a:t>
            </a:r>
            <a:r>
              <a:rPr lang="zh-CN" altLang="en-US"/>
              <a:t>在</a:t>
            </a:r>
            <a:r>
              <a:rPr lang="en-US" altLang="zh-CN"/>
              <a:t>0-1</a:t>
            </a:r>
            <a:r>
              <a:rPr lang="zh-CN" altLang="en-US"/>
              <a:t>步加噪很特殊）</a:t>
            </a:r>
            <a:endParaRPr lang="zh-CN" altLang="en-US"/>
          </a:p>
          <a:p>
            <a:r>
              <a:rPr lang="en-US" altLang="zh-CN"/>
              <a:t>4.  </a:t>
            </a:r>
            <a:r>
              <a:rPr lang="zh-CN" altLang="en-US"/>
              <a:t>一步一步按照公式去噪，关键在于噪声预测</a:t>
            </a:r>
            <a:endParaRPr lang="zh-CN" altLang="en-US"/>
          </a:p>
          <a:p>
            <a:r>
              <a:rPr lang="en-US" altLang="zh-CN"/>
              <a:t>5.  </a:t>
            </a:r>
            <a:endParaRPr lang="en-US" altLang="zh-CN"/>
          </a:p>
        </p:txBody>
      </p:sp>
      <p:pic>
        <p:nvPicPr>
          <p:cNvPr id="4" name="图片 3" descr="Screenshot from 2024-06-27 20-33-20"/>
          <p:cNvPicPr>
            <a:picLocks noChangeAspect="1"/>
          </p:cNvPicPr>
          <p:nvPr/>
        </p:nvPicPr>
        <p:blipFill>
          <a:blip r:embed="rId2"/>
          <a:srcRect l="39100" t="3313" r="36302" b="56727"/>
          <a:stretch>
            <a:fillRect/>
          </a:stretch>
        </p:blipFill>
        <p:spPr>
          <a:xfrm>
            <a:off x="4054475" y="6031865"/>
            <a:ext cx="1736090" cy="628015"/>
          </a:xfrm>
          <a:prstGeom prst="rect">
            <a:avLst/>
          </a:prstGeom>
        </p:spPr>
      </p:pic>
      <p:pic>
        <p:nvPicPr>
          <p:cNvPr id="6" name="图片 5" descr="Screenshot from 2024-06-27 20-37-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455" y="5253990"/>
            <a:ext cx="3364230" cy="777875"/>
          </a:xfrm>
          <a:prstGeom prst="rect">
            <a:avLst/>
          </a:prstGeom>
        </p:spPr>
      </p:pic>
      <p:pic>
        <p:nvPicPr>
          <p:cNvPr id="7" name="图片 6" descr="Screenshot from 2024-06-27 20-38-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0945" y="4548505"/>
            <a:ext cx="6868160" cy="6381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Screenshot from 2024-09-03 15-28-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745" y="1120140"/>
            <a:ext cx="2809875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Screenshot from 2024-09-04 09-40-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45" y="3851910"/>
            <a:ext cx="9775825" cy="1741170"/>
          </a:xfrm>
          <a:prstGeom prst="rect">
            <a:avLst/>
          </a:prstGeom>
        </p:spPr>
      </p:pic>
      <p:pic>
        <p:nvPicPr>
          <p:cNvPr id="4" name="图片 3" descr="Screenshot from 2024-09-04 09-43-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995" y="5822315"/>
            <a:ext cx="6282055" cy="892810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sym typeface="+mn-ea"/>
              </a:rPr>
              <a:t>DDIM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 descr="Screenshot from 2024-06-13 09-57-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680" y="207010"/>
            <a:ext cx="8397240" cy="32810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803972" y="67246"/>
                <a:ext cx="5856605" cy="162433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𝑞</m:t>
                            </m:r>
                            <m:r>
                              <a:rPr lang="en-US" altLang="zh-CN" i="1">
                                <a:latin typeface="DejaVu Math TeX Gyre" panose="02000503000000000000" charset="0"/>
                                <a:ea typeface="MS Mincho" charset="0"/>
                                <a:cs typeface="DejaVu Math TeX Gyre" panose="02000503000000000000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ea typeface="MS Mincho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ea typeface="MS Mincho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ea typeface="MS Mincho" charset="0"/>
                                <a:cs typeface="DejaVu Math TeX Gyre" panose="02000503000000000000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ea typeface="MS Mincho" charset="0"/>
                                <a:cs typeface="DejaVu Math TeX Gyre" panose="02000503000000000000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ea typeface="MS Mincho" charset="0"/>
                                    <a:cs typeface="DejaVu Math TeX Gyre" panose="02000503000000000000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ea typeface="MS Mincho" charset="0"/>
                                <a:cs typeface="DejaVu Math TeX Gyre" panose="02000503000000000000" charset="0"/>
                              </a:rPr>
                              <m:t>) = </m:t>
                            </m:r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𝑁</m:t>
                            </m:r>
                            <m:r>
                              <a:rPr lang="en-US" altLang="zh-CN" i="1">
                                <a:latin typeface="DejaVu Math TeX Gyre" panose="02000503000000000000" charset="0"/>
                                <a:ea typeface="MS Mincho" charset="0"/>
                                <a:cs typeface="DejaVu Math TeX Gyre" panose="02000503000000000000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ea typeface="MS Mincho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ea typeface="MS Mincho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ea typeface="MS Mincho" charset="0"/>
                                <a:cs typeface="DejaVu Math TeX Gyre" panose="02000503000000000000" charset="0"/>
                              </a:rPr>
                              <m:t> ;                                  </m:t>
                            </m:r>
                          </m:e>
                        </m:mr>
                        <m:mr>
                          <m:e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                            </m:t>
                            </m:r>
                            <m:f>
                              <m:f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 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rad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</m:sub>
                                </m:sSub>
                              </m:den>
                            </m:f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zh-CN" i="1">
                                                <a:latin typeface="DejaVu Math TeX Gyre" panose="02000503000000000000" charset="0"/>
                                                <a:cs typeface="DejaVu Math TeX Gyre" panose="02000503000000000000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i="1">
                                                <a:latin typeface="DejaVu Math TeX Gyre" panose="02000503000000000000" charset="0"/>
                                                <a:cs typeface="DejaVu Math TeX Gyre" panose="02000503000000000000" charset="0"/>
                                              </a:rPr>
                                              <m:t>𝛼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rad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</m:sub>
                                </m:sSub>
                              </m:den>
                            </m:f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,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 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𝐼</m:t>
                            </m:r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>
                  <a:cs typeface="+mn-lt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972" y="67246"/>
                <a:ext cx="5856605" cy="1624330"/>
              </a:xfrm>
              <a:prstGeom prst="rect">
                <a:avLst/>
              </a:prstGeom>
              <a:blipFill rotWithShape="1">
                <a:blip r:embed="rId1"/>
                <a:stretch>
                  <a:fillRect l="-10" t="-35" r="10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2996565" y="1998980"/>
                <a:ext cx="2259330" cy="6692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𝛼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𝛼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565" y="1998980"/>
                <a:ext cx="2259330" cy="66929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523937" y="3072066"/>
                <a:ext cx="6732905" cy="140843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𝑞</m:t>
                            </m:r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) = </m:t>
                            </m:r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𝑁</m:t>
                            </m:r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;                                                </m:t>
                            </m:r>
                          </m:e>
                        </m:mr>
                        <m:mr>
                          <m:e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                            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rad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DejaVu Math TeX Gyre" panose="02000503000000000000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DejaVu Math TeX Gyre" panose="02000503000000000000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rad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∙</m:t>
                            </m:r>
                            <m:f>
                              <m:f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zh-CN" i="1">
                                                <a:latin typeface="DejaVu Math TeX Gyre" panose="02000503000000000000" charset="0"/>
                                                <a:cs typeface="DejaVu Math TeX Gyre" panose="02000503000000000000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i="1">
                                                <a:latin typeface="DejaVu Math TeX Gyre" panose="02000503000000000000" charset="0"/>
                                                <a:cs typeface="DejaVu Math TeX Gyre" panose="02000503000000000000" charset="0"/>
                                              </a:rPr>
                                              <m:t>𝛼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rad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zh-CN" i="1">
                                                <a:latin typeface="DejaVu Math TeX Gyre" panose="02000503000000000000" charset="0"/>
                                                <a:cs typeface="DejaVu Math TeX Gyre" panose="02000503000000000000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i="1">
                                                <a:latin typeface="DejaVu Math TeX Gyre" panose="02000503000000000000" charset="0"/>
                                                <a:cs typeface="DejaVu Math TeX Gyre" panose="02000503000000000000" charset="0"/>
                                              </a:rPr>
                                              <m:t>𝛼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rad>
                              </m:den>
                            </m:f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,</m:t>
                            </m:r>
                          </m:e>
                        </m:mr>
                        <m:mr>
                          <m:e>
                            <m:acc>
                              <m:accPr>
                                <m:chr m:val="̃"/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𝐼</m:t>
                            </m:r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)</m:t>
                            </m:r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                             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937" y="3072066"/>
                <a:ext cx="6732905" cy="1408430"/>
              </a:xfrm>
              <a:prstGeom prst="rect">
                <a:avLst/>
              </a:prstGeom>
              <a:blipFill rotWithShape="1">
                <a:blip r:embed="rId3"/>
                <a:stretch>
                  <a:fillRect l="-8" t="-41" r="8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742940" y="1998980"/>
                <a:ext cx="1855470" cy="7461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acc>
                            <m:accPr>
                              <m:chr m:val="̃"/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𝛼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𝛼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2940" y="1998980"/>
                <a:ext cx="1855470" cy="74612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206562" y="702246"/>
                <a:ext cx="4080510" cy="162433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𝑞</m:t>
                            </m:r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) = </m:t>
                            </m:r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𝑁</m:t>
                            </m:r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; 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 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rad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</m:sub>
                                </m:sSub>
                              </m:den>
                            </m:f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zh-CN" i="1">
                                                <a:latin typeface="DejaVu Math TeX Gyre" panose="02000503000000000000" charset="0"/>
                                                <a:cs typeface="DejaVu Math TeX Gyre" panose="02000503000000000000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i="1">
                                                <a:latin typeface="DejaVu Math TeX Gyre" panose="02000503000000000000" charset="0"/>
                                                <a:cs typeface="DejaVu Math TeX Gyre" panose="02000503000000000000" charset="0"/>
                                              </a:rPr>
                                              <m:t>𝛼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rad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</m:sub>
                                </m:sSub>
                              </m:den>
                            </m:f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     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 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𝐼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562" y="702246"/>
                <a:ext cx="4080510" cy="1624330"/>
              </a:xfrm>
              <a:prstGeom prst="rect">
                <a:avLst/>
              </a:prstGeom>
              <a:blipFill rotWithShape="1">
                <a:blip r:embed="rId1"/>
                <a:stretch>
                  <a:fillRect l="-14" t="-35" r="14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051497" y="2829496"/>
                <a:ext cx="5856605" cy="162433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𝑞</m:t>
                            </m:r>
                            <m:r>
                              <a:rPr lang="en-US" altLang="zh-CN" i="1">
                                <a:latin typeface="DejaVu Math TeX Gyre" panose="02000503000000000000" charset="0"/>
                                <a:ea typeface="MS Mincho" charset="0"/>
                                <a:cs typeface="DejaVu Math TeX Gyre" panose="02000503000000000000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ea typeface="MS Mincho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ea typeface="MS Mincho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ea typeface="MS Mincho" charset="0"/>
                                <a:cs typeface="DejaVu Math TeX Gyre" panose="02000503000000000000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ea typeface="MS Mincho" charset="0"/>
                                <a:cs typeface="DejaVu Math TeX Gyre" panose="02000503000000000000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ea typeface="MS Mincho" charset="0"/>
                                    <a:cs typeface="DejaVu Math TeX Gyre" panose="02000503000000000000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ea typeface="MS Mincho" charset="0"/>
                                <a:cs typeface="DejaVu Math TeX Gyre" panose="02000503000000000000" charset="0"/>
                              </a:rPr>
                              <m:t>) = </m:t>
                            </m:r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𝑁</m:t>
                            </m:r>
                            <m:r>
                              <a:rPr lang="en-US" altLang="zh-CN" i="1">
                                <a:latin typeface="DejaVu Math TeX Gyre" panose="02000503000000000000" charset="0"/>
                                <a:ea typeface="MS Mincho" charset="0"/>
                                <a:cs typeface="DejaVu Math TeX Gyre" panose="02000503000000000000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ea typeface="MS Mincho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ea typeface="MS Mincho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ea typeface="MS Mincho" charset="0"/>
                                <a:cs typeface="DejaVu Math TeX Gyre" panose="02000503000000000000" charset="0"/>
                              </a:rPr>
                              <m:t> ;                                  </m:t>
                            </m:r>
                          </m:e>
                        </m:mr>
                        <m:mr>
                          <m:e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                            </m:t>
                            </m:r>
                            <m:f>
                              <m:f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 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rad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</m:sub>
                                </m:sSub>
                              </m:den>
                            </m:f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zh-CN" i="1">
                                                <a:latin typeface="DejaVu Math TeX Gyre" panose="02000503000000000000" charset="0"/>
                                                <a:cs typeface="DejaVu Math TeX Gyre" panose="02000503000000000000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i="1">
                                                <a:latin typeface="DejaVu Math TeX Gyre" panose="02000503000000000000" charset="0"/>
                                                <a:cs typeface="DejaVu Math TeX Gyre" panose="02000503000000000000" charset="0"/>
                                              </a:rPr>
                                              <m:t>𝛼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rad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</m:sub>
                                </m:sSub>
                              </m:den>
                            </m:f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,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 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𝐼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>
                  <a:cs typeface="+mn-lt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497" y="2829496"/>
                <a:ext cx="5856605" cy="1624330"/>
              </a:xfrm>
              <a:prstGeom prst="rect">
                <a:avLst/>
              </a:prstGeom>
              <a:blipFill rotWithShape="1">
                <a:blip r:embed="rId2"/>
                <a:stretch>
                  <a:fillRect l="-10" t="-35" r="10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3543237" y="4653216"/>
                <a:ext cx="6732905" cy="140843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𝑞</m:t>
                            </m:r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) = </m:t>
                            </m:r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𝑁</m:t>
                            </m:r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;                                                </m:t>
                            </m:r>
                          </m:e>
                        </m:mr>
                        <m:mr>
                          <m:e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                            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rad>
                            <m:sSub>
                              <m:sSub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DejaVu Math TeX Gyre" panose="02000503000000000000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DejaVu Math TeX Gyre" panose="02000503000000000000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rad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∙</m:t>
                            </m:r>
                            <m:f>
                              <m:fPr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zh-CN" i="1">
                                                <a:latin typeface="DejaVu Math TeX Gyre" panose="02000503000000000000" charset="0"/>
                                                <a:cs typeface="DejaVu Math TeX Gyre" panose="02000503000000000000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i="1">
                                                <a:latin typeface="DejaVu Math TeX Gyre" panose="02000503000000000000" charset="0"/>
                                                <a:cs typeface="DejaVu Math TeX Gyre" panose="02000503000000000000" charset="0"/>
                                              </a:rPr>
                                              <m:t>𝛼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rad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zh-CN" i="1">
                                                <a:latin typeface="DejaVu Math TeX Gyre" panose="02000503000000000000" charset="0"/>
                                                <a:cs typeface="DejaVu Math TeX Gyre" panose="02000503000000000000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i="1">
                                                <a:latin typeface="DejaVu Math TeX Gyre" panose="02000503000000000000" charset="0"/>
                                                <a:cs typeface="DejaVu Math TeX Gyre" panose="02000503000000000000" charset="0"/>
                                              </a:rPr>
                                              <m:t>𝛼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DejaVu Math TeX Gyre" panose="02000503000000000000" charset="0"/>
                                            <a:cs typeface="DejaVu Math TeX Gyre" panose="02000503000000000000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rad>
                              </m:den>
                            </m:f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,</m:t>
                            </m:r>
                          </m:e>
                        </m:mr>
                        <m:mr>
                          <m:e>
                            <m:acc>
                              <m:accPr>
                                <m:chr m:val="̃"/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𝐼</m:t>
                            </m:r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                             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237" y="4653216"/>
                <a:ext cx="6732905" cy="1408430"/>
              </a:xfrm>
              <a:prstGeom prst="rect">
                <a:avLst/>
              </a:prstGeom>
              <a:blipFill rotWithShape="1">
                <a:blip r:embed="rId3"/>
                <a:stretch>
                  <a:fillRect l="-8" t="-41" r="8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1708</Words>
  <Application>WPS 演示</Application>
  <PresentationFormat>宽屏</PresentationFormat>
  <Paragraphs>55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Nimbus Roman No9 L</vt:lpstr>
      <vt:lpstr>Arial Black</vt:lpstr>
      <vt:lpstr>Droid Sans Fallback</vt:lpstr>
      <vt:lpstr>Microsoft YaHei</vt:lpstr>
      <vt:lpstr>Arial Unicode MS</vt:lpstr>
      <vt:lpstr>DejaVu Math TeX Gyre</vt:lpstr>
      <vt:lpstr>MS Mincho</vt:lpstr>
      <vt:lpstr>MS Gothic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ubuntu</cp:lastModifiedBy>
  <cp:revision>2</cp:revision>
  <dcterms:created xsi:type="dcterms:W3CDTF">2024-10-22T08:15:01Z</dcterms:created>
  <dcterms:modified xsi:type="dcterms:W3CDTF">2024-10-22T08:15:01Z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2052-11.1.0.11711</vt:lpwstr>
  </property>
  <property fmtid="{D5CDD505-2E9C-101B-9397-08002B2CF9AE}" pid="3" name="ICV">
    <vt:lpwstr/>
  </property>
</Properties>
</file>