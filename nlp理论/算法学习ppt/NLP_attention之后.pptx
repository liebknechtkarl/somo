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notesMasterIdLst>
    <p:notesMasterId r:id="rId2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  <p:sldId id="318" r:id="rId67"/>
    <p:sldId id="319" r:id="rId68"/>
    <p:sldId id="320" r:id="rId69"/>
    <p:sldId id="321" r:id="rId70"/>
    <p:sldId id="322" r:id="rId71"/>
    <p:sldId id="323" r:id="rId72"/>
    <p:sldId id="324" r:id="rId73"/>
    <p:sldId id="325" r:id="rId74"/>
    <p:sldId id="326" r:id="rId75"/>
    <p:sldId id="327" r:id="rId76"/>
    <p:sldId id="328" r:id="rId77"/>
    <p:sldId id="329" r:id="rId78"/>
    <p:sldId id="330" r:id="rId79"/>
    <p:sldId id="331" r:id="rId80"/>
    <p:sldId id="332" r:id="rId81"/>
    <p:sldId id="333" r:id="rId82"/>
    <p:sldId id="334" r:id="rId83"/>
    <p:sldId id="335" r:id="rId84"/>
    <p:sldId id="336" r:id="rId85"/>
    <p:sldId id="337" r:id="rId86"/>
    <p:sldId id="338" r:id="rId87"/>
    <p:sldId id="339" r:id="rId88"/>
    <p:sldId id="340" r:id="rId89"/>
    <p:sldId id="341" r:id="rId90"/>
    <p:sldId id="342" r:id="rId91"/>
    <p:sldId id="343" r:id="rId92"/>
    <p:sldId id="344" r:id="rId93"/>
    <p:sldId id="345" r:id="rId94"/>
    <p:sldId id="346" r:id="rId95"/>
    <p:sldId id="347" r:id="rId96"/>
    <p:sldId id="348" r:id="rId97"/>
    <p:sldId id="349" r:id="rId98"/>
    <p:sldId id="350" r:id="rId99"/>
    <p:sldId id="351" r:id="rId100"/>
    <p:sldId id="352" r:id="rId101"/>
    <p:sldId id="353" r:id="rId102"/>
    <p:sldId id="354" r:id="rId103"/>
    <p:sldId id="355" r:id="rId104"/>
    <p:sldId id="356" r:id="rId105"/>
    <p:sldId id="362" r:id="rId106"/>
    <p:sldId id="358" r:id="rId107"/>
    <p:sldId id="365" r:id="rId108"/>
    <p:sldId id="364" r:id="rId109"/>
    <p:sldId id="357" r:id="rId110"/>
    <p:sldId id="371" r:id="rId111"/>
    <p:sldId id="372" r:id="rId112"/>
    <p:sldId id="373" r:id="rId113"/>
    <p:sldId id="377" r:id="rId114"/>
    <p:sldId id="374" r:id="rId115"/>
    <p:sldId id="502" r:id="rId116"/>
    <p:sldId id="494" r:id="rId11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6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5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4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slide" Target="slides/slide3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notesMaster" Target="notesMasters/notes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0" Type="http://schemas.openxmlformats.org/officeDocument/2006/relationships/tableStyles" Target="tableStyles.xml"/><Relationship Id="rId12" Type="http://schemas.openxmlformats.org/officeDocument/2006/relationships/slide" Target="slides/slide9.xml"/><Relationship Id="rId119" Type="http://schemas.openxmlformats.org/officeDocument/2006/relationships/viewProps" Target="viewProps.xml"/><Relationship Id="rId118" Type="http://schemas.openxmlformats.org/officeDocument/2006/relationships/presProps" Target="presProps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4" Type="http://schemas.openxmlformats.org/officeDocument/2006/relationships/slide" Target="slides/slide110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110" Type="http://schemas.openxmlformats.org/officeDocument/2006/relationships/slide" Target="slides/slide106.xml"/><Relationship Id="rId11" Type="http://schemas.openxmlformats.org/officeDocument/2006/relationships/slide" Target="slides/slide8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86774" y="1778438"/>
            <a:ext cx="4873574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86774" y="2665379"/>
            <a:ext cx="4873574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256938" y="1778438"/>
            <a:ext cx="4897576" cy="8239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256938" y="2665379"/>
            <a:ext cx="4897576" cy="3524284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200" y="365125"/>
            <a:ext cx="10515600" cy="58118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/>
        </p:nvSpPr>
        <p:spPr>
          <a:xfrm>
            <a:off x="987943" y="147977"/>
            <a:ext cx="5266553" cy="5905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2000" spc="225" baseline="0" dirty="0">
                <a:solidFill>
                  <a:srgbClr val="A81E33"/>
                </a:solidFill>
                <a:latin typeface="KaiTi" panose="02010609060101010101" pitchFamily="49" charset="-122"/>
                <a:ea typeface="KaiTi" panose="02010609060101010101" pitchFamily="49" charset="-122"/>
              </a:rPr>
              <a:t>上海理工大学机器智能研究院</a:t>
            </a:r>
            <a:endParaRPr lang="en-US" altLang="zh-CN" sz="2000" spc="225" baseline="0" dirty="0">
              <a:solidFill>
                <a:srgbClr val="A81E33"/>
              </a:solidFill>
              <a:latin typeface="KaiTi" panose="02010609060101010101" pitchFamily="49" charset="-122"/>
              <a:ea typeface="KaiTi" panose="02010609060101010101" pitchFamily="49" charset="-122"/>
            </a:endParaRPr>
          </a:p>
          <a:p>
            <a:pPr algn="l">
              <a:lnSpc>
                <a:spcPct val="150000"/>
              </a:lnSpc>
            </a:pPr>
            <a:r>
              <a:rPr lang="en-US" altLang="zh-CN" sz="825" kern="0" spc="-15" baseline="0" dirty="0">
                <a:solidFill>
                  <a:srgbClr val="A81E33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</a:rPr>
              <a:t>ISTITUTE OF MACHINE INTELLIGENT, UNIVERSITY OF SHANGHAI FOR SCIENCE AND TECHNOLOGY</a:t>
            </a:r>
            <a:endParaRPr lang="zh-CN" altLang="en-US" sz="825" kern="0" spc="-15" baseline="0" dirty="0">
              <a:solidFill>
                <a:srgbClr val="A81E33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5863"/>
            <a:ext cx="1088135" cy="856673"/>
          </a:xfrm>
          <a:prstGeom prst="rect">
            <a:avLst/>
          </a:prstGeom>
        </p:spPr>
      </p:pic>
      <p:sp>
        <p:nvSpPr>
          <p:cNvPr id="29" name="矩形 28"/>
          <p:cNvSpPr/>
          <p:nvPr userDrawn="1"/>
        </p:nvSpPr>
        <p:spPr>
          <a:xfrm>
            <a:off x="0" y="862811"/>
            <a:ext cx="8331200" cy="1551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30" name="箭头: 五边形 29"/>
          <p:cNvSpPr/>
          <p:nvPr userDrawn="1"/>
        </p:nvSpPr>
        <p:spPr>
          <a:xfrm>
            <a:off x="8415867" y="849054"/>
            <a:ext cx="3776133" cy="155167"/>
          </a:xfrm>
          <a:prstGeom prst="homePlate">
            <a:avLst/>
          </a:prstGeom>
          <a:solidFill>
            <a:srgbClr val="A81E3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pic>
        <p:nvPicPr>
          <p:cNvPr id="19" name="图片 18"/>
          <p:cNvPicPr>
            <a:picLocks noChangeAspect="1"/>
          </p:cNvPicPr>
          <p:nvPr userDrawn="1"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95801"/>
            <a:ext cx="2256723" cy="234771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6" name="灯片编号占位符 5"/>
          <p:cNvSpPr>
            <a:spLocks noGrp="1"/>
          </p:cNvSpPr>
          <p:nvPr>
            <p:ph type="sldNum" sz="quarter" idx="15"/>
          </p:nvPr>
        </p:nvSpPr>
        <p:spPr>
          <a:xfrm>
            <a:off x="9275234" y="6388615"/>
            <a:ext cx="2743200" cy="365125"/>
          </a:xfrm>
          <a:prstGeom prst="rect">
            <a:avLst/>
          </a:prstGeom>
        </p:spPr>
        <p:txBody>
          <a:bodyPr/>
          <a:lstStyle>
            <a:lvl1pPr algn="r">
              <a:defRPr>
                <a:latin typeface="Microsoft YaHei" charset="-122"/>
                <a:ea typeface="Microsoft YaHei" charset="-122"/>
              </a:defRPr>
            </a:lvl1pPr>
          </a:lstStyle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image" Target="../media/image11.png"/><Relationship Id="rId7" Type="http://schemas.openxmlformats.org/officeDocument/2006/relationships/image" Target="../media/image10.png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4.png"/><Relationship Id="rId1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2.jpeg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9.png"/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_rels/slide2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36.png"/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1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2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4.png"/></Relationships>
</file>

<file path=ppt/slides/_rels/slide3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image" Target="../media/image45.png"/></Relationships>
</file>

<file path=ppt/slides/_rels/slide3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image" Target="../media/image4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4.jpeg"/><Relationship Id="rId1" Type="http://schemas.openxmlformats.org/officeDocument/2006/relationships/image" Target="../media/image5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6.png"/><Relationship Id="rId1" Type="http://schemas.openxmlformats.org/officeDocument/2006/relationships/image" Target="../media/image55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8.png"/><Relationship Id="rId1" Type="http://schemas.openxmlformats.org/officeDocument/2006/relationships/image" Target="../media/image5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9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2.jpeg"/><Relationship Id="rId1" Type="http://schemas.openxmlformats.org/officeDocument/2006/relationships/image" Target="../media/image6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1" Type="http://schemas.openxmlformats.org/officeDocument/2006/relationships/image" Target="../media/image63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5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7.png"/><Relationship Id="rId1" Type="http://schemas.openxmlformats.org/officeDocument/2006/relationships/image" Target="../media/image66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69.png"/><Relationship Id="rId1" Type="http://schemas.openxmlformats.org/officeDocument/2006/relationships/image" Target="../media/image6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1.png"/><Relationship Id="rId1" Type="http://schemas.openxmlformats.org/officeDocument/2006/relationships/image" Target="../media/image70.jpe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3.png"/></Relationships>
</file>

<file path=ppt/slides/_rels/slide5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78.png"/><Relationship Id="rId4" Type="http://schemas.openxmlformats.org/officeDocument/2006/relationships/image" Target="../media/image77.png"/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image" Target="../media/image74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9.png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0.png"/></Relationships>
</file>

<file path=ppt/slides/_rels/slide54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84.png"/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image" Target="../media/image81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7.png"/><Relationship Id="rId1" Type="http://schemas.openxmlformats.org/officeDocument/2006/relationships/image" Target="../media/image86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8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9.png"/></Relationships>
</file>

<file path=ppt/slides/_rels/slide5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93.png"/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image" Target="../media/image9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95.png"/><Relationship Id="rId1" Type="http://schemas.openxmlformats.org/officeDocument/2006/relationships/image" Target="../media/image94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6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9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7.png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8.png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0.png"/><Relationship Id="rId1" Type="http://schemas.openxmlformats.org/officeDocument/2006/relationships/image" Target="../media/image99.png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2.png"/><Relationship Id="rId1" Type="http://schemas.openxmlformats.org/officeDocument/2006/relationships/image" Target="../media/image101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4.png"/><Relationship Id="rId1" Type="http://schemas.openxmlformats.org/officeDocument/2006/relationships/image" Target="../media/image103.png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5.png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8.png"/><Relationship Id="rId2" Type="http://schemas.openxmlformats.org/officeDocument/2006/relationships/image" Target="../media/image107.png"/><Relationship Id="rId1" Type="http://schemas.openxmlformats.org/officeDocument/2006/relationships/image" Target="../media/image106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0.png"/><Relationship Id="rId1" Type="http://schemas.openxmlformats.org/officeDocument/2006/relationships/image" Target="../media/image109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12.png"/><Relationship Id="rId2" Type="http://schemas.openxmlformats.org/officeDocument/2006/relationships/image" Target="../media/image24.png"/><Relationship Id="rId1" Type="http://schemas.openxmlformats.org/officeDocument/2006/relationships/image" Target="../media/image111.png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14.jpeg"/><Relationship Id="rId1" Type="http://schemas.openxmlformats.org/officeDocument/2006/relationships/image" Target="../media/image113.jpeg"/></Relationships>
</file>

<file path=ppt/slides/_rels/slide7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18.png"/><Relationship Id="rId3" Type="http://schemas.openxmlformats.org/officeDocument/2006/relationships/image" Target="../media/image117.png"/><Relationship Id="rId2" Type="http://schemas.openxmlformats.org/officeDocument/2006/relationships/image" Target="../media/image116.png"/><Relationship Id="rId1" Type="http://schemas.openxmlformats.org/officeDocument/2006/relationships/image" Target="../media/image115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0.jpeg"/><Relationship Id="rId1" Type="http://schemas.openxmlformats.org/officeDocument/2006/relationships/image" Target="../media/image119.jpeg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1.png"/></Relationships>
</file>

<file path=ppt/slides/_rels/slide8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26.png"/><Relationship Id="rId4" Type="http://schemas.openxmlformats.org/officeDocument/2006/relationships/image" Target="../media/image125.png"/><Relationship Id="rId3" Type="http://schemas.openxmlformats.org/officeDocument/2006/relationships/image" Target="../media/image124.png"/><Relationship Id="rId2" Type="http://schemas.openxmlformats.org/officeDocument/2006/relationships/image" Target="../media/image123.png"/><Relationship Id="rId1" Type="http://schemas.openxmlformats.org/officeDocument/2006/relationships/image" Target="../media/image122.pn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8.png"/><Relationship Id="rId1" Type="http://schemas.openxmlformats.org/officeDocument/2006/relationships/image" Target="../media/image127.png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9.png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0.png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2.png"/><Relationship Id="rId1" Type="http://schemas.openxmlformats.org/officeDocument/2006/relationships/image" Target="../media/image131.png"/></Relationships>
</file>

<file path=ppt/slides/_rels/slide9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1.png"/><Relationship Id="rId2" Type="http://schemas.openxmlformats.org/officeDocument/2006/relationships/image" Target="../media/image133.png"/><Relationship Id="rId1" Type="http://schemas.openxmlformats.org/officeDocument/2006/relationships/image" Target="../media/image132.png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35.png"/><Relationship Id="rId1" Type="http://schemas.openxmlformats.org/officeDocument/2006/relationships/image" Target="../media/image134.png"/></Relationships>
</file>

<file path=ppt/slides/_rels/slide9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image" Target="../media/image136.png"/></Relationships>
</file>

<file path=ppt/slides/_rels/slide9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0.png"/><Relationship Id="rId2" Type="http://schemas.openxmlformats.org/officeDocument/2006/relationships/image" Target="../media/image139.png"/><Relationship Id="rId1" Type="http://schemas.openxmlformats.org/officeDocument/2006/relationships/image" Target="../media/image127.png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7.png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1.png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2.png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3.png"/><Relationship Id="rId1" Type="http://schemas.openxmlformats.org/officeDocument/2006/relationships/image" Target="../media/image107.png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5.png"/><Relationship Id="rId1" Type="http://schemas.openxmlformats.org/officeDocument/2006/relationships/image" Target="../media/image144.jpe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7.png"/><Relationship Id="rId1" Type="http://schemas.openxmlformats.org/officeDocument/2006/relationships/image" Target="../media/image146.png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9.png"/><Relationship Id="rId1" Type="http://schemas.openxmlformats.org/officeDocument/2006/relationships/image" Target="../media/image148.png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0.png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1.png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53.png"/><Relationship Id="rId1" Type="http://schemas.openxmlformats.org/officeDocument/2006/relationships/image" Target="../media/image152.png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4.png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1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NLP_attention之后</a:t>
            </a:r>
            <a:endParaRPr lang="en-US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</a:t>
            </a:r>
            <a:r>
              <a:rPr lang="en-US" altLang="en-US" sz="4800"/>
              <a:t>3</a:t>
            </a:r>
            <a:r>
              <a:rPr lang="en-US" altLang="zh-CN" sz="4800"/>
              <a:t>.</a:t>
            </a:r>
            <a:r>
              <a:rPr lang="en-US" altLang="en-US" sz="4800"/>
              <a:t>03.20</a:t>
            </a:r>
            <a:endParaRPr lang="en-US" altLang="en-US" sz="4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 descr="ddpg (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830" y="958850"/>
            <a:ext cx="4965700" cy="57518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Screenshot from 2023-03-07 21-08-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805" y="950595"/>
            <a:ext cx="4685030" cy="2562860"/>
          </a:xfrm>
          <a:prstGeom prst="rect">
            <a:avLst/>
          </a:prstGeom>
        </p:spPr>
      </p:pic>
      <p:pic>
        <p:nvPicPr>
          <p:cNvPr id="4" name="图片 3" descr="Screenshot from 2023-03-07 21-09-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590" y="6313170"/>
            <a:ext cx="1995170" cy="476885"/>
          </a:xfrm>
          <a:prstGeom prst="rect">
            <a:avLst/>
          </a:prstGeom>
        </p:spPr>
      </p:pic>
      <p:pic>
        <p:nvPicPr>
          <p:cNvPr id="5" name="图片 4" descr="Screenshot from 2023-03-07 19-30-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715" y="3513455"/>
            <a:ext cx="4330065" cy="1308100"/>
          </a:xfrm>
          <a:prstGeom prst="rect">
            <a:avLst/>
          </a:prstGeom>
        </p:spPr>
      </p:pic>
      <p:pic>
        <p:nvPicPr>
          <p:cNvPr id="9" name="图片 8" descr="Screenshot from 2023-03-07 21-02-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390" y="4952365"/>
            <a:ext cx="2944495" cy="50673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-5715" y="4445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attention原理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4495" y="293370"/>
            <a:ext cx="822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LSTM</a:t>
            </a:r>
            <a:endParaRPr lang="en-US" altLang="zh-CN"/>
          </a:p>
        </p:txBody>
      </p:sp>
      <p:pic>
        <p:nvPicPr>
          <p:cNvPr id="10" name="图片 9" descr="Screenshot from 2023-03-21 19-03-50"/>
          <p:cNvPicPr>
            <a:picLocks noChangeAspect="1"/>
          </p:cNvPicPr>
          <p:nvPr/>
        </p:nvPicPr>
        <p:blipFill>
          <a:blip r:embed="rId5"/>
          <a:srcRect l="20303" t="4193" r="6088" b="5362"/>
          <a:stretch>
            <a:fillRect/>
          </a:stretch>
        </p:blipFill>
        <p:spPr>
          <a:xfrm>
            <a:off x="5047615" y="1094740"/>
            <a:ext cx="1696720" cy="3342005"/>
          </a:xfrm>
          <a:prstGeom prst="rect">
            <a:avLst/>
          </a:prstGeom>
        </p:spPr>
      </p:pic>
      <p:pic>
        <p:nvPicPr>
          <p:cNvPr id="11" name="图片 10" descr="1212984-20171114152233765-111958397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00265" y="831215"/>
            <a:ext cx="4963795" cy="2228850"/>
          </a:xfrm>
          <a:prstGeom prst="rect">
            <a:avLst/>
          </a:prstGeom>
        </p:spPr>
      </p:pic>
      <p:pic>
        <p:nvPicPr>
          <p:cNvPr id="12" name="图片 11" descr="201601201818419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33795" y="4436745"/>
            <a:ext cx="4700270" cy="2274570"/>
          </a:xfrm>
          <a:prstGeom prst="rect">
            <a:avLst/>
          </a:prstGeom>
        </p:spPr>
      </p:pic>
      <p:pic>
        <p:nvPicPr>
          <p:cNvPr id="14" name="图片 13" descr="Screenshot from 2023-03-07 19-34-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420" y="5600065"/>
            <a:ext cx="4844415" cy="5721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-5715" y="4445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attention原理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17" name="图片 16" descr="pg0 (2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5715" y="4445"/>
            <a:ext cx="8871585" cy="3158490"/>
          </a:xfrm>
          <a:prstGeom prst="rect">
            <a:avLst/>
          </a:prstGeom>
        </p:spPr>
      </p:pic>
      <p:pic>
        <p:nvPicPr>
          <p:cNvPr id="19" name="图片 18" descr="pg0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705" y="3077210"/>
            <a:ext cx="10058400" cy="37445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文本框 4"/>
          <p:cNvSpPr txBox="1"/>
          <p:nvPr/>
        </p:nvSpPr>
        <p:spPr>
          <a:xfrm>
            <a:off x="653415" y="1823720"/>
            <a:ext cx="8229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LSTM</a:t>
            </a:r>
            <a:endParaRPr lang="en-US" altLang="zh-CN"/>
          </a:p>
        </p:txBody>
      </p:sp>
      <p:pic>
        <p:nvPicPr>
          <p:cNvPr id="10" name="图片 9" descr="Screenshot from 2023-03-21 19-03-50"/>
          <p:cNvPicPr>
            <a:picLocks noChangeAspect="1"/>
          </p:cNvPicPr>
          <p:nvPr/>
        </p:nvPicPr>
        <p:blipFill>
          <a:blip r:embed="rId1"/>
          <a:srcRect l="20303" t="4193" r="6088" b="5362"/>
          <a:stretch>
            <a:fillRect/>
          </a:stretch>
        </p:blipFill>
        <p:spPr>
          <a:xfrm>
            <a:off x="216535" y="2625090"/>
            <a:ext cx="1696720" cy="3342005"/>
          </a:xfrm>
          <a:prstGeom prst="rect">
            <a:avLst/>
          </a:prstGeom>
        </p:spPr>
      </p:pic>
      <p:pic>
        <p:nvPicPr>
          <p:cNvPr id="19" name="图片 18" descr="pg0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3255" y="135890"/>
            <a:ext cx="10058400" cy="37445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" name="图片 9" descr="ddpg (7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2860" y="167005"/>
            <a:ext cx="4130040" cy="4784090"/>
          </a:xfrm>
          <a:prstGeom prst="rect">
            <a:avLst/>
          </a:prstGeom>
        </p:spPr>
      </p:pic>
      <p:pic>
        <p:nvPicPr>
          <p:cNvPr id="19" name="图片 18" descr="pg0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5720" y="167005"/>
            <a:ext cx="6824345" cy="2540635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/>
        </p:nvGraphicFramePr>
        <p:xfrm>
          <a:off x="1633855" y="5222875"/>
          <a:ext cx="1807210" cy="297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4335"/>
                <a:gridCol w="208280"/>
                <a:gridCol w="201295"/>
                <a:gridCol w="199390"/>
                <a:gridCol w="201295"/>
                <a:gridCol w="201930"/>
                <a:gridCol w="199390"/>
                <a:gridCol w="201295"/>
              </a:tblGrid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Hx</a:t>
                      </a: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i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/>
          <p:nvPr/>
        </p:nvGraphicFramePr>
        <p:xfrm>
          <a:off x="3954145" y="3405505"/>
          <a:ext cx="1085850" cy="27311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"/>
                <a:gridCol w="361950"/>
                <a:gridCol w="361950"/>
              </a:tblGrid>
              <a:tr h="29718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O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Nimbus Roman" panose="00000500000000000000" charset="0"/>
                          <a:cs typeface="Nimbus Roman" panose="00000500000000000000" charset="0"/>
                        </a:rPr>
                        <a:t>H1</a:t>
                      </a:r>
                      <a:endParaRPr lang="en-US" altLang="zh-CN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Nimbus Roman" panose="00000500000000000000" charset="0"/>
                          <a:cs typeface="Nimbus Roman" panose="00000500000000000000" charset="0"/>
                        </a:rPr>
                        <a:t>H2</a:t>
                      </a:r>
                      <a:endParaRPr lang="en-US" altLang="zh-CN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Nimbus Roman" panose="00000500000000000000" charset="0"/>
                          <a:cs typeface="Nimbus Roman" panose="00000500000000000000" charset="0"/>
                        </a:rPr>
                        <a:t>H3</a:t>
                      </a:r>
                      <a:endParaRPr lang="en-US" altLang="zh-CN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右箭头 2"/>
          <p:cNvSpPr/>
          <p:nvPr/>
        </p:nvSpPr>
        <p:spPr>
          <a:xfrm>
            <a:off x="5125720" y="5020310"/>
            <a:ext cx="405765" cy="343535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5553075" y="4690110"/>
          <a:ext cx="1085850" cy="1004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"/>
                <a:gridCol w="361950"/>
                <a:gridCol w="361950"/>
              </a:tblGrid>
              <a:tr h="29718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et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et1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et2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et3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右箭头 4"/>
          <p:cNvSpPr/>
          <p:nvPr/>
        </p:nvSpPr>
        <p:spPr>
          <a:xfrm>
            <a:off x="6721475" y="4891405"/>
            <a:ext cx="1082040" cy="60071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 softmax</a:t>
            </a:r>
            <a:endParaRPr lang="en-US" altLang="en-US" sz="1400">
              <a:solidFill>
                <a:schemeClr val="tx1"/>
              </a:solidFill>
              <a:latin typeface="Nimbus Roman" panose="00000500000000000000" charset="0"/>
              <a:cs typeface="Nimbus Roman" panose="00000500000000000000" charset="0"/>
              <a:sym typeface="+mn-ea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994650" y="4608830"/>
          <a:ext cx="1085850" cy="1004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"/>
                <a:gridCol w="361950"/>
                <a:gridCol w="361950"/>
              </a:tblGrid>
              <a:tr h="29718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αt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αt1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αt2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αt3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文本框 7"/>
          <p:cNvSpPr txBox="1"/>
          <p:nvPr/>
        </p:nvSpPr>
        <p:spPr>
          <a:xfrm>
            <a:off x="5842000" y="3238500"/>
            <a:ext cx="33337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zh-CN" altLang="en-US">
                <a:latin typeface="Arial" panose="02080604020202020204" pitchFamily="34" charset="0"/>
                <a:cs typeface="Arial" panose="02080604020202020204" pitchFamily="34" charset="0"/>
              </a:rPr>
              <a:t>α</a:t>
            </a:r>
            <a:endParaRPr lang="zh-CN" altLang="en-US">
              <a:latin typeface="Arial" panose="02080604020202020204" pitchFamily="34" charset="0"/>
              <a:cs typeface="Arial" panose="0208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9" name="图片 18" descr="pg0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0815" y="3609975"/>
            <a:ext cx="7620635" cy="2837180"/>
          </a:xfrm>
          <a:prstGeom prst="rect">
            <a:avLst/>
          </a:prstGeom>
        </p:spPr>
      </p:pic>
      <p:pic>
        <p:nvPicPr>
          <p:cNvPr id="17" name="图片 16" descr="pg0 (2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3815" y="353060"/>
            <a:ext cx="7922260" cy="2820670"/>
          </a:xfrm>
          <a:prstGeom prst="rect">
            <a:avLst/>
          </a:prstGeom>
        </p:spPr>
      </p:pic>
      <p:pic>
        <p:nvPicPr>
          <p:cNvPr id="12" name="图片 11" descr="ddpg (9)"/>
          <p:cNvPicPr>
            <a:picLocks noChangeAspect="1"/>
          </p:cNvPicPr>
          <p:nvPr/>
        </p:nvPicPr>
        <p:blipFill>
          <a:blip r:embed="rId3"/>
          <a:srcRect l="4808" t="1885"/>
          <a:stretch>
            <a:fillRect/>
          </a:stretch>
        </p:blipFill>
        <p:spPr>
          <a:xfrm>
            <a:off x="19050" y="1546860"/>
            <a:ext cx="3834765" cy="40646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13" name="表格 12"/>
          <p:cNvGraphicFramePr/>
          <p:nvPr/>
        </p:nvGraphicFramePr>
        <p:xfrm>
          <a:off x="350520" y="257810"/>
          <a:ext cx="2266315" cy="66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65"/>
                <a:gridCol w="261620"/>
                <a:gridCol w="240665"/>
                <a:gridCol w="260985"/>
                <a:gridCol w="252095"/>
                <a:gridCol w="254000"/>
                <a:gridCol w="240665"/>
                <a:gridCol w="261620"/>
              </a:tblGrid>
              <a:tr h="297180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Attention计算的上下文向量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Ct</a:t>
                      </a:r>
                      <a:endParaRPr lang="en-US" altLang="en-US" sz="1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/>
          <p:nvPr/>
        </p:nvGraphicFramePr>
        <p:xfrm>
          <a:off x="2736215" y="554990"/>
          <a:ext cx="22663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65"/>
                <a:gridCol w="261620"/>
                <a:gridCol w="240665"/>
                <a:gridCol w="260985"/>
                <a:gridCol w="252095"/>
                <a:gridCol w="254000"/>
                <a:gridCol w="240665"/>
                <a:gridCol w="261620"/>
              </a:tblGrid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Ht</a:t>
                      </a:r>
                      <a:endParaRPr lang="en-US" altLang="en-US" sz="1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" name="下箭头标注 14"/>
          <p:cNvSpPr/>
          <p:nvPr/>
        </p:nvSpPr>
        <p:spPr>
          <a:xfrm>
            <a:off x="361315" y="1035050"/>
            <a:ext cx="4641215" cy="379095"/>
          </a:xfrm>
          <a:prstGeom prst="down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nn.Linear  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1548765" y="1414145"/>
          <a:ext cx="2291080" cy="63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269240">
                <a:tc gridSpan="11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one-hot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sp>
        <p:nvSpPr>
          <p:cNvPr id="22" name="流程图: 可选过程 21"/>
          <p:cNvSpPr/>
          <p:nvPr/>
        </p:nvSpPr>
        <p:spPr>
          <a:xfrm flipH="1">
            <a:off x="786765" y="3346450"/>
            <a:ext cx="3053080" cy="2152015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18" name="表格 17"/>
          <p:cNvGraphicFramePr/>
          <p:nvPr/>
        </p:nvGraphicFramePr>
        <p:xfrm>
          <a:off x="1180148" y="3707130"/>
          <a:ext cx="22663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65"/>
                <a:gridCol w="261620"/>
                <a:gridCol w="240665"/>
                <a:gridCol w="260985"/>
                <a:gridCol w="252095"/>
                <a:gridCol w="254000"/>
                <a:gridCol w="240665"/>
                <a:gridCol w="26162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Ht</a:t>
                      </a:r>
                      <a:endParaRPr lang="en-US" altLang="en-US" sz="1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" name="下箭头标注 19"/>
          <p:cNvSpPr/>
          <p:nvPr/>
        </p:nvSpPr>
        <p:spPr>
          <a:xfrm flipH="1">
            <a:off x="1283018" y="4258945"/>
            <a:ext cx="2060575" cy="379095"/>
          </a:xfrm>
          <a:prstGeom prst="down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nn.Linear  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1" name="表格 20"/>
          <p:cNvGraphicFramePr/>
          <p:nvPr/>
        </p:nvGraphicFramePr>
        <p:xfrm>
          <a:off x="1167765" y="4638040"/>
          <a:ext cx="2291080" cy="63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269240">
                <a:tc gridSpan="11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one-hot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sp>
        <p:nvSpPr>
          <p:cNvPr id="23" name="椭圆形标注 22"/>
          <p:cNvSpPr/>
          <p:nvPr/>
        </p:nvSpPr>
        <p:spPr>
          <a:xfrm>
            <a:off x="1483360" y="2266315"/>
            <a:ext cx="1659890" cy="1055370"/>
          </a:xfrm>
          <a:prstGeom prst="wedgeEllipseCallou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 LSTM</a:t>
            </a:r>
            <a:endParaRPr lang="en-US" altLang="zh-CN"/>
          </a:p>
        </p:txBody>
      </p:sp>
      <p:sp>
        <p:nvSpPr>
          <p:cNvPr id="4" name="圆角矩形 3"/>
          <p:cNvSpPr/>
          <p:nvPr/>
        </p:nvSpPr>
        <p:spPr>
          <a:xfrm>
            <a:off x="296545" y="5695315"/>
            <a:ext cx="3820795" cy="946785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 algn="ctr">
              <a:buFont typeface="Wingdings" panose="05000000000000000000" charset="0"/>
              <a:buChar char=""/>
            </a:pPr>
            <a:r>
              <a:rPr lang="en-US" altLang="zh-CN" sz="1400">
                <a:solidFill>
                  <a:schemeClr val="tx1"/>
                </a:solidFill>
              </a:rPr>
              <a:t> 这里的attention本质上讲是对解码器LSTM隐藏层进行的一个修正</a:t>
            </a:r>
            <a:endParaRPr lang="en-US" altLang="zh-CN" sz="1400">
              <a:solidFill>
                <a:schemeClr val="tx1"/>
              </a:solidFill>
            </a:endParaRPr>
          </a:p>
        </p:txBody>
      </p:sp>
      <p:pic>
        <p:nvPicPr>
          <p:cNvPr id="5" name="图片 4" descr="Screenshot from 2023-03-23 13-45-2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5155" y="257810"/>
            <a:ext cx="5534660" cy="64985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" name="流程图: 可选过程 21"/>
          <p:cNvSpPr/>
          <p:nvPr/>
        </p:nvSpPr>
        <p:spPr>
          <a:xfrm flipH="1">
            <a:off x="8735695" y="4492625"/>
            <a:ext cx="3053080" cy="2152015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128270" y="1550035"/>
          <a:ext cx="22663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65"/>
                <a:gridCol w="261620"/>
                <a:gridCol w="240665"/>
                <a:gridCol w="260985"/>
                <a:gridCol w="252095"/>
                <a:gridCol w="254000"/>
                <a:gridCol w="240665"/>
                <a:gridCol w="261620"/>
              </a:tblGrid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Hx</a:t>
                      </a:r>
                      <a:r>
                        <a:rPr lang="en-US" altLang="en-US" sz="10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t-1</a:t>
                      </a:r>
                      <a:endParaRPr lang="en-US" altLang="en-US" sz="1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" name="表格 1"/>
          <p:cNvGraphicFramePr/>
          <p:nvPr/>
        </p:nvGraphicFramePr>
        <p:xfrm>
          <a:off x="2515870" y="107950"/>
          <a:ext cx="1085850" cy="2868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"/>
                <a:gridCol w="361950"/>
                <a:gridCol w="361950"/>
              </a:tblGrid>
              <a:tr h="36576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O</a:t>
                      </a:r>
                      <a:r>
                        <a:rPr lang="en-US" altLang="en-US" b="0" baseline="30000">
                          <a:solidFill>
                            <a:schemeClr val="tx1"/>
                          </a:solidFill>
                        </a:rPr>
                        <a:t>T</a:t>
                      </a:r>
                      <a:endParaRPr lang="en-US" altLang="en-US" b="0" baseline="3000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Nimbus Roman" panose="00000500000000000000" charset="0"/>
                          <a:cs typeface="Nimbus Roman" panose="00000500000000000000" charset="0"/>
                        </a:rPr>
                        <a:t>H1</a:t>
                      </a:r>
                      <a:endParaRPr lang="en-US" altLang="zh-CN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Nimbus Roman" panose="00000500000000000000" charset="0"/>
                          <a:cs typeface="Nimbus Roman" panose="00000500000000000000" charset="0"/>
                        </a:rPr>
                        <a:t>H2</a:t>
                      </a:r>
                      <a:endParaRPr lang="en-US" altLang="zh-CN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>
                          <a:latin typeface="Nimbus Roman" panose="00000500000000000000" charset="0"/>
                          <a:cs typeface="Nimbus Roman" panose="00000500000000000000" charset="0"/>
                        </a:rPr>
                        <a:t>H3</a:t>
                      </a:r>
                      <a:endParaRPr lang="en-US" altLang="zh-CN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3" name="右箭头 2"/>
          <p:cNvSpPr/>
          <p:nvPr/>
        </p:nvSpPr>
        <p:spPr>
          <a:xfrm>
            <a:off x="3710940" y="1024890"/>
            <a:ext cx="405765" cy="343535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4" name="表格 3"/>
          <p:cNvGraphicFramePr/>
          <p:nvPr/>
        </p:nvGraphicFramePr>
        <p:xfrm>
          <a:off x="4138295" y="694690"/>
          <a:ext cx="1085850" cy="1073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"/>
                <a:gridCol w="361950"/>
                <a:gridCol w="361950"/>
              </a:tblGrid>
              <a:tr h="36576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et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et1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et2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et3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右箭头 4"/>
          <p:cNvSpPr/>
          <p:nvPr/>
        </p:nvSpPr>
        <p:spPr>
          <a:xfrm>
            <a:off x="5306695" y="895985"/>
            <a:ext cx="1082040" cy="60071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 softmax</a:t>
            </a:r>
            <a:endParaRPr lang="en-US" altLang="en-US" sz="1400">
              <a:solidFill>
                <a:schemeClr val="tx1"/>
              </a:solidFill>
              <a:latin typeface="Nimbus Roman" panose="00000500000000000000" charset="0"/>
              <a:cs typeface="Nimbus Roman" panose="00000500000000000000" charset="0"/>
              <a:sym typeface="+mn-ea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6579870" y="613410"/>
          <a:ext cx="1085850" cy="1004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"/>
                <a:gridCol w="361950"/>
                <a:gridCol w="361950"/>
              </a:tblGrid>
              <a:tr h="29718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αt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αt1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αt2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αt3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381635" y="3599815"/>
          <a:ext cx="1085850" cy="10045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950"/>
                <a:gridCol w="361950"/>
                <a:gridCol w="361950"/>
              </a:tblGrid>
              <a:tr h="29718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αt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αt1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αt2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latin typeface="Nimbus Roman" panose="00000500000000000000" charset="0"/>
                          <a:cs typeface="Nimbus Roman" panose="00000500000000000000" charset="0"/>
                        </a:rPr>
                        <a:t>αt3</a:t>
                      </a: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3695"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2178685" y="3599815"/>
          <a:ext cx="2289175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039"/>
                <a:gridCol w="406040"/>
                <a:gridCol w="214747"/>
                <a:gridCol w="208280"/>
                <a:gridCol w="214226"/>
                <a:gridCol w="208280"/>
                <a:gridCol w="208493"/>
                <a:gridCol w="208280"/>
                <a:gridCol w="214747"/>
              </a:tblGrid>
              <a:tr h="297180">
                <a:tc rowSpan="3">
                  <a:txBody>
                    <a:bodyPr/>
                    <a:p>
                      <a:pPr>
                        <a:buNone/>
                      </a:pPr>
                      <a:r>
                        <a:rPr lang="en-US" altLang="en-US" sz="40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O</a:t>
                      </a:r>
                      <a:endParaRPr lang="en-US" altLang="en-US" sz="4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H1</a:t>
                      </a:r>
                      <a:endParaRPr lang="en-US" altLang="en-US" sz="12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H2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 v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H3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右箭头 10"/>
          <p:cNvSpPr/>
          <p:nvPr/>
        </p:nvSpPr>
        <p:spPr>
          <a:xfrm>
            <a:off x="4668520" y="3977005"/>
            <a:ext cx="405765" cy="343535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12" name="表格 11"/>
          <p:cNvGraphicFramePr/>
          <p:nvPr/>
        </p:nvGraphicFramePr>
        <p:xfrm>
          <a:off x="5214620" y="3804920"/>
          <a:ext cx="2266315" cy="66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65"/>
                <a:gridCol w="261620"/>
                <a:gridCol w="240665"/>
                <a:gridCol w="260985"/>
                <a:gridCol w="252095"/>
                <a:gridCol w="254000"/>
                <a:gridCol w="240665"/>
                <a:gridCol w="261620"/>
              </a:tblGrid>
              <a:tr h="297180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Attention计算的上下文向量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Ct</a:t>
                      </a:r>
                      <a:endParaRPr lang="en-US" altLang="en-US" sz="1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表格 12"/>
          <p:cNvGraphicFramePr/>
          <p:nvPr/>
        </p:nvGraphicFramePr>
        <p:xfrm>
          <a:off x="1335405" y="4935855"/>
          <a:ext cx="2266315" cy="6629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65"/>
                <a:gridCol w="261620"/>
                <a:gridCol w="240665"/>
                <a:gridCol w="260985"/>
                <a:gridCol w="252095"/>
                <a:gridCol w="254000"/>
                <a:gridCol w="240665"/>
                <a:gridCol w="261620"/>
              </a:tblGrid>
              <a:tr h="297180">
                <a:tc gridSpan="8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Attention计算的上下文向量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Ct</a:t>
                      </a:r>
                      <a:endParaRPr lang="en-US" altLang="en-US" sz="1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表格 13"/>
          <p:cNvGraphicFramePr/>
          <p:nvPr/>
        </p:nvGraphicFramePr>
        <p:xfrm>
          <a:off x="3721100" y="5233035"/>
          <a:ext cx="22663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65"/>
                <a:gridCol w="261620"/>
                <a:gridCol w="240665"/>
                <a:gridCol w="260985"/>
                <a:gridCol w="252095"/>
                <a:gridCol w="254000"/>
                <a:gridCol w="240665"/>
                <a:gridCol w="261620"/>
              </a:tblGrid>
              <a:tr h="2971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Ht</a:t>
                      </a:r>
                      <a:endParaRPr lang="en-US" altLang="en-US" sz="1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5" name="下箭头标注 14"/>
          <p:cNvSpPr/>
          <p:nvPr/>
        </p:nvSpPr>
        <p:spPr>
          <a:xfrm>
            <a:off x="1346200" y="5713095"/>
            <a:ext cx="4641215" cy="379095"/>
          </a:xfrm>
          <a:prstGeom prst="down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nn.Linear  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2533650" y="6092190"/>
          <a:ext cx="2291080" cy="63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269240">
                <a:tc gridSpan="11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one-hot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graphicFrame>
        <p:nvGraphicFramePr>
          <p:cNvPr id="18" name="表格 17"/>
          <p:cNvGraphicFramePr/>
          <p:nvPr/>
        </p:nvGraphicFramePr>
        <p:xfrm>
          <a:off x="9129078" y="4853305"/>
          <a:ext cx="2266315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4665"/>
                <a:gridCol w="261620"/>
                <a:gridCol w="240665"/>
                <a:gridCol w="260985"/>
                <a:gridCol w="252095"/>
                <a:gridCol w="254000"/>
                <a:gridCol w="240665"/>
                <a:gridCol w="261620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</a:rPr>
                        <a:t>Ht</a:t>
                      </a:r>
                      <a:endParaRPr lang="en-US" altLang="en-US" sz="10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20" name="下箭头标注 19"/>
          <p:cNvSpPr/>
          <p:nvPr/>
        </p:nvSpPr>
        <p:spPr>
          <a:xfrm flipH="1">
            <a:off x="9231948" y="5405120"/>
            <a:ext cx="2060575" cy="379095"/>
          </a:xfrm>
          <a:prstGeom prst="down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nn.Linear  </a:t>
            </a:r>
            <a:endParaRPr lang="zh-CN" altLang="en-US">
              <a:solidFill>
                <a:schemeClr val="tx1"/>
              </a:solidFill>
            </a:endParaRPr>
          </a:p>
        </p:txBody>
      </p:sp>
      <p:graphicFrame>
        <p:nvGraphicFramePr>
          <p:cNvPr id="21" name="表格 20"/>
          <p:cNvGraphicFramePr/>
          <p:nvPr/>
        </p:nvGraphicFramePr>
        <p:xfrm>
          <a:off x="9116695" y="5784215"/>
          <a:ext cx="2291080" cy="63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  <a:gridCol w="208280"/>
              </a:tblGrid>
              <a:tr h="269240">
                <a:tc gridSpan="11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 baseline="-250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one-hot</a:t>
                      </a:r>
                      <a:endParaRPr lang="en-US" altLang="en-US" sz="1800" b="0" baseline="-2500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lnTlToBr>
                      <a:noFill/>
                    </a:lnTlToBr>
                    <a:lnBlToTr>
                      <a:noFill/>
                    </a:lnBlToTr>
                    <a:gradFill>
                      <a:gsLst>
                        <a:gs pos="0">
                          <a:srgbClr val="E30000"/>
                        </a:gs>
                        <a:gs pos="100000">
                          <a:srgbClr val="760303"/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  <p:sp>
        <p:nvSpPr>
          <p:cNvPr id="23" name="椭圆形标注 22"/>
          <p:cNvSpPr/>
          <p:nvPr/>
        </p:nvSpPr>
        <p:spPr>
          <a:xfrm>
            <a:off x="9432290" y="3412490"/>
            <a:ext cx="1659890" cy="1055370"/>
          </a:xfrm>
          <a:prstGeom prst="wedgeEllipseCallou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 LSTM</a:t>
            </a:r>
            <a:endParaRPr lang="en-US" altLang="zh-CN"/>
          </a:p>
        </p:txBody>
      </p:sp>
      <p:sp>
        <p:nvSpPr>
          <p:cNvPr id="24" name="椭圆形标注 23"/>
          <p:cNvSpPr/>
          <p:nvPr/>
        </p:nvSpPr>
        <p:spPr>
          <a:xfrm>
            <a:off x="7084060" y="2070100"/>
            <a:ext cx="2458720" cy="1055370"/>
          </a:xfrm>
          <a:prstGeom prst="wedgeEllipseCallout">
            <a:avLst>
              <a:gd name="adj1" fmla="val -35080"/>
              <a:gd name="adj2" fmla="val -76293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en-US" sz="1400"/>
              <a:t>这是解码器本次输出与编码器每个隐藏层输出对应的概率</a:t>
            </a:r>
            <a:endParaRPr lang="en-US" altLang="en-US" sz="1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3colf6m3d9"/>
          <p:cNvPicPr>
            <a:picLocks noChangeAspect="1"/>
          </p:cNvPicPr>
          <p:nvPr/>
        </p:nvPicPr>
        <p:blipFill>
          <a:blip r:embed="rId1"/>
          <a:srcRect t="22807" r="1111" b="17368"/>
          <a:stretch>
            <a:fillRect/>
          </a:stretch>
        </p:blipFill>
        <p:spPr>
          <a:xfrm>
            <a:off x="83185" y="17145"/>
            <a:ext cx="9946640" cy="3248025"/>
          </a:xfrm>
          <a:prstGeom prst="rect">
            <a:avLst/>
          </a:prstGeom>
        </p:spPr>
      </p:pic>
      <p:pic>
        <p:nvPicPr>
          <p:cNvPr id="5" name="图片 4" descr="Figure_1"/>
          <p:cNvPicPr>
            <a:picLocks noChangeAspect="1"/>
          </p:cNvPicPr>
          <p:nvPr/>
        </p:nvPicPr>
        <p:blipFill>
          <a:blip r:embed="rId2"/>
          <a:srcRect l="5559" t="9261" r="12788" b="4164"/>
          <a:stretch>
            <a:fillRect/>
          </a:stretch>
        </p:blipFill>
        <p:spPr>
          <a:xfrm>
            <a:off x="275590" y="3265170"/>
            <a:ext cx="4276090" cy="3401060"/>
          </a:xfrm>
          <a:prstGeom prst="rect">
            <a:avLst/>
          </a:prstGeom>
        </p:spPr>
      </p:pic>
      <p:pic>
        <p:nvPicPr>
          <p:cNvPr id="7" name="图片 6" descr="seq2seq_attention_res (1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210" y="3403600"/>
            <a:ext cx="4349750" cy="326263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1545" y="2766060"/>
            <a:ext cx="10515600" cy="1325563"/>
          </a:xfrm>
        </p:spPr>
        <p:txBody>
          <a:bodyPr/>
          <a:p>
            <a:pPr algn="ctr"/>
            <a:r>
              <a:rPr lang="en-US" altLang="zh-CN"/>
              <a:t>Transformer</a:t>
            </a:r>
            <a:endParaRPr lang="en-US" altLang="zh-C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JyCdy9"/>
          <p:cNvPicPr>
            <a:picLocks noChangeAspect="1"/>
          </p:cNvPicPr>
          <p:nvPr/>
        </p:nvPicPr>
        <p:blipFill>
          <a:blip r:embed="rId1"/>
          <a:srcRect l="17253" t="1752" r="19257" b="1364"/>
          <a:stretch>
            <a:fillRect/>
          </a:stretch>
        </p:blipFill>
        <p:spPr>
          <a:xfrm>
            <a:off x="2102485" y="180340"/>
            <a:ext cx="5049520" cy="6496685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transformer整体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=encoder+decoder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 descr="JyCLlQ (1)"/>
          <p:cNvPicPr>
            <a:picLocks noChangeAspect="1"/>
          </p:cNvPicPr>
          <p:nvPr/>
        </p:nvPicPr>
        <p:blipFill>
          <a:blip r:embed="rId1"/>
          <a:srcRect l="1387" t="687" r="5034" b="4121"/>
          <a:stretch>
            <a:fillRect/>
          </a:stretch>
        </p:blipFill>
        <p:spPr>
          <a:xfrm>
            <a:off x="4445" y="1042035"/>
            <a:ext cx="7588250" cy="56197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creenshot from 2023-03-23 14-28-0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57150"/>
            <a:ext cx="5921375" cy="5217160"/>
          </a:xfrm>
          <a:prstGeom prst="rect">
            <a:avLst/>
          </a:prstGeom>
        </p:spPr>
      </p:pic>
      <p:pic>
        <p:nvPicPr>
          <p:cNvPr id="5" name="图片 4" descr="Screenshot from 2023-03-23 14-28-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3205" y="171450"/>
            <a:ext cx="5390515" cy="5981700"/>
          </a:xfrm>
          <a:prstGeom prst="rect">
            <a:avLst/>
          </a:prstGeom>
        </p:spPr>
      </p:pic>
      <p:pic>
        <p:nvPicPr>
          <p:cNvPr id="6" name="图片 5" descr="Screenshot from 2023-03-23 14-28-4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2105" y="6490970"/>
            <a:ext cx="6447790" cy="2667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1025525" y="2719705"/>
          <a:ext cx="841375" cy="168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633095"/>
              </a:tblGrid>
              <a:tr h="2286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Src</a:t>
                      </a: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_vocab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P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1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ich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mochte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3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ein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4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bier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cola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2421890" y="2461895"/>
          <a:ext cx="841375" cy="241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/>
                <a:gridCol w="633095"/>
              </a:tblGrid>
              <a:tr h="228600">
                <a:tc grid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tgt_vocab</a:t>
                      </a:r>
                      <a:endParaRPr 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cPr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0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P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1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i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2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want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3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a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4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beer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5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coke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6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S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413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7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E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  <a:tr h="215900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8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1200" b="0">
                          <a:solidFill>
                            <a:srgbClr val="000000"/>
                          </a:solidFill>
                          <a:latin typeface="SimSun" charset="0"/>
                        </a:rPr>
                        <a:t>.</a:t>
                      </a:r>
                      <a:endParaRPr lang="en-US" altLang="en-US" sz="1200" b="0">
                        <a:solidFill>
                          <a:srgbClr val="000000"/>
                        </a:solidFill>
                        <a:latin typeface="SimSun" charset="0"/>
                      </a:endParaRPr>
                    </a:p>
                  </a:txBody>
                  <a:tcPr marL="12700" marR="12700" marT="12700" vert="horz" anchor="t">
                    <a:lnL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524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2506345" y="396240"/>
          <a:ext cx="7734300" cy="16002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78100"/>
                <a:gridCol w="2578100"/>
                <a:gridCol w="25781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 enc_input(编码样本)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dec_input (解码样本) 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 dec_outputdec_input (标签)</a:t>
                      </a:r>
                      <a:endParaRPr lang="zh-CN" altLang="en-US" sz="1200"/>
                    </a:p>
                    <a:p>
                      <a:pPr>
                        <a:buNone/>
                      </a:pPr>
                      <a:endParaRPr lang="zh-CN" altLang="en-US" sz="12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ich mochte ein bier P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S i want a beer .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i want a beer . E</a:t>
                      </a:r>
                      <a:endParaRPr lang="zh-CN" altLang="en-US" sz="12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ich mochte ein cola P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S i want a coke .</a:t>
                      </a:r>
                      <a:endParaRPr lang="zh-CN" altLang="en-US" sz="12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/>
                        <a:t>i want a coke . E</a:t>
                      </a:r>
                      <a:endParaRPr lang="zh-CN" altLang="en-US" sz="12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5</a:t>
                      </a:r>
                      <a:endParaRPr lang="en-US" altLang="zh-CN" sz="120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6</a:t>
                      </a:r>
                      <a:endParaRPr lang="en-US" altLang="zh-CN" sz="120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/>
                        <a:t>6</a:t>
                      </a:r>
                      <a:endParaRPr lang="en-US" altLang="zh-CN" sz="1200"/>
                    </a:p>
                  </a:txBody>
                  <a:tcP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JyCLlQ (1)"/>
          <p:cNvPicPr>
            <a:picLocks noChangeAspect="1"/>
          </p:cNvPicPr>
          <p:nvPr/>
        </p:nvPicPr>
        <p:blipFill>
          <a:blip r:embed="rId1"/>
          <a:srcRect l="1387" t="687" r="5034" b="4121"/>
          <a:stretch>
            <a:fillRect/>
          </a:stretch>
        </p:blipFill>
        <p:spPr>
          <a:xfrm>
            <a:off x="4445" y="958850"/>
            <a:ext cx="7588250" cy="561975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JyCLlQ (1)"/>
          <p:cNvPicPr>
            <a:picLocks noChangeAspect="1"/>
          </p:cNvPicPr>
          <p:nvPr/>
        </p:nvPicPr>
        <p:blipFill>
          <a:blip r:embed="rId1"/>
          <a:srcRect l="28411" t="59448" r="5034" b="4121"/>
          <a:stretch>
            <a:fillRect/>
          </a:stretch>
        </p:blipFill>
        <p:spPr>
          <a:xfrm>
            <a:off x="40005" y="1210945"/>
            <a:ext cx="5396865" cy="215074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0005" y="3679190"/>
            <a:ext cx="47879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/>
              <a:t>将位置嵌入和字嵌入相加，然后作为输入</a:t>
            </a:r>
            <a:endParaRPr lang="zh-CN" altLang="en-US"/>
          </a:p>
        </p:txBody>
      </p:sp>
      <p:pic>
        <p:nvPicPr>
          <p:cNvPr id="6" name="图片 5" descr="Screenshot from 2023-03-23 15-06-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05" y="4155440"/>
            <a:ext cx="4292600" cy="1786890"/>
          </a:xfrm>
          <a:prstGeom prst="rect">
            <a:avLst/>
          </a:prstGeom>
        </p:spPr>
      </p:pic>
      <p:graphicFrame>
        <p:nvGraphicFramePr>
          <p:cNvPr id="7" name="表格 6"/>
          <p:cNvGraphicFramePr/>
          <p:nvPr/>
        </p:nvGraphicFramePr>
        <p:xfrm>
          <a:off x="7290435" y="445135"/>
          <a:ext cx="3997325" cy="76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221"/>
                <a:gridCol w="666221"/>
                <a:gridCol w="666221"/>
                <a:gridCol w="666220"/>
                <a:gridCol w="666221"/>
                <a:gridCol w="666221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batch1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batch2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" name="下箭头标注 7"/>
          <p:cNvSpPr/>
          <p:nvPr/>
        </p:nvSpPr>
        <p:spPr>
          <a:xfrm>
            <a:off x="7338060" y="1445260"/>
            <a:ext cx="3925570" cy="541020"/>
          </a:xfrm>
          <a:prstGeom prst="down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>
                <a:solidFill>
                  <a:schemeClr val="tx1"/>
                </a:solidFill>
              </a:rPr>
              <a:t> Word Embedding(1--&gt;512)</a:t>
            </a:r>
            <a:endParaRPr lang="en-US" altLang="zh-CN">
              <a:solidFill>
                <a:schemeClr val="tx1"/>
              </a:solidFill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5864860" y="2259330"/>
          <a:ext cx="612013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445"/>
                <a:gridCol w="254635"/>
                <a:gridCol w="255270"/>
                <a:gridCol w="254635"/>
                <a:gridCol w="254635"/>
                <a:gridCol w="255270"/>
                <a:gridCol w="255270"/>
                <a:gridCol w="254635"/>
                <a:gridCol w="255270"/>
                <a:gridCol w="255270"/>
                <a:gridCol w="254635"/>
                <a:gridCol w="255270"/>
                <a:gridCol w="255270"/>
                <a:gridCol w="254635"/>
                <a:gridCol w="255270"/>
                <a:gridCol w="254635"/>
                <a:gridCol w="254635"/>
                <a:gridCol w="255270"/>
                <a:gridCol w="255270"/>
                <a:gridCol w="254635"/>
                <a:gridCol w="255270"/>
              </a:tblGrid>
              <a:tr h="38100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batch1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batch2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表格 9"/>
          <p:cNvGraphicFramePr/>
          <p:nvPr/>
        </p:nvGraphicFramePr>
        <p:xfrm>
          <a:off x="6000115" y="4978400"/>
          <a:ext cx="612013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445"/>
                <a:gridCol w="254635"/>
                <a:gridCol w="255270"/>
                <a:gridCol w="254635"/>
                <a:gridCol w="254635"/>
                <a:gridCol w="255270"/>
                <a:gridCol w="255270"/>
                <a:gridCol w="254635"/>
                <a:gridCol w="255270"/>
                <a:gridCol w="255270"/>
                <a:gridCol w="254635"/>
                <a:gridCol w="255270"/>
                <a:gridCol w="255270"/>
                <a:gridCol w="254635"/>
                <a:gridCol w="255270"/>
                <a:gridCol w="254635"/>
                <a:gridCol w="254635"/>
                <a:gridCol w="255270"/>
                <a:gridCol w="255270"/>
                <a:gridCol w="254635"/>
                <a:gridCol w="255270"/>
              </a:tblGrid>
              <a:tr h="38100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batch1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8100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batch2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下箭头标注 10"/>
          <p:cNvSpPr/>
          <p:nvPr/>
        </p:nvSpPr>
        <p:spPr>
          <a:xfrm>
            <a:off x="7362190" y="4047490"/>
            <a:ext cx="3925570" cy="541020"/>
          </a:xfrm>
          <a:prstGeom prst="downArrow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>
                <a:solidFill>
                  <a:schemeClr val="tx1"/>
                </a:solidFill>
              </a:rPr>
              <a:t>+=Positional </a:t>
            </a:r>
            <a:r>
              <a:rPr lang="en-US" altLang="zh-CN">
                <a:solidFill>
                  <a:schemeClr val="tx1"/>
                </a:solidFill>
              </a:rPr>
              <a:t>Embedd</a:t>
            </a:r>
            <a:r>
              <a:rPr lang="en-US" altLang="en-US">
                <a:solidFill>
                  <a:schemeClr val="tx1"/>
                </a:solidFill>
              </a:rPr>
              <a:t>ed</a:t>
            </a:r>
            <a:endParaRPr lang="en-US" altLang="en-US">
              <a:solidFill>
                <a:schemeClr val="tx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862580" y="4978400"/>
            <a:ext cx="281495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t：句中该词序号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d：词向量维度（512）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i：嵌入的维度序号</a:t>
            </a:r>
            <a:endParaRPr lang="en-US" altLang="zh-CN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nn.Dropout：结果放大1/（1-p）即10/9倍</a:t>
            </a:r>
            <a:endParaRPr lang="en-US" altLang="zh-C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147955" y="3486150"/>
          <a:ext cx="612013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0445"/>
                <a:gridCol w="254635"/>
                <a:gridCol w="255270"/>
                <a:gridCol w="254635"/>
                <a:gridCol w="254635"/>
                <a:gridCol w="255270"/>
                <a:gridCol w="255270"/>
                <a:gridCol w="254635"/>
                <a:gridCol w="255270"/>
                <a:gridCol w="255270"/>
                <a:gridCol w="254635"/>
                <a:gridCol w="255270"/>
                <a:gridCol w="255270"/>
                <a:gridCol w="254635"/>
                <a:gridCol w="255270"/>
                <a:gridCol w="254635"/>
                <a:gridCol w="254635"/>
                <a:gridCol w="255270"/>
                <a:gridCol w="255270"/>
                <a:gridCol w="254635"/>
                <a:gridCol w="255270"/>
              </a:tblGrid>
              <a:tr h="365760">
                <a:tc gridSpan="21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Word Embedding</a:t>
                      </a:r>
                      <a:r>
                        <a:rPr lang="en-US" altLang="en-US" sz="1000" b="0">
                          <a:solidFill>
                            <a:schemeClr val="tx1"/>
                          </a:solidFill>
                          <a:cs typeface="+mn-lt"/>
                        </a:rPr>
                        <a:t>+</a:t>
                      </a:r>
                      <a:r>
                        <a:rPr lang="en-US" altLang="en-US" sz="1000" b="0">
                          <a:solidFill>
                            <a:schemeClr val="tx1"/>
                          </a:solidFill>
                          <a:sym typeface="+mn-ea"/>
                        </a:rPr>
                        <a:t>Positional </a:t>
                      </a:r>
                      <a:r>
                        <a:rPr lang="en-US" altLang="zh-CN" sz="1000" b="0">
                          <a:solidFill>
                            <a:schemeClr val="tx1"/>
                          </a:solidFill>
                          <a:sym typeface="+mn-ea"/>
                        </a:rPr>
                        <a:t>Embedd</a:t>
                      </a:r>
                      <a:r>
                        <a:rPr lang="en-US" altLang="en-US" sz="1000" b="0">
                          <a:solidFill>
                            <a:schemeClr val="tx1"/>
                          </a:solidFill>
                          <a:sym typeface="+mn-ea"/>
                        </a:rPr>
                        <a:t>ed</a:t>
                      </a:r>
                      <a:endParaRPr lang="en-US" altLang="en-US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batch1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batch2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684645" y="3117850"/>
            <a:ext cx="4695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单个词向量分别乘以矩阵Wq，Wk，Wv</a:t>
            </a:r>
            <a:endParaRPr lang="en-US" altLang="zh-CN"/>
          </a:p>
        </p:txBody>
      </p:sp>
      <p:graphicFrame>
        <p:nvGraphicFramePr>
          <p:cNvPr id="6" name="表格 5"/>
          <p:cNvGraphicFramePr/>
          <p:nvPr/>
        </p:nvGraphicFramePr>
        <p:xfrm>
          <a:off x="6684645" y="3663315"/>
          <a:ext cx="990600" cy="16262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0200"/>
                <a:gridCol w="330200"/>
                <a:gridCol w="330200"/>
              </a:tblGrid>
              <a:tr h="2851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Wq</a:t>
                      </a:r>
                      <a:endParaRPr lang="en-US" altLang="zh-CN" sz="8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Wk</a:t>
                      </a:r>
                      <a:endParaRPr lang="en-US" altLang="zh-CN" sz="8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8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Wv</a:t>
                      </a:r>
                      <a:endParaRPr lang="en-US" altLang="zh-CN" sz="8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  <a:sym typeface="+mn-ea"/>
                        </a:rPr>
                        <a:t>...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  <a:sym typeface="+mn-ea"/>
                        </a:rPr>
                        <a:t>...</a:t>
                      </a:r>
                      <a:endParaRPr lang="zh-CN" altLang="en-US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...</a:t>
                      </a:r>
                      <a:endParaRPr lang="en-US" altLang="zh-CN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35280"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6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表格 8"/>
          <p:cNvGraphicFramePr/>
          <p:nvPr/>
        </p:nvGraphicFramePr>
        <p:xfrm>
          <a:off x="7748270" y="3683635"/>
          <a:ext cx="4106545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5505"/>
                <a:gridCol w="214630"/>
                <a:gridCol w="216535"/>
                <a:gridCol w="215900"/>
                <a:gridCol w="216535"/>
                <a:gridCol w="216535"/>
                <a:gridCol w="215900"/>
                <a:gridCol w="215900"/>
                <a:gridCol w="216535"/>
                <a:gridCol w="216535"/>
                <a:gridCol w="215900"/>
                <a:gridCol w="215265"/>
                <a:gridCol w="215900"/>
                <a:gridCol w="217170"/>
                <a:gridCol w="215900"/>
                <a:gridCol w="215900"/>
              </a:tblGrid>
              <a:tr h="365760">
                <a:tc gridSpan="16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Word Embedding</a:t>
                      </a:r>
                      <a:r>
                        <a:rPr lang="en-US" altLang="en-US" sz="1000" b="0">
                          <a:solidFill>
                            <a:schemeClr val="tx1"/>
                          </a:solidFill>
                          <a:cs typeface="+mn-lt"/>
                        </a:rPr>
                        <a:t>+</a:t>
                      </a:r>
                      <a:r>
                        <a:rPr lang="en-US" altLang="en-US" sz="1000" b="0">
                          <a:solidFill>
                            <a:schemeClr val="tx1"/>
                          </a:solidFill>
                          <a:sym typeface="+mn-ea"/>
                        </a:rPr>
                        <a:t>Positional </a:t>
                      </a:r>
                      <a:r>
                        <a:rPr lang="en-US" altLang="zh-CN" sz="1000" b="0">
                          <a:solidFill>
                            <a:schemeClr val="tx1"/>
                          </a:solidFill>
                          <a:sym typeface="+mn-ea"/>
                        </a:rPr>
                        <a:t>Embedd</a:t>
                      </a:r>
                      <a:r>
                        <a:rPr lang="en-US" altLang="en-US" sz="1000" b="0">
                          <a:solidFill>
                            <a:schemeClr val="tx1"/>
                          </a:solidFill>
                          <a:sym typeface="+mn-ea"/>
                        </a:rPr>
                        <a:t>ed</a:t>
                      </a:r>
                      <a:endParaRPr lang="en-US" altLang="en-US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6576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batch1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q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k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v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65760">
                <a:tc rowSpan="2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000" b="0">
                          <a:solidFill>
                            <a:schemeClr val="tx1"/>
                          </a:solidFill>
                          <a:cs typeface="+mn-lt"/>
                        </a:rPr>
                        <a:t>batch2</a:t>
                      </a:r>
                      <a:endParaRPr lang="en-US" altLang="zh-CN" sz="1000" b="0">
                        <a:solidFill>
                          <a:schemeClr val="tx1"/>
                        </a:solidFill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4384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q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k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 b="0">
                          <a:solidFill>
                            <a:schemeClr val="tx1"/>
                          </a:solidFill>
                          <a:latin typeface="Nimbus Roman" panose="00000500000000000000" charset="0"/>
                          <a:cs typeface="Nimbus Roman" panose="00000500000000000000" charset="0"/>
                        </a:rPr>
                        <a:t>v</a:t>
                      </a: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en-US" sz="1000" b="0">
                        <a:solidFill>
                          <a:schemeClr val="tx1"/>
                        </a:solidFill>
                        <a:latin typeface="Nimbus Roman" panose="00000500000000000000" charset="0"/>
                        <a:cs typeface="Nimbus Roman" panose="000005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5" name="图片 14" descr="Screenshot from 2023-03-24 16-57-34"/>
          <p:cNvPicPr>
            <a:picLocks noChangeAspect="1"/>
          </p:cNvPicPr>
          <p:nvPr/>
        </p:nvPicPr>
        <p:blipFill>
          <a:blip r:embed="rId1"/>
          <a:srcRect r="2807" b="20374"/>
          <a:stretch>
            <a:fillRect/>
          </a:stretch>
        </p:blipFill>
        <p:spPr>
          <a:xfrm>
            <a:off x="304165" y="305435"/>
            <a:ext cx="3276600" cy="811530"/>
          </a:xfrm>
          <a:prstGeom prst="rect">
            <a:avLst/>
          </a:prstGeom>
        </p:spPr>
      </p:pic>
      <p:graphicFrame>
        <p:nvGraphicFramePr>
          <p:cNvPr id="16" name="表格 15"/>
          <p:cNvGraphicFramePr/>
          <p:nvPr/>
        </p:nvGraphicFramePr>
        <p:xfrm>
          <a:off x="3827780" y="1576070"/>
          <a:ext cx="5377815" cy="10725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87955"/>
                <a:gridCol w="2689860"/>
              </a:tblGrid>
              <a:tr h="35750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SimSun" charset="0"/>
                          <a:cs typeface="SimSun" charset="0"/>
                        </a:rPr>
                        <a:t>Query向量</a:t>
                      </a:r>
                      <a:endParaRPr lang="en-US" altLang="en-US" sz="1800" b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SimSun" charset="0"/>
                          <a:cs typeface="SimSun" charset="0"/>
                        </a:rPr>
                        <a:t>当前元素的查询向量</a:t>
                      </a:r>
                      <a:endParaRPr lang="en-US" altLang="en-US" sz="1800" b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50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SimSun" charset="0"/>
                          <a:cs typeface="SimSun" charset="0"/>
                        </a:rPr>
                        <a:t>Key向量</a:t>
                      </a:r>
                      <a:endParaRPr lang="en-US" altLang="en-US" sz="1800" b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SimSun" charset="0"/>
                          <a:cs typeface="SimSun" charset="0"/>
                        </a:rPr>
                        <a:t>所有元素的关键字向量</a:t>
                      </a:r>
                      <a:endParaRPr lang="en-US" altLang="en-US" sz="1800" b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57505"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SimSun" charset="0"/>
                          <a:cs typeface="SimSun" charset="0"/>
                        </a:rPr>
                        <a:t>Value向量</a:t>
                      </a:r>
                      <a:endParaRPr lang="en-US" altLang="en-US" sz="1800" b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1800" b="0">
                          <a:latin typeface="SimSun" charset="0"/>
                          <a:cs typeface="SimSun" charset="0"/>
                        </a:rPr>
                        <a:t>表示所有元素的值向量</a:t>
                      </a:r>
                      <a:endParaRPr lang="en-US" altLang="en-US" sz="1800" b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68580" marR="68580" marT="0" marB="0" vert="horz" anchor="t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2" name="图片 11" descr="c7wCNR"/>
          <p:cNvPicPr>
            <a:picLocks noChangeAspect="1"/>
          </p:cNvPicPr>
          <p:nvPr/>
        </p:nvPicPr>
        <p:blipFill>
          <a:blip r:embed="rId1"/>
          <a:srcRect l="2115" t="33197" r="2658" b="77"/>
          <a:stretch>
            <a:fillRect/>
          </a:stretch>
        </p:blipFill>
        <p:spPr>
          <a:xfrm>
            <a:off x="10795" y="47625"/>
            <a:ext cx="8470265" cy="2926715"/>
          </a:xfrm>
          <a:prstGeom prst="rect">
            <a:avLst/>
          </a:prstGeom>
        </p:spPr>
      </p:pic>
      <p:pic>
        <p:nvPicPr>
          <p:cNvPr id="11" name="图片 10" descr="c7wk36"/>
          <p:cNvPicPr>
            <a:picLocks noChangeAspect="1"/>
          </p:cNvPicPr>
          <p:nvPr/>
        </p:nvPicPr>
        <p:blipFill>
          <a:blip r:embed="rId2"/>
          <a:srcRect l="14448" r="12608" b="5239"/>
          <a:stretch>
            <a:fillRect/>
          </a:stretch>
        </p:blipFill>
        <p:spPr>
          <a:xfrm>
            <a:off x="8928735" y="381000"/>
            <a:ext cx="3180080" cy="1614805"/>
          </a:xfrm>
          <a:prstGeom prst="rect">
            <a:avLst/>
          </a:prstGeom>
        </p:spPr>
      </p:pic>
      <p:pic>
        <p:nvPicPr>
          <p:cNvPr id="4" name="图片 3" descr="Screenshot from 2023-03-24 16-55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5" y="2974340"/>
            <a:ext cx="8726805" cy="389318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Screenshot from 2023-03-24 17-05-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7500" y="95885"/>
            <a:ext cx="8297545" cy="48806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140335" y="5161915"/>
            <a:ext cx="818324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Wingdings" panose="05000000000000000000" charset="0"/>
              <a:buChar char=""/>
            </a:pPr>
            <a:r>
              <a:rPr lang="zh-CN" altLang="en-US"/>
              <a:t>其它的输入向量也执行相同的操作，得到通过 self-attention 后的所有输出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"/>
            </a:pPr>
            <a:r>
              <a:rPr lang="en-US" altLang="zh-CN"/>
              <a:t>输出结果：Value向量经过attn加权</a:t>
            </a:r>
            <a:r>
              <a:rPr lang="en-US" altLang="en-US"/>
              <a:t>（multiplication）</a:t>
            </a:r>
            <a:r>
              <a:rPr lang="en-US" altLang="zh-CN"/>
              <a:t>  &amp; 自注意力</a:t>
            </a:r>
            <a:r>
              <a:rPr lang="en-US" altLang="en-US"/>
              <a:t>(score集合--互相之间的注意力)</a:t>
            </a:r>
            <a:endParaRPr lang="en-US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2842260" y="6010910"/>
            <a:ext cx="92170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        # enc_self_attns            list 6 * tensor(2,8,5,5)        # 分层(6)注意力</a:t>
            </a:r>
            <a:endParaRPr lang="zh-CN" altLang="en-US"/>
          </a:p>
          <a:p>
            <a:r>
              <a:rPr lang="zh-CN" altLang="en-US"/>
              <a:t>        # enc_outputs               tensor(2,5,512)                 # 6层注意力加权结果</a:t>
            </a:r>
            <a:endParaRPr lang="zh-CN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creenshot from 2023-03-25 14-51-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470" y="1420495"/>
            <a:ext cx="1828800" cy="3314065"/>
          </a:xfrm>
          <a:prstGeom prst="rect">
            <a:avLst/>
          </a:prstGeom>
        </p:spPr>
      </p:pic>
      <p:pic>
        <p:nvPicPr>
          <p:cNvPr id="4" name="图片 3" descr="Screenshot from 2023-03-25 15-02-3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775" y="1334770"/>
            <a:ext cx="1428750" cy="3399790"/>
          </a:xfrm>
          <a:prstGeom prst="rect">
            <a:avLst/>
          </a:prstGeom>
        </p:spPr>
      </p:pic>
      <p:pic>
        <p:nvPicPr>
          <p:cNvPr id="5" name="图片 4" descr="v2-6a76f90a48a5ff2afa79c7f17ccc353d_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1625" y="434975"/>
            <a:ext cx="5730240" cy="429958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ddpg (1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1160" y="237490"/>
            <a:ext cx="7983220" cy="59074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010" y="946785"/>
            <a:ext cx="6791960" cy="3086100"/>
          </a:xfrm>
          <a:prstGeom prst="rect">
            <a:avLst/>
          </a:prstGeom>
        </p:spPr>
      </p:pic>
      <p:pic>
        <p:nvPicPr>
          <p:cNvPr id="5" name="图片 4" descr="Screenshot from 2023-04-15 21-36-0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970" y="641985"/>
            <a:ext cx="4255135" cy="459295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/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3342005" y="2165350"/>
            <a:ext cx="550799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800"/>
              <a:t>202</a:t>
            </a:r>
            <a:r>
              <a:rPr lang="en-US" altLang="en-US" sz="4800"/>
              <a:t>3</a:t>
            </a:r>
            <a:r>
              <a:rPr lang="en-US" altLang="zh-CN" sz="4800"/>
              <a:t>.</a:t>
            </a:r>
            <a:r>
              <a:rPr lang="en-US" altLang="en-US" sz="4800"/>
              <a:t>04.23</a:t>
            </a:r>
            <a:endParaRPr lang="en-US" altLang="en-US" sz="4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 descr="Screenshot from 2023-04-22 19-42-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3865" y="109855"/>
            <a:ext cx="3299460" cy="1844040"/>
          </a:xfrm>
          <a:prstGeom prst="rect">
            <a:avLst/>
          </a:prstGeom>
        </p:spPr>
      </p:pic>
      <p:pic>
        <p:nvPicPr>
          <p:cNvPr id="3" name="图片 2" descr="transformer_look_ahead_mask"/>
          <p:cNvPicPr>
            <a:picLocks noChangeAspect="1"/>
          </p:cNvPicPr>
          <p:nvPr/>
        </p:nvPicPr>
        <p:blipFill>
          <a:blip r:embed="rId2"/>
          <a:srcRect l="5672" t="3221" r="10220" b="1206"/>
          <a:stretch>
            <a:fillRect/>
          </a:stretch>
        </p:blipFill>
        <p:spPr>
          <a:xfrm>
            <a:off x="175260" y="1847215"/>
            <a:ext cx="4133850" cy="352298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84480" y="5763260"/>
            <a:ext cx="42214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用前文的信息预测后文的信息，所以用上了Future Mask。</a:t>
            </a:r>
            <a:r>
              <a:rPr lang="en-US" altLang="zh-CN"/>
              <a:t>mask将后文遮挡</a:t>
            </a:r>
            <a:endParaRPr lang="en-US" altLang="zh-CN"/>
          </a:p>
        </p:txBody>
      </p:sp>
      <p:pic>
        <p:nvPicPr>
          <p:cNvPr id="6" name="图片 5" descr="gpt7_self_attention_line"/>
          <p:cNvPicPr>
            <a:picLocks noChangeAspect="1"/>
          </p:cNvPicPr>
          <p:nvPr/>
        </p:nvPicPr>
        <p:blipFill>
          <a:blip r:embed="rId3"/>
          <a:srcRect r="50700" b="51661"/>
          <a:stretch>
            <a:fillRect/>
          </a:stretch>
        </p:blipFill>
        <p:spPr>
          <a:xfrm>
            <a:off x="4643755" y="608330"/>
            <a:ext cx="2790825" cy="5473700"/>
          </a:xfrm>
          <a:prstGeom prst="rect">
            <a:avLst/>
          </a:prstGeom>
        </p:spPr>
      </p:pic>
      <p:pic>
        <p:nvPicPr>
          <p:cNvPr id="7" name="图片 6" descr="bert6_self_attention_line"/>
          <p:cNvPicPr>
            <a:picLocks noChangeAspect="1"/>
          </p:cNvPicPr>
          <p:nvPr/>
        </p:nvPicPr>
        <p:blipFill>
          <a:blip r:embed="rId4"/>
          <a:srcRect r="54419" b="51667"/>
          <a:stretch>
            <a:fillRect/>
          </a:stretch>
        </p:blipFill>
        <p:spPr>
          <a:xfrm>
            <a:off x="7790180" y="424815"/>
            <a:ext cx="2727325" cy="578421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 descr="c7wCNR"/>
          <p:cNvPicPr>
            <a:picLocks noChangeAspect="1"/>
          </p:cNvPicPr>
          <p:nvPr/>
        </p:nvPicPr>
        <p:blipFill>
          <a:blip r:embed="rId1"/>
          <a:srcRect l="2115" t="33197" r="2658" b="77"/>
          <a:stretch>
            <a:fillRect/>
          </a:stretch>
        </p:blipFill>
        <p:spPr>
          <a:xfrm>
            <a:off x="3618230" y="12700"/>
            <a:ext cx="8470265" cy="2926715"/>
          </a:xfrm>
          <a:prstGeom prst="rect">
            <a:avLst/>
          </a:prstGeom>
        </p:spPr>
      </p:pic>
      <p:pic>
        <p:nvPicPr>
          <p:cNvPr id="3" name="图片 2" descr="c7wk36"/>
          <p:cNvPicPr>
            <a:picLocks noChangeAspect="1"/>
          </p:cNvPicPr>
          <p:nvPr/>
        </p:nvPicPr>
        <p:blipFill>
          <a:blip r:embed="rId2"/>
          <a:srcRect l="14448" r="12608" b="5239"/>
          <a:stretch>
            <a:fillRect/>
          </a:stretch>
        </p:blipFill>
        <p:spPr>
          <a:xfrm>
            <a:off x="281305" y="1324610"/>
            <a:ext cx="2603500" cy="1322070"/>
          </a:xfrm>
          <a:prstGeom prst="rect">
            <a:avLst/>
          </a:prstGeom>
        </p:spPr>
      </p:pic>
      <p:pic>
        <p:nvPicPr>
          <p:cNvPr id="14" name="图片 13" descr="Screenshot from 2023-03-24 16-55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3285" y="2939415"/>
            <a:ext cx="8726805" cy="3893185"/>
          </a:xfrm>
          <a:prstGeom prst="rect">
            <a:avLst/>
          </a:prstGeom>
        </p:spPr>
      </p:pic>
      <p:pic>
        <p:nvPicPr>
          <p:cNvPr id="18" name="图片 17" descr="Screenshot from 2023-04-22 19-42-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" y="3348355"/>
            <a:ext cx="3299460" cy="18440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/>
        </p:nvGraphicFramePr>
        <p:xfrm>
          <a:off x="746125" y="81915"/>
          <a:ext cx="8534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44800"/>
                <a:gridCol w="2844800"/>
                <a:gridCol w="28448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sym typeface="+mn-ea"/>
                        </a:rPr>
                        <a:t>seqs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语句索引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segs</a:t>
                      </a:r>
                      <a:endParaRPr lang="en-US" altLang="zh-CN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/>
                        <a:t>前后句信息，</a:t>
                      </a:r>
                      <a:r>
                        <a:rPr lang="en-US" altLang="zh-CN" sz="1200" b="0"/>
                        <a:t>0前句，1后句，2空符</a:t>
                      </a:r>
                      <a:endParaRPr lang="en-US" altLang="zh-CN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xlen</a:t>
                      </a:r>
                      <a:endParaRPr lang="en-US" altLang="zh-CN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/>
                        <a:t>两句话长度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nsp_labels</a:t>
                      </a:r>
                      <a:endParaRPr lang="zh-CN" altLang="en-US" sz="1200" b="0"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/>
                        <a:t>标签  array([0])  0or1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3" name="图片 2" descr="maddpg (3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225" y="1731010"/>
            <a:ext cx="10709910" cy="479869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Figure_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425" y="100330"/>
            <a:ext cx="8626475" cy="647065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igure_1"/>
          <p:cNvPicPr>
            <a:picLocks noChangeAspect="1"/>
          </p:cNvPicPr>
          <p:nvPr/>
        </p:nvPicPr>
        <p:blipFill>
          <a:blip r:embed="rId1"/>
          <a:srcRect l="11187" t="9766" r="17431" b="9291"/>
          <a:stretch>
            <a:fillRect/>
          </a:stretch>
        </p:blipFill>
        <p:spPr>
          <a:xfrm>
            <a:off x="375920" y="182245"/>
            <a:ext cx="9290685" cy="559816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7" name="图片 6" descr="Figure_1"/>
          <p:cNvPicPr>
            <a:picLocks noChangeAspect="1"/>
          </p:cNvPicPr>
          <p:nvPr/>
        </p:nvPicPr>
        <p:blipFill>
          <a:blip r:embed="rId1"/>
          <a:srcRect l="7860" t="10550" r="17020" b="844"/>
          <a:stretch>
            <a:fillRect/>
          </a:stretch>
        </p:blipFill>
        <p:spPr>
          <a:xfrm>
            <a:off x="360045" y="365760"/>
            <a:ext cx="9103360" cy="570547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5" name="表格 4"/>
          <p:cNvGraphicFramePr/>
          <p:nvPr/>
        </p:nvGraphicFramePr>
        <p:xfrm>
          <a:off x="1089660" y="918845"/>
          <a:ext cx="8534400" cy="167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381000">
                <a:tc rowSpan="4"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batch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chemeClr val="tx1"/>
                          </a:solidFill>
                        </a:rPr>
                        <a:t>list 1</a:t>
                      </a:r>
                      <a:endParaRPr lang="en-US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chemeClr val="tx1"/>
                          </a:solidFill>
                          <a:sym typeface="+mn-ea"/>
                        </a:rPr>
                        <a:t>tensor(32,72)</a:t>
                      </a:r>
                      <a:endParaRPr lang="en-US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chemeClr val="tx1"/>
                          </a:solidFill>
                        </a:rPr>
                        <a:t>32样本72字符在词汇总表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索引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seqs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sym typeface="+mn-ea"/>
                        </a:rPr>
                        <a:t>list 2</a:t>
                      </a:r>
                      <a:endParaRPr lang="en-US" altLang="en-US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sym typeface="+mn-ea"/>
                        </a:rPr>
                        <a:t>tensor(32,72)</a:t>
                      </a:r>
                      <a:endParaRPr lang="en-US" altLang="zh-CN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/>
                        <a:t>前后句信息，</a:t>
                      </a:r>
                      <a:r>
                        <a:rPr lang="en-US" altLang="zh-CN" sz="1200" b="0"/>
                        <a:t>0前句，1后句，2空符</a:t>
                      </a:r>
                      <a:endParaRPr lang="en-US" altLang="zh-CN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sym typeface="+mn-ea"/>
                        </a:rPr>
                        <a:t>segs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sym typeface="+mn-ea"/>
                        </a:rPr>
                        <a:t>list 3</a:t>
                      </a:r>
                      <a:endParaRPr lang="en-US" altLang="en-US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tensor(32,2)</a:t>
                      </a:r>
                      <a:endParaRPr lang="en-US" altLang="zh-CN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一行</a:t>
                      </a:r>
                      <a:r>
                        <a:rPr lang="zh-CN" altLang="en-US" sz="1200" b="0"/>
                        <a:t>两句话</a:t>
                      </a:r>
                      <a:r>
                        <a:rPr lang="en-US" altLang="zh-CN" sz="1200" b="0"/>
                        <a:t>各自</a:t>
                      </a:r>
                      <a:r>
                        <a:rPr lang="zh-CN" altLang="en-US" sz="1200" b="0"/>
                        <a:t>长度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sym typeface="+mn-ea"/>
                        </a:rPr>
                        <a:t>xlen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sym typeface="+mn-ea"/>
                        </a:rPr>
                        <a:t>list 4</a:t>
                      </a:r>
                      <a:endParaRPr lang="en-US" altLang="en-US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tensor(32,</a:t>
                      </a:r>
                      <a:r>
                        <a:rPr lang="en-US" altLang="zh-CN" sz="1200"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ym typeface="+mn-ea"/>
                        </a:rPr>
                        <a:t>)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/>
                        <a:t>标签  array([0])  0or1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sym typeface="+mn-ea"/>
                        </a:rPr>
                        <a:t>nsp_labels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creenshot from 2023-04-22 17-14-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4335" y="261620"/>
            <a:ext cx="8260080" cy="596074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creenshot from 2023-05-05 21-20-4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34905" y="5715"/>
            <a:ext cx="1876425" cy="6224905"/>
          </a:xfrm>
          <a:prstGeom prst="rect">
            <a:avLst/>
          </a:prstGeom>
        </p:spPr>
      </p:pic>
      <p:pic>
        <p:nvPicPr>
          <p:cNvPr id="3" name="图片 2" descr="v2-ab5640bcf936a1582f73774c79fb504f_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70" y="206375"/>
            <a:ext cx="4797425" cy="2686685"/>
          </a:xfrm>
          <a:prstGeom prst="rect">
            <a:avLst/>
          </a:prstGeom>
        </p:spPr>
      </p:pic>
      <p:pic>
        <p:nvPicPr>
          <p:cNvPr id="4" name="图片 3" descr="Screenshot from 2023-05-06 15-40-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6015" y="2893060"/>
            <a:ext cx="4311015" cy="367474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720715" y="988695"/>
            <a:ext cx="389001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/>
              <a:t>F（x）和x的shape不一致时</a:t>
            </a:r>
            <a:endParaRPr 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/>
              <a:t>pad或者乘以一个权重</a:t>
            </a:r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Screenshot from 2023-05-06 16-29-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9465" y="367665"/>
            <a:ext cx="1661795" cy="6123305"/>
          </a:xfrm>
          <a:prstGeom prst="rect">
            <a:avLst/>
          </a:prstGeom>
        </p:spPr>
      </p:pic>
      <p:pic>
        <p:nvPicPr>
          <p:cNvPr id="5" name="图片 4" descr="Screenshot from 2023-05-06 15-55-0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810" y="314960"/>
            <a:ext cx="5633720" cy="2130425"/>
          </a:xfrm>
          <a:prstGeom prst="rect">
            <a:avLst/>
          </a:prstGeom>
        </p:spPr>
      </p:pic>
      <p:pic>
        <p:nvPicPr>
          <p:cNvPr id="4" name="图片 3" descr="Screenshot from 2023-05-06 15-45-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8315" y="2689860"/>
            <a:ext cx="4596765" cy="3579495"/>
          </a:xfrm>
          <a:prstGeom prst="rect">
            <a:avLst/>
          </a:prstGeom>
        </p:spPr>
      </p:pic>
      <p:grpSp>
        <p:nvGrpSpPr>
          <p:cNvPr id="9" name="组合 8"/>
          <p:cNvGrpSpPr>
            <a:grpSpLocks noChangeAspect="1"/>
          </p:cNvGrpSpPr>
          <p:nvPr/>
        </p:nvGrpSpPr>
        <p:grpSpPr>
          <a:xfrm>
            <a:off x="2727325" y="3399155"/>
            <a:ext cx="3676015" cy="1579880"/>
            <a:chOff x="4010" y="5299"/>
            <a:chExt cx="6164" cy="2649"/>
          </a:xfrm>
        </p:grpSpPr>
        <p:pic>
          <p:nvPicPr>
            <p:cNvPr id="6" name="图片 5" descr="Screenshot from 2023-05-06 15-57-31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010" y="5299"/>
              <a:ext cx="6164" cy="1205"/>
            </a:xfrm>
            <a:prstGeom prst="rect">
              <a:avLst/>
            </a:prstGeom>
          </p:spPr>
        </p:pic>
        <p:pic>
          <p:nvPicPr>
            <p:cNvPr id="7" name="图片 6" descr="Screenshot from 2023-05-06 16-02-05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010" y="6780"/>
              <a:ext cx="6112" cy="116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 descr="20191129155653468 (1)"/>
          <p:cNvPicPr>
            <a:picLocks noChangeAspect="1"/>
          </p:cNvPicPr>
          <p:nvPr/>
        </p:nvPicPr>
        <p:blipFill>
          <a:blip r:embed="rId1"/>
          <a:srcRect l="15991" r="14886" b="12464"/>
          <a:stretch>
            <a:fillRect/>
          </a:stretch>
        </p:blipFill>
        <p:spPr>
          <a:xfrm>
            <a:off x="247650" y="104775"/>
            <a:ext cx="7355205" cy="32886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736715" y="3517900"/>
            <a:ext cx="542163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数字18 50 101 等分别代表的是卷积层+全连接层的层数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50-layer（</a:t>
            </a:r>
            <a:r>
              <a:rPr lang="zh-CN" altLang="en-US"/>
              <a:t>1+3*3+4*3+6*3+3*3+1）=50层</a:t>
            </a:r>
            <a:endParaRPr lang="zh-CN" altLang="en-US"/>
          </a:p>
        </p:txBody>
      </p:sp>
      <p:pic>
        <p:nvPicPr>
          <p:cNvPr id="11" name="图片 10" descr="v2-0ec10dcf31aded374852e330d9d5f091_r"/>
          <p:cNvPicPr>
            <a:picLocks noChangeAspect="1"/>
          </p:cNvPicPr>
          <p:nvPr/>
        </p:nvPicPr>
        <p:blipFill>
          <a:blip r:embed="rId2"/>
          <a:srcRect l="5556" t="5746" r="4798" b="13659"/>
          <a:stretch>
            <a:fillRect/>
          </a:stretch>
        </p:blipFill>
        <p:spPr>
          <a:xfrm>
            <a:off x="101600" y="3393440"/>
            <a:ext cx="6704330" cy="33909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v2-7fc901b1ff391b78c3d29f65d1df2f27_720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1605" y="153670"/>
            <a:ext cx="5334635" cy="278193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779260" y="3073400"/>
            <a:ext cx="504698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WideResNet（WRN）希望使用一种较浅的，并在每个单层上更宽的（维度）模型来提升模型性能。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对于卷积层来说，宽度是指输出维度（通道）</a:t>
            </a:r>
            <a:endParaRPr lang="zh-CN" altLang="en-US"/>
          </a:p>
        </p:txBody>
      </p:sp>
      <p:pic>
        <p:nvPicPr>
          <p:cNvPr id="2" name="图片 1" descr="pg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740" y="606425"/>
            <a:ext cx="2818765" cy="500951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ddpg"/>
          <p:cNvPicPr>
            <a:picLocks noChangeAspect="1"/>
          </p:cNvPicPr>
          <p:nvPr/>
        </p:nvPicPr>
        <p:blipFill>
          <a:blip r:embed="rId1"/>
          <a:srcRect l="1585" t="1400" r="2101" b="1675"/>
          <a:stretch>
            <a:fillRect/>
          </a:stretch>
        </p:blipFill>
        <p:spPr>
          <a:xfrm>
            <a:off x="359410" y="43180"/>
            <a:ext cx="4894580" cy="6771640"/>
          </a:xfrm>
          <a:prstGeom prst="rect">
            <a:avLst/>
          </a:prstGeom>
        </p:spPr>
      </p:pic>
      <p:pic>
        <p:nvPicPr>
          <p:cNvPr id="3" name="图片 2" descr="maddpg"/>
          <p:cNvPicPr>
            <a:picLocks noChangeAspect="1"/>
          </p:cNvPicPr>
          <p:nvPr/>
        </p:nvPicPr>
        <p:blipFill>
          <a:blip r:embed="rId2"/>
          <a:srcRect l="3569" t="2468" r="3945" b="2114"/>
          <a:stretch>
            <a:fillRect/>
          </a:stretch>
        </p:blipFill>
        <p:spPr>
          <a:xfrm>
            <a:off x="6033135" y="50165"/>
            <a:ext cx="3439160" cy="633476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creenshot from 2023-05-09 17-41-3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0490" y="1253490"/>
            <a:ext cx="8005445" cy="48742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73355" y="208280"/>
            <a:ext cx="3747135" cy="53543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>
                <a:sym typeface="+mn-ea"/>
              </a:rPr>
              <a:t>Weather 收集自2010-2013四年间美国1600个地点的每小时气候数据。包括预测目标湿球温度以及11个气候指标。数据集/验证集/测试集分别为28/10/10个月。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ETT(Electricity Transformer Temperature) 收集自中国两个县的电力变压器温度数据集，有2小时、1小时、15分钟三种粒度，每个数据点包括油温以及6个电力负载指标。数据集/验证集/测试集分别为12/4/4个月。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 Traffic2是加利福尼亚州交通部每小时数据的集合，描述了旧金山湾地区高速公路上不同传感器测量的道路占用率。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5929630" y="537845"/>
            <a:ext cx="2540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MSE（均方误差）</a:t>
            </a:r>
            <a:endParaRPr lang="zh-CN" altLang="en-US"/>
          </a:p>
          <a:p>
            <a:r>
              <a:rPr lang="zh-CN" altLang="en-US"/>
              <a:t>MAE(平均绝对误差)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124075" y="6351905"/>
            <a:ext cx="79438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https://github.com/yuqinie98/PatchTST/issues/7</a:t>
            </a:r>
            <a:endParaRPr lang="zh-CN" alt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0" name="图片 20" descr="Screenshot from 2023-05-09 21-12-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30905" y="1323975"/>
            <a:ext cx="5330190" cy="421005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1433301-20190920223455681-14830932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245" y="3282950"/>
            <a:ext cx="10058400" cy="3289935"/>
          </a:xfrm>
          <a:prstGeom prst="rect">
            <a:avLst/>
          </a:prstGeom>
        </p:spPr>
      </p:pic>
      <p:pic>
        <p:nvPicPr>
          <p:cNvPr id="3" name="图片 2" descr="v2-ce1e7a7949c3ad0ad23e109779b916be_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1600" y="59055"/>
            <a:ext cx="8233410" cy="327152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f40338ded2e34ad19a38e73c0bd69bd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065" y="37465"/>
            <a:ext cx="6962140" cy="384746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93355" y="725170"/>
            <a:ext cx="360172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语谱图(spectrogram)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声谱图的横坐标是时间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纵坐标是频率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坐标点值为语音数据能量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由于是采用二维平面表达三维信息，所以能量值的大小是通过颜色来表示的，颜色深，表示该点的语音能量越强。</a:t>
            </a:r>
            <a:endParaRPr lang="zh-CN" altLang="en-US"/>
          </a:p>
        </p:txBody>
      </p:sp>
      <p:pic>
        <p:nvPicPr>
          <p:cNvPr id="4" name="图片 3" descr="a0b874fc0fcb41aab7568b463c51681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930" y="3884930"/>
            <a:ext cx="4041775" cy="291909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wav2vec"/>
          <p:cNvPicPr>
            <a:picLocks noChangeAspect="1"/>
          </p:cNvPicPr>
          <p:nvPr/>
        </p:nvPicPr>
        <p:blipFill>
          <a:blip r:embed="rId1"/>
          <a:srcRect l="17712" t="17333" r="18549" b="2776"/>
          <a:stretch>
            <a:fillRect/>
          </a:stretch>
        </p:blipFill>
        <p:spPr>
          <a:xfrm>
            <a:off x="1529715" y="1387475"/>
            <a:ext cx="7842250" cy="462216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09855" y="370840"/>
            <a:ext cx="117532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将原始音频x编码为潜在空间z的 encoder network（5层卷积），和将z转换为contextualized representation的 context network（9层卷积），最终特征维度为512x帧数。目标是在特征层面使用当前帧预测未来帧。</a:t>
            </a:r>
            <a:endParaRPr lang="zh-CN" alt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zh-CN"/>
              <a:t>MFCC</a:t>
            </a:r>
            <a:endParaRPr lang="en-US" altLang="zh-CN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680845" y="1388110"/>
            <a:ext cx="8830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github原代码</a:t>
            </a:r>
            <a:endParaRPr lang="en-US" altLang="zh-CN"/>
          </a:p>
          <a:p>
            <a:r>
              <a:rPr lang="en-US" altLang="zh-CN"/>
              <a:t>1e-05	0.3476	1.3293	61.94%	65.89%	60.07%	66.39%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3301365" y="577850"/>
            <a:ext cx="37172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/>
              <a:t>针对数据集1M进行训练&amp;测试</a:t>
            </a:r>
            <a:endParaRPr lang="en-US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1680845" y="2243455"/>
            <a:ext cx="88303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MFCC+BiLSTM</a:t>
            </a:r>
            <a:endParaRPr lang="en-US" altLang="zh-CN"/>
          </a:p>
          <a:p>
            <a:r>
              <a:rPr lang="en-US" altLang="zh-CN"/>
              <a:t>1e-05	1.0440	0.9828	60.50%	60.32%	60.62%	62.47%</a:t>
            </a:r>
            <a:endParaRPr lang="en-US" altLang="zh-CN"/>
          </a:p>
        </p:txBody>
      </p:sp>
      <p:graphicFrame>
        <p:nvGraphicFramePr>
          <p:cNvPr id="5" name="表格 4"/>
          <p:cNvGraphicFramePr/>
          <p:nvPr/>
        </p:nvGraphicFramePr>
        <p:xfrm>
          <a:off x="365125" y="3082290"/>
          <a:ext cx="10840720" cy="3329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5090"/>
                <a:gridCol w="1355090"/>
                <a:gridCol w="1365885"/>
                <a:gridCol w="1344295"/>
                <a:gridCol w="1355090"/>
                <a:gridCol w="1355090"/>
                <a:gridCol w="1355090"/>
                <a:gridCol w="1355090"/>
              </a:tblGrid>
              <a:tr h="368300">
                <a:tc>
                  <a:txBody>
                    <a:bodyPr/>
                    <a:p>
                      <a:pPr>
                        <a:buNone/>
                      </a:pPr>
                      <a:endParaRPr lang="en-US" altLang="zh-CN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训练集loss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测试集loss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测试集最优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sym typeface="+mn-ea"/>
                        </a:rPr>
                        <a:t>训练集最优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683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sym typeface="+mn-ea"/>
                        </a:rPr>
                        <a:t>github原代码</a:t>
                      </a:r>
                      <a:endParaRPr lang="en-US" altLang="zh-CN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1e-05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0.3476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1.3293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61.94%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65.89%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60.07%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66.39%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683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rgbClr val="FF0000"/>
                          </a:solidFill>
                          <a:sym typeface="+mn-ea"/>
                        </a:rPr>
                        <a:t>MFCC+BiLSTM</a:t>
                      </a:r>
                      <a:endParaRPr lang="en-US" altLang="en-US" sz="1200" b="0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1e-05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1.0440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0.9828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60.50%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60.32%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60.62%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62.47%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514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MFCC+DLinear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1e-05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1.0739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1.0352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55.83%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56.91%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57.79%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58.28%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432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>
                          <a:solidFill>
                            <a:schemeClr val="tx1"/>
                          </a:solidFill>
                          <a:sym typeface="+mn-ea"/>
                        </a:rPr>
                        <a:t>MFCC+</a:t>
                      </a:r>
                      <a:r>
                        <a:rPr lang="en-US" altLang="en-US" sz="1200">
                          <a:solidFill>
                            <a:schemeClr val="tx1"/>
                          </a:solidFill>
                          <a:sym typeface="+mn-ea"/>
                        </a:rPr>
                        <a:t>TiDE</a:t>
                      </a:r>
                      <a:endParaRPr lang="en-US" altLang="en-US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sym typeface="+mn-ea"/>
                        </a:rPr>
                        <a:t>1e-05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1.1036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1.1508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45.27%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46.21%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49.40%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49.74%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432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rgbClr val="FF0000"/>
                          </a:solidFill>
                          <a:sym typeface="+mn-ea"/>
                        </a:rPr>
                        <a:t>Spec+Alexnet</a:t>
                      </a:r>
                      <a:endParaRPr lang="en-US" altLang="en-US" sz="1200" b="0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1e-05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0.5312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1.0506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63.55%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64.81%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62.15%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66.82%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432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sym typeface="+mn-ea"/>
                        </a:rPr>
                        <a:t>Spec+BiLstm</a:t>
                      </a:r>
                      <a:endParaRPr lang="en-US" altLang="en-US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1e-05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0.2206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1.6786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55.48%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61.40%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56.50%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62.50%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4323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chemeClr val="tx1"/>
                          </a:solidFill>
                          <a:sym typeface="+mn-ea"/>
                        </a:rPr>
                        <a:t>wav2vec</a:t>
                      </a:r>
                      <a:endParaRPr lang="en-US" altLang="en-US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1e-05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0.2117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1.7233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70.74%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71.99%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73.74%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74.20%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Screenshot from 2023-05-17 16-40-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710" y="1113155"/>
            <a:ext cx="8266430" cy="923925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575310" y="3179445"/>
            <a:ext cx="8770620" cy="1798955"/>
            <a:chOff x="1529" y="4023"/>
            <a:chExt cx="13812" cy="2833"/>
          </a:xfrm>
        </p:grpSpPr>
        <p:pic>
          <p:nvPicPr>
            <p:cNvPr id="6" name="图片 5" descr="Screenshot from 2023-05-18 11-02-2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29" y="4023"/>
              <a:ext cx="13813" cy="2130"/>
            </a:xfrm>
            <a:prstGeom prst="rect">
              <a:avLst/>
            </a:prstGeom>
          </p:spPr>
        </p:pic>
        <p:sp>
          <p:nvSpPr>
            <p:cNvPr id="7" name="文本框 6"/>
            <p:cNvSpPr txBox="1"/>
            <p:nvPr/>
          </p:nvSpPr>
          <p:spPr>
            <a:xfrm>
              <a:off x="1558" y="6276"/>
              <a:ext cx="11395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/>
                <a:t>/home/windsky/Data/point_cloud/CA-github4_spec3_bilstm2</a:t>
              </a:r>
              <a:endParaRPr lang="zh-CN" altLang="en-US"/>
            </a:p>
          </p:txBody>
        </p:sp>
      </p:grp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pg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790" y="1466215"/>
            <a:ext cx="10749280" cy="2469515"/>
          </a:xfrm>
          <a:prstGeom prst="rect">
            <a:avLst/>
          </a:prstGeom>
        </p:spPr>
      </p:pic>
      <p:pic>
        <p:nvPicPr>
          <p:cNvPr id="2" name="图片 1" descr="dd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330" y="3935730"/>
            <a:ext cx="7904480" cy="2257425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mfcc&amp;spec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XXCN202304001_0640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530" y="36830"/>
            <a:ext cx="5986145" cy="6784975"/>
          </a:xfrm>
          <a:prstGeom prst="rect">
            <a:avLst/>
          </a:prstGeom>
        </p:spPr>
      </p:pic>
      <p:pic>
        <p:nvPicPr>
          <p:cNvPr id="62" name="图片 62" descr="Screenshot from 2023-03-31 15-58-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100" y="220980"/>
            <a:ext cx="5927725" cy="372427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g0 (2)"/>
          <p:cNvPicPr>
            <a:picLocks noChangeAspect="1"/>
          </p:cNvPicPr>
          <p:nvPr/>
        </p:nvPicPr>
        <p:blipFill>
          <a:blip r:embed="rId1"/>
          <a:srcRect l="3368" t="2566" r="4228" b="2757"/>
          <a:stretch>
            <a:fillRect/>
          </a:stretch>
        </p:blipFill>
        <p:spPr>
          <a:xfrm>
            <a:off x="219075" y="140970"/>
            <a:ext cx="4184650" cy="657542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g0 (3)"/>
          <p:cNvPicPr>
            <a:picLocks noChangeAspect="1"/>
          </p:cNvPicPr>
          <p:nvPr/>
        </p:nvPicPr>
        <p:blipFill>
          <a:blip r:embed="rId1"/>
          <a:srcRect l="2061" t="3012" r="1964" b="3012"/>
          <a:stretch>
            <a:fillRect/>
          </a:stretch>
        </p:blipFill>
        <p:spPr>
          <a:xfrm>
            <a:off x="196850" y="64135"/>
            <a:ext cx="10370185" cy="673036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Contrastive Predictive Coding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 (对比预测编码) 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" name="图片 2" descr="Screenshot from 2023-05-23 17-42-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0" y="1101725"/>
            <a:ext cx="6603365" cy="297815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131060" y="255270"/>
            <a:ext cx="415417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target (future) </a:t>
            </a:r>
            <a:r>
              <a:rPr lang="en-US" altLang="zh-CN"/>
              <a:t>x：预测目标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context (present) </a:t>
            </a:r>
            <a:r>
              <a:rPr lang="en-US" altLang="zh-CN"/>
              <a:t>c ：已知上下文</a:t>
            </a:r>
            <a:endParaRPr lang="en-US" altLang="zh-CN"/>
          </a:p>
        </p:txBody>
      </p:sp>
      <p:grpSp>
        <p:nvGrpSpPr>
          <p:cNvPr id="7" name="组合 6"/>
          <p:cNvGrpSpPr/>
          <p:nvPr/>
        </p:nvGrpSpPr>
        <p:grpSpPr>
          <a:xfrm>
            <a:off x="196215" y="4223385"/>
            <a:ext cx="4232910" cy="1428115"/>
            <a:chOff x="273" y="7020"/>
            <a:chExt cx="6666" cy="2249"/>
          </a:xfrm>
        </p:grpSpPr>
        <p:pic>
          <p:nvPicPr>
            <p:cNvPr id="5" name="图片 4" descr="Screenshot from 2023-05-23 17-44-38"/>
            <p:cNvPicPr>
              <a:picLocks noChangeAspect="1"/>
            </p:cNvPicPr>
            <p:nvPr/>
          </p:nvPicPr>
          <p:blipFill>
            <a:blip r:embed="rId2"/>
            <a:srcRect l="2449" t="8865" b="9149"/>
            <a:stretch>
              <a:fillRect/>
            </a:stretch>
          </p:blipFill>
          <p:spPr>
            <a:xfrm>
              <a:off x="273" y="7759"/>
              <a:ext cx="6667" cy="1511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273" y="7020"/>
              <a:ext cx="651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/>
                <a:t>网络的目标是最大化</a:t>
              </a:r>
              <a:r>
                <a:rPr lang="en-US" altLang="zh-CN"/>
                <a:t>x</a:t>
              </a:r>
              <a:r>
                <a:rPr lang="zh-CN" altLang="en-US"/>
                <a:t>和</a:t>
              </a:r>
              <a:r>
                <a:rPr lang="en-US" altLang="zh-CN"/>
                <a:t>c</a:t>
              </a:r>
              <a:r>
                <a:rPr lang="zh-CN" altLang="en-US"/>
                <a:t>之间的互信息</a:t>
              </a:r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254635" y="5751830"/>
            <a:ext cx="4627880" cy="925830"/>
            <a:chOff x="2892" y="9019"/>
            <a:chExt cx="7288" cy="1458"/>
          </a:xfrm>
        </p:grpSpPr>
        <p:pic>
          <p:nvPicPr>
            <p:cNvPr id="8" name="图片 7" descr="Screenshot from 2023-05-23 18-15-3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2" y="9019"/>
              <a:ext cx="5918" cy="1459"/>
            </a:xfrm>
            <a:prstGeom prst="rect">
              <a:avLst/>
            </a:prstGeom>
          </p:spPr>
        </p:pic>
        <p:sp>
          <p:nvSpPr>
            <p:cNvPr id="9" name="文本框 8"/>
            <p:cNvSpPr txBox="1"/>
            <p:nvPr/>
          </p:nvSpPr>
          <p:spPr>
            <a:xfrm>
              <a:off x="2892" y="9378"/>
              <a:ext cx="1370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/>
                <a:t>信息熵</a:t>
              </a:r>
              <a:endParaRPr lang="en-US" altLang="zh-CN"/>
            </a:p>
          </p:txBody>
        </p:sp>
      </p:grpSp>
      <p:pic>
        <p:nvPicPr>
          <p:cNvPr id="11" name="图片 10" descr="Screenshot from 2023-05-23 18-44-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105" y="196850"/>
            <a:ext cx="5572760" cy="2547620"/>
          </a:xfrm>
          <a:prstGeom prst="rect">
            <a:avLst/>
          </a:prstGeom>
        </p:spPr>
      </p:pic>
      <p:sp>
        <p:nvSpPr>
          <p:cNvPr id="14" name="圆角矩形标注 13"/>
          <p:cNvSpPr/>
          <p:nvPr/>
        </p:nvSpPr>
        <p:spPr>
          <a:xfrm>
            <a:off x="4556125" y="4692650"/>
            <a:ext cx="2406015" cy="542290"/>
          </a:xfrm>
          <a:prstGeom prst="wedgeRoundRectCallout">
            <a:avLst>
              <a:gd name="adj1" fmla="val -54222"/>
              <a:gd name="adj2" fmla="val 72014"/>
              <a:gd name="adj3" fmla="val 16667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</a:rPr>
              <a:t>给定c，找到最契合的x，而不是随机采样</a:t>
            </a:r>
            <a:endParaRPr lang="en-US" altLang="en-US" sz="1400">
              <a:solidFill>
                <a:schemeClr val="tx1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486650" y="3361690"/>
            <a:ext cx="400431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样本：</a:t>
            </a:r>
            <a:r>
              <a:rPr lang="zh-CN" altLang="en-US"/>
              <a:t>X ={x1, ...</a:t>
            </a:r>
            <a:r>
              <a:rPr lang="en-US" altLang="zh-CN"/>
              <a:t>，</a:t>
            </a:r>
            <a:r>
              <a:rPr lang="zh-CN" altLang="en-US"/>
              <a:t>xN}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x</a:t>
            </a:r>
            <a:r>
              <a:rPr lang="zh-CN" altLang="en-US" baseline="-25000"/>
              <a:t>t+k</a:t>
            </a:r>
            <a:r>
              <a:rPr lang="zh-CN" altLang="en-US"/>
              <a:t>为正样本 (positive sample)，其</a:t>
            </a:r>
            <a:r>
              <a:rPr lang="en-US" altLang="zh-CN"/>
              <a:t>余</a:t>
            </a:r>
            <a:r>
              <a:rPr lang="zh-CN" altLang="en-US"/>
              <a:t>N-1个是负样本。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>
                <a:sym typeface="+mn-ea"/>
              </a:rPr>
              <a:t>在用ct预测xt+k，</a:t>
            </a:r>
            <a:r>
              <a:rPr lang="en-US" altLang="en-US">
                <a:sym typeface="+mn-ea"/>
              </a:rPr>
              <a:t>尽可能</a:t>
            </a:r>
            <a:r>
              <a:rPr lang="en-US" altLang="zh-CN">
                <a:sym typeface="+mn-ea"/>
              </a:rPr>
              <a:t>预测到正样本</a:t>
            </a:r>
            <a:endParaRPr lang="zh-CN" altLang="en-US"/>
          </a:p>
        </p:txBody>
      </p:sp>
      <p:pic>
        <p:nvPicPr>
          <p:cNvPr id="12" name="图片 11" descr="Screenshot from 2023-05-24 15-59-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900" y="4894580"/>
            <a:ext cx="3314065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wav2vec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6305" y="690245"/>
            <a:ext cx="10058400" cy="532447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wav2vec2_model"/>
          <p:cNvPicPr>
            <a:picLocks noChangeAspect="1"/>
          </p:cNvPicPr>
          <p:nvPr/>
        </p:nvPicPr>
        <p:blipFill>
          <a:blip r:embed="rId1"/>
          <a:srcRect l="1239" t="3883" r="509" b="3388"/>
          <a:stretch>
            <a:fillRect/>
          </a:stretch>
        </p:blipFill>
        <p:spPr>
          <a:xfrm>
            <a:off x="4445" y="80645"/>
            <a:ext cx="12272010" cy="673036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准确/召回 率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评价指标 roc auc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121920" y="1436370"/>
          <a:ext cx="4568190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11530"/>
                <a:gridCol w="1654810"/>
                <a:gridCol w="210185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真阳性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true positive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正确地检测到阳性结果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假阳性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false positive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错误地检测到阳性结果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真阴性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true negative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正确地检测到阴性结果</a:t>
                      </a:r>
                      <a:endParaRPr lang="zh-CN" altLang="en-US" sz="140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假阴性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false negative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错误地检测到阴性结果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/>
        </p:nvGraphicFramePr>
        <p:xfrm>
          <a:off x="201930" y="3476625"/>
          <a:ext cx="3458845" cy="22047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5235"/>
                <a:gridCol w="2213610"/>
              </a:tblGrid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准确率</a:t>
                      </a:r>
                      <a:endParaRPr lang="zh-CN" altLang="en-US" sz="1400"/>
                    </a:p>
                    <a:p>
                      <a:pPr algn="ctr">
                        <a:buNone/>
                      </a:pPr>
                      <a:r>
                        <a:rPr lang="zh-CN" altLang="en-US" sz="1400"/>
                        <a:t>（Accuracy）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全部预测中，正确预测结果占比</a:t>
                      </a:r>
                      <a:endParaRPr lang="zh-CN" altLang="en-US" sz="1400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</a:tr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精度</a:t>
                      </a:r>
                      <a:endParaRPr lang="zh-CN" altLang="en-US" sz="1400"/>
                    </a:p>
                    <a:p>
                      <a:pPr algn="ctr">
                        <a:buNone/>
                      </a:pPr>
                      <a:r>
                        <a:rPr lang="zh-CN" altLang="en-US" sz="1400"/>
                        <a:t>（Precision）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全部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阳性</a:t>
                      </a:r>
                      <a:r>
                        <a:rPr lang="zh-CN" altLang="en-US" sz="1400">
                          <a:solidFill>
                            <a:srgbClr val="0070C0"/>
                          </a:solidFill>
                          <a:sym typeface="+mn-ea"/>
                        </a:rPr>
                        <a:t>预测</a:t>
                      </a:r>
                      <a:r>
                        <a:rPr lang="zh-CN" altLang="en-US" sz="1400">
                          <a:sym typeface="+mn-ea"/>
                        </a:rPr>
                        <a:t>中，正确预测结果占比</a:t>
                      </a:r>
                      <a:endParaRPr lang="zh-CN" altLang="en-US" sz="1400"/>
                    </a:p>
                  </a:txBody>
                  <a:tcPr/>
                </a:tc>
              </a:tr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召回率</a:t>
                      </a:r>
                      <a:endParaRPr lang="zh-CN" altLang="en-US" sz="1400"/>
                    </a:p>
                    <a:p>
                      <a:pPr algn="ctr">
                        <a:buNone/>
                      </a:pPr>
                      <a:r>
                        <a:rPr lang="zh-CN" altLang="en-US" sz="1400"/>
                        <a:t>（Recall）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全部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阳性</a:t>
                      </a:r>
                      <a:r>
                        <a:rPr lang="zh-CN" altLang="en-US" sz="1400">
                          <a:solidFill>
                            <a:srgbClr val="0070C0"/>
                          </a:solidFill>
                        </a:rPr>
                        <a:t>事件</a:t>
                      </a:r>
                      <a:r>
                        <a:rPr lang="zh-CN" altLang="en-US" sz="1400"/>
                        <a:t>中，正确预测结果占的比例</a:t>
                      </a:r>
                      <a:endParaRPr lang="zh-CN" altLang="en-US" sz="1400"/>
                    </a:p>
                  </a:txBody>
                  <a:tcPr/>
                </a:tc>
              </a:tr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误报率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全部</a:t>
                      </a:r>
                      <a:r>
                        <a:rPr lang="zh-CN" altLang="en-US" sz="1400">
                          <a:solidFill>
                            <a:srgbClr val="FF0000"/>
                          </a:solidFill>
                        </a:rPr>
                        <a:t>阳性</a:t>
                      </a:r>
                      <a:r>
                        <a:rPr lang="zh-CN" altLang="en-US" sz="1400">
                          <a:solidFill>
                            <a:srgbClr val="0070C0"/>
                          </a:solidFill>
                        </a:rPr>
                        <a:t>预测</a:t>
                      </a:r>
                      <a:r>
                        <a:rPr lang="zh-CN" altLang="en-US" sz="1400"/>
                        <a:t>中，</a:t>
                      </a:r>
                      <a:r>
                        <a:rPr lang="en-US" altLang="zh-CN" sz="1400"/>
                        <a:t>错误</a:t>
                      </a:r>
                      <a:r>
                        <a:rPr lang="zh-CN" altLang="en-US" sz="1400"/>
                        <a:t>预测结果占比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  <p:grpSp>
        <p:nvGrpSpPr>
          <p:cNvPr id="16" name="组合 15"/>
          <p:cNvGrpSpPr/>
          <p:nvPr/>
        </p:nvGrpSpPr>
        <p:grpSpPr>
          <a:xfrm>
            <a:off x="3952875" y="3438525"/>
            <a:ext cx="2362200" cy="1645920"/>
            <a:chOff x="6225" y="5475"/>
            <a:chExt cx="3720" cy="2592"/>
          </a:xfrm>
        </p:grpSpPr>
        <p:pic>
          <p:nvPicPr>
            <p:cNvPr id="7" name="图片 6" descr="Screenshot from 2023-05-29 15-07-03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324" y="6417"/>
              <a:ext cx="1965" cy="720"/>
            </a:xfrm>
            <a:prstGeom prst="rect">
              <a:avLst/>
            </a:prstGeom>
          </p:spPr>
        </p:pic>
        <p:pic>
          <p:nvPicPr>
            <p:cNvPr id="14" name="图片 13" descr="Screenshot from 2023-05-29 15-06-0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25" y="5475"/>
              <a:ext cx="3720" cy="735"/>
            </a:xfrm>
            <a:prstGeom prst="rect">
              <a:avLst/>
            </a:prstGeom>
          </p:spPr>
        </p:pic>
        <p:pic>
          <p:nvPicPr>
            <p:cNvPr id="15" name="图片 14" descr="Screenshot from 2023-05-29 15-19-4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25" y="7257"/>
              <a:ext cx="2985" cy="810"/>
            </a:xfrm>
            <a:prstGeom prst="rect">
              <a:avLst/>
            </a:prstGeom>
          </p:spPr>
        </p:pic>
      </p:grpSp>
      <p:pic>
        <p:nvPicPr>
          <p:cNvPr id="17" name="图片 16" descr="Screenshot from 2023-05-29 15-29-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75" y="5157470"/>
            <a:ext cx="1981200" cy="523875"/>
          </a:xfrm>
          <a:prstGeom prst="rect">
            <a:avLst/>
          </a:prstGeom>
        </p:spPr>
      </p:pic>
      <p:sp>
        <p:nvSpPr>
          <p:cNvPr id="18" name="下箭头 17"/>
          <p:cNvSpPr/>
          <p:nvPr/>
        </p:nvSpPr>
        <p:spPr>
          <a:xfrm rot="16200000">
            <a:off x="6475730" y="3790950"/>
            <a:ext cx="323215" cy="947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 rot="16200000">
            <a:off x="6475730" y="4352925"/>
            <a:ext cx="323215" cy="94742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7472045" y="3905250"/>
            <a:ext cx="1564640" cy="5207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 algn="ctr">
              <a:buFont typeface="Arial" panose="02080604020202020204" pitchFamily="34" charset="0"/>
              <a:buChar char="•"/>
            </a:pPr>
            <a:r>
              <a:rPr lang="en-US" altLang="en-US" sz="1400">
                <a:solidFill>
                  <a:schemeClr val="tx1"/>
                </a:solidFill>
                <a:sym typeface="+mn-ea"/>
              </a:rPr>
              <a:t>FP越小越好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472045" y="4636770"/>
            <a:ext cx="1564640" cy="52070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marL="285750" indent="-285750" algn="ctr">
              <a:buFont typeface="Arial" panose="02080604020202020204" pitchFamily="34" charset="0"/>
              <a:buChar char="•"/>
            </a:pPr>
            <a:r>
              <a:rPr lang="en-US" altLang="en-US" sz="1400">
                <a:solidFill>
                  <a:schemeClr val="tx1"/>
                </a:solidFill>
                <a:sym typeface="+mn-ea"/>
              </a:rPr>
              <a:t>FN越小越好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爆炸形 1 21"/>
          <p:cNvSpPr/>
          <p:nvPr/>
        </p:nvSpPr>
        <p:spPr>
          <a:xfrm>
            <a:off x="9170670" y="3905250"/>
            <a:ext cx="2102485" cy="1727200"/>
          </a:xfrm>
          <a:prstGeom prst="irregularSeal1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>
                <a:solidFill>
                  <a:schemeClr val="tx1"/>
                </a:solidFill>
              </a:rPr>
              <a:t> 存疑结果预测为</a:t>
            </a:r>
            <a:endParaRPr lang="en-US" altLang="zh-CN" sz="1600">
              <a:solidFill>
                <a:schemeClr val="tx1"/>
              </a:solidFill>
            </a:endParaRPr>
          </a:p>
          <a:p>
            <a:pPr algn="ctr"/>
            <a:r>
              <a:rPr lang="en-US" altLang="zh-CN" sz="1600">
                <a:solidFill>
                  <a:schemeClr val="tx1"/>
                </a:solidFill>
              </a:rPr>
              <a:t>阴or阳</a:t>
            </a:r>
            <a:endParaRPr lang="en-US" altLang="zh-CN" sz="1600">
              <a:solidFill>
                <a:schemeClr val="tx1"/>
              </a:solidFill>
            </a:endParaRPr>
          </a:p>
        </p:txBody>
      </p:sp>
      <p:pic>
        <p:nvPicPr>
          <p:cNvPr id="28" name="图片 27" descr="1809afd4f2f14be8a607160d1c74cff3 (1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0010" y="327660"/>
            <a:ext cx="3743960" cy="2882265"/>
          </a:xfrm>
          <a:prstGeom prst="rect">
            <a:avLst/>
          </a:prstGeom>
        </p:spPr>
      </p:pic>
      <p:pic>
        <p:nvPicPr>
          <p:cNvPr id="29" name="图片 28" descr="Screenshot from 2023-05-29 16-07-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36685" y="1663700"/>
            <a:ext cx="1666875" cy="67627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受试者工作特征曲线 （ROC曲线）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51130" y="1247140"/>
            <a:ext cx="548449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AUC (Area under Curve)：ROC 曲线下的面积，介于 0.1 和 1 之间，作为数值可以直观的评价分类器的好坏，值越大越好。</a:t>
            </a:r>
            <a:endParaRPr lang="zh-CN" altLang="en-US"/>
          </a:p>
        </p:txBody>
      </p:sp>
      <p:pic>
        <p:nvPicPr>
          <p:cNvPr id="29" name="图片 28" descr="Screenshot from 2023-05-29 16-07-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085" y="147955"/>
            <a:ext cx="1666875" cy="676275"/>
          </a:xfrm>
          <a:prstGeom prst="rect">
            <a:avLst/>
          </a:prstGeom>
        </p:spPr>
      </p:pic>
      <p:pic>
        <p:nvPicPr>
          <p:cNvPr id="5" name="图片 4" descr="v2-b268edb1ea995c73d5aba8720883d805_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30" y="2341245"/>
            <a:ext cx="5409565" cy="2675890"/>
          </a:xfrm>
          <a:prstGeom prst="rect">
            <a:avLst/>
          </a:prstGeom>
        </p:spPr>
      </p:pic>
      <p:graphicFrame>
        <p:nvGraphicFramePr>
          <p:cNvPr id="12" name="表格 11"/>
          <p:cNvGraphicFramePr/>
          <p:nvPr/>
        </p:nvGraphicFramePr>
        <p:xfrm>
          <a:off x="6437630" y="1372235"/>
          <a:ext cx="3458845" cy="27559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45235"/>
                <a:gridCol w="2213610"/>
              </a:tblGrid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AUC = 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完美分类器，采用这个预测模型时，存在至少一个阈值能得出完美预测。。绝大多数预测的场合，不存在完美分类器。</a:t>
                      </a:r>
                      <a:endParaRPr lang="zh-CN" altLang="en-US" sz="1400"/>
                    </a:p>
                  </a:txBody>
                  <a:tcPr>
                    <a:lnR w="12700">
                      <a:solidFill>
                        <a:schemeClr val="tx1"/>
                      </a:solidFill>
                      <a:prstDash val="solid"/>
                    </a:lnR>
                  </a:tcPr>
                </a:tc>
              </a:tr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/>
                        <a:t>0.5 &lt; AUC &lt; 1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优于随机猜测。这个分类器（模型）妥善设定阈值的话，能有预测价值。</a:t>
                      </a:r>
                      <a:endParaRPr lang="zh-CN" altLang="en-US" sz="1400"/>
                    </a:p>
                  </a:txBody>
                  <a:tcPr/>
                </a:tc>
              </a:tr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AUC = 0.5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跟随机猜测一样（例：丢铜板），模型没有预测价值。</a:t>
                      </a:r>
                      <a:endParaRPr lang="zh-CN" altLang="en-US" sz="1400"/>
                    </a:p>
                  </a:txBody>
                  <a:tcPr/>
                </a:tc>
              </a:tr>
              <a:tr h="5511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400">
                          <a:solidFill>
                            <a:srgbClr val="FF0000"/>
                          </a:solidFill>
                          <a:sym typeface="+mn-ea"/>
                        </a:rPr>
                        <a:t>AUC &lt; 0.5</a:t>
                      </a:r>
                      <a:endParaRPr lang="zh-CN" altLang="en-US" sz="1400">
                        <a:solidFill>
                          <a:srgbClr val="FF0000"/>
                        </a:solidFill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>
                          <a:sym typeface="+mn-ea"/>
                        </a:rPr>
                        <a:t>比随机猜测还差；但只要总是反预测而行，就优于随机猜测。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creenshot from 2023-05-27 18-00-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" y="1497965"/>
            <a:ext cx="1319530" cy="115062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1553845" y="1497965"/>
            <a:ext cx="699135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sample_width</a:t>
            </a:r>
            <a:r>
              <a:rPr lang="en-US" altLang="zh-CN"/>
              <a:t>(eg:8,16,24,32):每个样本的位数(分辨率)</a:t>
            </a:r>
            <a:endParaRPr lang="en-US" altLang="zh-CN"/>
          </a:p>
          <a:p>
            <a:r>
              <a:rPr lang="zh-CN" altLang="en-US"/>
              <a:t>sample_rate</a:t>
            </a:r>
            <a:r>
              <a:rPr lang="en-US" altLang="zh-CN"/>
              <a:t>（采样率）:音频中每秒钟采样的样本数。</a:t>
            </a:r>
            <a:endParaRPr lang="en-US" altLang="zh-CN"/>
          </a:p>
          <a:p>
            <a:r>
              <a:rPr lang="zh-CN" altLang="en-US"/>
              <a:t>num_frames（帧数）</a:t>
            </a:r>
            <a:r>
              <a:rPr lang="en-US" altLang="zh-CN"/>
              <a:t>:</a:t>
            </a:r>
            <a:r>
              <a:rPr lang="zh-CN" altLang="en-US"/>
              <a:t>音频信号中的采样帧的总数。</a:t>
            </a:r>
            <a:endParaRPr lang="zh-CN" altLang="en-US"/>
          </a:p>
          <a:p>
            <a:r>
              <a:rPr lang="zh-CN" altLang="en-US"/>
              <a:t>num_channels（声道数）</a:t>
            </a:r>
            <a:r>
              <a:rPr lang="en-US" altLang="zh-CN"/>
              <a:t>:</a:t>
            </a:r>
            <a:r>
              <a:rPr lang="zh-CN" altLang="en-US"/>
              <a:t>音频信号中的独立声道数量</a:t>
            </a:r>
            <a:endParaRPr lang="zh-CN" altLang="en-US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/>
        </p:nvGraphicFramePr>
        <p:xfrm>
          <a:off x="121920" y="1428750"/>
          <a:ext cx="5771515" cy="22936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2475"/>
                <a:gridCol w="1534160"/>
                <a:gridCol w="1536065"/>
                <a:gridCol w="1948815"/>
              </a:tblGrid>
              <a:tr h="73406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model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算法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/>
                        <a:t>DLinear</a:t>
                      </a:r>
                      <a:endParaRPr lang="en-US" altLang="zh-CN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[Autoformer, Informer, Transformer]</a:t>
                      </a:r>
                      <a:endParaRPr lang="zh-CN" altLang="en-US" sz="1400"/>
                    </a:p>
                  </a:txBody>
                  <a:tcPr/>
                </a:tc>
              </a:tr>
              <a:tr h="5200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假阳性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false positive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错误地检测到阳性结果</a:t>
                      </a:r>
                      <a:endParaRPr lang="zh-CN" altLang="en-US" sz="1400"/>
                    </a:p>
                  </a:txBody>
                  <a:tcPr/>
                </a:tc>
              </a:tr>
              <a:tr h="51943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真阴性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true negative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正确地检测到阴性结果</a:t>
                      </a:r>
                      <a:endParaRPr lang="zh-CN" altLang="en-US" sz="1400"/>
                    </a:p>
                  </a:txBody>
                  <a:tcPr/>
                </a:tc>
              </a:tr>
              <a:tr h="520065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假阴性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false negative</a:t>
                      </a: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400"/>
                        <a:t>错误地检测到阴性结果</a:t>
                      </a:r>
                      <a:endParaRPr lang="zh-CN" altLang="en-US" sz="140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2023.6.3</a:t>
            </a:r>
            <a:endParaRPr lang="en-US" altLang="en-US"/>
          </a:p>
        </p:txBody>
      </p:sp>
      <p:pic>
        <p:nvPicPr>
          <p:cNvPr id="3" name="图片 2" descr="Screenshot from 2023-06-03 22-49-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0" y="3657600"/>
            <a:ext cx="10058400" cy="250444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D_linear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 descr="Screenshot from 2023-06-03 22-47-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31060" y="130175"/>
            <a:ext cx="3947795" cy="2682875"/>
          </a:xfrm>
          <a:prstGeom prst="rect">
            <a:avLst/>
          </a:prstGeom>
        </p:spPr>
      </p:pic>
      <p:pic>
        <p:nvPicPr>
          <p:cNvPr id="8" name="图片 7" descr="Screenshot from 2023-06-03 23-51-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90" y="3037205"/>
            <a:ext cx="9438005" cy="3628390"/>
          </a:xfrm>
          <a:prstGeom prst="rect">
            <a:avLst/>
          </a:prstGeom>
        </p:spPr>
      </p:pic>
      <p:pic>
        <p:nvPicPr>
          <p:cNvPr id="9" name="图片 8" descr="Screenshot from 2023-06-03 23-51-5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525" y="1795780"/>
            <a:ext cx="2771140" cy="819150"/>
          </a:xfrm>
          <a:prstGeom prst="rect">
            <a:avLst/>
          </a:prstGeom>
        </p:spPr>
      </p:pic>
      <p:pic>
        <p:nvPicPr>
          <p:cNvPr id="10" name="图片 9" descr="Screenshot from 2023-06-03 23-52-1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495" y="2983230"/>
            <a:ext cx="1219200" cy="40957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7420610" y="372745"/>
            <a:ext cx="34429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历史时间序列数据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趋势(Trend)数据 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剩余(Remainder)数据 </a:t>
            </a:r>
            <a:endParaRPr lang="zh-CN" alt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5" name="组合 4"/>
          <p:cNvGrpSpPr/>
          <p:nvPr/>
        </p:nvGrpSpPr>
        <p:grpSpPr>
          <a:xfrm>
            <a:off x="848360" y="3340735"/>
            <a:ext cx="9314180" cy="3413760"/>
            <a:chOff x="809" y="5012"/>
            <a:chExt cx="15840" cy="5784"/>
          </a:xfrm>
        </p:grpSpPr>
        <p:pic>
          <p:nvPicPr>
            <p:cNvPr id="4" name="图片 3" descr="pg0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809" y="5012"/>
              <a:ext cx="15840" cy="5785"/>
            </a:xfrm>
            <a:prstGeom prst="rect">
              <a:avLst/>
            </a:prstGeom>
          </p:spPr>
        </p:pic>
        <p:sp>
          <p:nvSpPr>
            <p:cNvPr id="6" name="矩形标注 5"/>
            <p:cNvSpPr/>
            <p:nvPr/>
          </p:nvSpPr>
          <p:spPr>
            <a:xfrm>
              <a:off x="10007" y="7311"/>
              <a:ext cx="2149" cy="1187"/>
            </a:xfrm>
            <a:prstGeom prst="wedgeRectCallout">
              <a:avLst>
                <a:gd name="adj1" fmla="val 31805"/>
                <a:gd name="adj2" fmla="val 800"/>
              </a:avLst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400">
                  <a:solidFill>
                    <a:schemeClr val="tx1"/>
                  </a:solidFill>
                </a:rPr>
                <a:t>过去336时间步某单变量映射到未来96</a:t>
              </a:r>
              <a:endParaRPr lang="en-US" altLang="zh-CN" sz="1400">
                <a:solidFill>
                  <a:schemeClr val="tx1"/>
                </a:solidFill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199390" y="138430"/>
            <a:ext cx="344297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历史时间序列数据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趋势(Trend)数据 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剩余(Remainder)数据 </a:t>
            </a:r>
            <a:endParaRPr lang="zh-CN" altLang="en-US"/>
          </a:p>
        </p:txBody>
      </p:sp>
      <p:pic>
        <p:nvPicPr>
          <p:cNvPr id="2" name="图片 1" descr="pg0 (1)"/>
          <p:cNvPicPr>
            <a:picLocks noChangeAspect="1"/>
          </p:cNvPicPr>
          <p:nvPr/>
        </p:nvPicPr>
        <p:blipFill>
          <a:blip r:embed="rId2"/>
          <a:srcRect b="63896"/>
          <a:stretch>
            <a:fillRect/>
          </a:stretch>
        </p:blipFill>
        <p:spPr>
          <a:xfrm>
            <a:off x="1903730" y="389255"/>
            <a:ext cx="9130665" cy="320230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creenshot from 2023-06-04 10-30-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1075" y="1247775"/>
            <a:ext cx="4542790" cy="299021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2023.6.6</a:t>
            </a:r>
            <a:endParaRPr lang="en-US" altLang="en-US"/>
          </a:p>
        </p:txBody>
      </p:sp>
      <p:pic>
        <p:nvPicPr>
          <p:cNvPr id="3" name="图片 2" descr="Screenshot from 2023-06-03 22-49-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5700" y="3657600"/>
            <a:ext cx="10058400" cy="250444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g0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900" y="2238375"/>
            <a:ext cx="9704705" cy="25336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41325" y="953135"/>
            <a:ext cx="109150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NLinear将当前输入减去上一时刻的值，然后经过一个线性层，然后在做最终的预测前将减去的部分加回来。对数据的加减是对输入序列的一种简单标准化(normalizaiton)</a:t>
            </a:r>
            <a:endParaRPr lang="zh-CN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pg0 (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226060"/>
            <a:ext cx="10058400" cy="640524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2023.6.9</a:t>
            </a:r>
            <a:endParaRPr lang="en-US" altLang="en-US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3" name="表格 2"/>
          <p:cNvGraphicFramePr/>
          <p:nvPr/>
        </p:nvGraphicFramePr>
        <p:xfrm>
          <a:off x="891540" y="2757805"/>
          <a:ext cx="5588000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/>
                <a:gridCol w="2794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shape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audio_spec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[batch, 3, 256, 384]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audio_mfcc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[batch, 300, 40]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audio_wav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[batch, 48000]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D_linear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 descr="Screenshot from 2023-06-09 22-28-4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770" y="1090930"/>
            <a:ext cx="5447665" cy="3571240"/>
          </a:xfrm>
          <a:prstGeom prst="rect">
            <a:avLst/>
          </a:prstGeom>
        </p:spPr>
      </p:pic>
      <p:graphicFrame>
        <p:nvGraphicFramePr>
          <p:cNvPr id="4" name="表格 3"/>
          <p:cNvGraphicFramePr/>
          <p:nvPr/>
        </p:nvGraphicFramePr>
        <p:xfrm>
          <a:off x="121920" y="4992370"/>
          <a:ext cx="55880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1397000"/>
                <a:gridCol w="1397000"/>
                <a:gridCol w="1397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训练集loss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测试集loss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训练准确率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测试准确率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0.8837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1.1109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58.34%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56.91%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图片 4" descr="Screenshot from 2023-06-09 22-51-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180" y="1090930"/>
            <a:ext cx="5342890" cy="3571240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/>
        </p:nvGraphicFramePr>
        <p:xfrm>
          <a:off x="5885180" y="4992370"/>
          <a:ext cx="5588000" cy="1021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1397000"/>
                <a:gridCol w="1397000"/>
                <a:gridCol w="139700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训练集loss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测试集loss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训练准确率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测试准确率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0.8097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1.1729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58.28%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57.09%</a:t>
                      </a:r>
                      <a:endParaRPr lang="zh-CN" altLang="en-US" sz="1800"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306070" y="615950"/>
          <a:ext cx="55880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/>
                <a:gridCol w="1397000"/>
                <a:gridCol w="1397000"/>
                <a:gridCol w="1397000"/>
              </a:tblGrid>
              <a:tr h="381000"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 b="0">
                          <a:solidFill>
                            <a:schemeClr val="tx1"/>
                          </a:solidFill>
                          <a:sym typeface="+mn-ea"/>
                        </a:rPr>
                        <a:t>MFCC—Nlinear</a:t>
                      </a:r>
                      <a:endParaRPr lang="en-US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训练集loss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测试集loss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训练准确率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800" b="0">
                          <a:solidFill>
                            <a:schemeClr val="tx1"/>
                          </a:solidFill>
                          <a:sym typeface="+mn-ea"/>
                        </a:rPr>
                        <a:t>测试准确率</a:t>
                      </a:r>
                      <a:endParaRPr lang="en-US" altLang="zh-CN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1.1280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1.1193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55.56%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800">
                          <a:sym typeface="+mn-ea"/>
                        </a:rPr>
                        <a:t>54.94%</a:t>
                      </a:r>
                      <a:endParaRPr lang="zh-CN" altLang="en-US" sz="18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2023.6.10</a:t>
            </a:r>
            <a:endParaRPr lang="en-US" altLang="en-US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spec_Dlinear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wav2vec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cat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6" name="图片 5" descr="Screenshot from 2023-06-10 18-11-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0" y="2483485"/>
            <a:ext cx="4857115" cy="1285875"/>
          </a:xfrm>
          <a:prstGeom prst="rect">
            <a:avLst/>
          </a:prstGeom>
        </p:spPr>
      </p:pic>
      <p:pic>
        <p:nvPicPr>
          <p:cNvPr id="7" name="图片 6" descr="Screenshot from 2023-06-10 18-11-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0" y="1088390"/>
            <a:ext cx="4809490" cy="1285875"/>
          </a:xfrm>
          <a:prstGeom prst="rect">
            <a:avLst/>
          </a:prstGeom>
        </p:spPr>
      </p:pic>
      <p:sp>
        <p:nvSpPr>
          <p:cNvPr id="8" name="流程图: 可选过程 7"/>
          <p:cNvSpPr/>
          <p:nvPr/>
        </p:nvSpPr>
        <p:spPr>
          <a:xfrm>
            <a:off x="195580" y="3943985"/>
            <a:ext cx="4674870" cy="593725"/>
          </a:xfrm>
          <a:prstGeom prst="flowChartAlternateProcess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 由于dropout设置较少，两次训练雷同</a:t>
            </a:r>
            <a:endParaRPr lang="en-US" altLang="zh-CN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Screenshot from 2023-06-11 00-38-58"/>
          <p:cNvPicPr>
            <a:picLocks noChangeAspect="1"/>
          </p:cNvPicPr>
          <p:nvPr/>
        </p:nvPicPr>
        <p:blipFill>
          <a:blip r:embed="rId1"/>
          <a:srcRect t="16998" b="5537"/>
          <a:stretch>
            <a:fillRect/>
          </a:stretch>
        </p:blipFill>
        <p:spPr>
          <a:xfrm>
            <a:off x="321945" y="156210"/>
            <a:ext cx="10058400" cy="3162935"/>
          </a:xfrm>
          <a:prstGeom prst="rect">
            <a:avLst/>
          </a:prstGeom>
        </p:spPr>
      </p:pic>
      <p:pic>
        <p:nvPicPr>
          <p:cNvPr id="3" name="图片 2" descr="Screenshot from 2023-06-11 00-43-09"/>
          <p:cNvPicPr>
            <a:picLocks noChangeAspect="1"/>
          </p:cNvPicPr>
          <p:nvPr/>
        </p:nvPicPr>
        <p:blipFill>
          <a:blip r:embed="rId2"/>
          <a:srcRect t="16208" b="11376"/>
          <a:stretch>
            <a:fillRect/>
          </a:stretch>
        </p:blipFill>
        <p:spPr>
          <a:xfrm>
            <a:off x="447675" y="3712210"/>
            <a:ext cx="10058400" cy="314071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4300" y="1564640"/>
            <a:ext cx="373570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目的：防止模型过拟合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原理：在损失函数上加上某些规则（限制），缩小解空间，从而减少求出过拟合解的可能性</a:t>
            </a:r>
            <a:endParaRPr lang="zh-CN" altLang="en-US"/>
          </a:p>
        </p:txBody>
      </p:sp>
      <p:pic>
        <p:nvPicPr>
          <p:cNvPr id="4" name="图片 3" descr="Screenshot from 2023-06-11 12-56-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1510" y="257810"/>
            <a:ext cx="5761990" cy="137160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42180" y="1717675"/>
            <a:ext cx="520065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0范数，向量中非零元素的个数。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1范数，为绝对值之和。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2范数，就是通常意义上的模。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+</a:t>
            </a:r>
            <a:r>
              <a:rPr lang="en-US" altLang="zh-CN">
                <a:latin typeface="AR PL UKai CN" panose="02000503000000000000" charset="-122"/>
                <a:ea typeface="AR PL UKai CN" panose="02000503000000000000" charset="-122"/>
              </a:rPr>
              <a:t>∞</a:t>
            </a:r>
            <a:r>
              <a:rPr lang="zh-CN" altLang="en-US"/>
              <a:t>范数，即求向量元素绝对值中的最值</a:t>
            </a:r>
            <a:endParaRPr lang="zh-CN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399790" y="2241550"/>
            <a:ext cx="53924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2023/06/20</a:t>
            </a:r>
            <a:endParaRPr lang="en-US" altLang="zh-CN" sz="400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9" name="图片 59" descr="Screenshot from 2023-06-20 20-27-5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1980" y="13335"/>
            <a:ext cx="10597515" cy="2781935"/>
          </a:xfrm>
          <a:prstGeom prst="rect">
            <a:avLst/>
          </a:prstGeom>
        </p:spPr>
      </p:pic>
      <p:pic>
        <p:nvPicPr>
          <p:cNvPr id="4" name="图片 3" descr="1160281-20181216215120003-104470739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" y="2620645"/>
            <a:ext cx="6156960" cy="3594100"/>
          </a:xfrm>
          <a:prstGeom prst="rect">
            <a:avLst/>
          </a:prstGeom>
        </p:spPr>
      </p:pic>
      <p:pic>
        <p:nvPicPr>
          <p:cNvPr id="5" name="图片 4" descr="1160281-20181216215131140-8810529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75" y="2393950"/>
            <a:ext cx="5285105" cy="443039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3" name="图片 63" descr="1160281-20181216215307510-174071166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260" y="46990"/>
            <a:ext cx="7310120" cy="2609215"/>
          </a:xfrm>
          <a:prstGeom prst="rect">
            <a:avLst/>
          </a:prstGeom>
        </p:spPr>
      </p:pic>
      <p:pic>
        <p:nvPicPr>
          <p:cNvPr id="62" name="图片 62" descr="1160281-20181216215320956-10452553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90" y="2925763"/>
            <a:ext cx="6644640" cy="350456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399790" y="2241550"/>
            <a:ext cx="53924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2023/06/2</a:t>
            </a:r>
            <a:r>
              <a:rPr lang="en-US" altLang="en-US" sz="4000"/>
              <a:t>6</a:t>
            </a:r>
            <a:endParaRPr lang="en-US" altLang="en-US" sz="400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Bert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16835" y="590550"/>
            <a:ext cx="735901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BERT 的创建者</a:t>
            </a:r>
            <a:r>
              <a:rPr lang="en-US" altLang="zh-CN"/>
              <a:t>:</a:t>
            </a:r>
            <a:r>
              <a:rPr lang="zh-CN" altLang="en-US"/>
              <a:t>当使用超过 512 个令牌的文档时，性能会显着下降。</a:t>
            </a:r>
            <a:endParaRPr lang="zh-CN" altLang="en-US"/>
          </a:p>
        </p:txBody>
      </p:sp>
      <p:pic>
        <p:nvPicPr>
          <p:cNvPr id="3" name="图片 2" descr="aHR0cHM6Ly9tbWJpei5xcGljLmNuL21tYml6X3BuZy81ZmtuYjQxaWI5cUVZZGJpYWJpY3kwYm5YbzgxR2RFYlFpYktESUk0akRGaWF1ekZpYlFmWkNNUG8zRmdBTFR0V2UwWkl3d1RVT3lVMTZ5eER0RWh4aWI3NDEzZmcvNjQ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935" y="1162685"/>
            <a:ext cx="3418840" cy="3048635"/>
          </a:xfrm>
          <a:prstGeom prst="rect">
            <a:avLst/>
          </a:prstGeom>
        </p:spPr>
      </p:pic>
      <p:pic>
        <p:nvPicPr>
          <p:cNvPr id="6" name="图片 5" descr="Screenshot from 2023-03-23 15-06-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65" y="4424045"/>
            <a:ext cx="3841750" cy="159893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096895" y="5238115"/>
            <a:ext cx="281495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t：句中该词序号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d：词向量维度（512）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i：嵌入的维度序号</a:t>
            </a:r>
            <a:endParaRPr lang="en-US" altLang="zh-CN"/>
          </a:p>
        </p:txBody>
      </p:sp>
      <p:pic>
        <p:nvPicPr>
          <p:cNvPr id="5" name="图片 4" descr="pg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9045" y="1405255"/>
            <a:ext cx="5664200" cy="195643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7235825" y="4685030"/>
            <a:ext cx="2540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Clipping（截断法）</a:t>
            </a:r>
            <a:endParaRPr lang="zh-CN" altLang="en-US"/>
          </a:p>
          <a:p>
            <a:r>
              <a:rPr lang="zh-CN" altLang="en-US"/>
              <a:t>Pooling（池化法）</a:t>
            </a:r>
            <a:endParaRPr lang="zh-CN" altLang="en-US"/>
          </a:p>
          <a:p>
            <a:r>
              <a:rPr lang="zh-CN" altLang="en-US"/>
              <a:t>划窗法</a:t>
            </a:r>
            <a:endParaRPr lang="zh-CN" altLang="en-US"/>
          </a:p>
          <a:p>
            <a:r>
              <a:rPr lang="zh-CN" altLang="en-US"/>
              <a:t>RNN（循环法）</a:t>
            </a:r>
            <a:endParaRPr lang="zh-CN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20230625-2147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2895" y="150495"/>
            <a:ext cx="6181090" cy="2524125"/>
          </a:xfrm>
          <a:prstGeom prst="rect">
            <a:avLst/>
          </a:prstGeom>
        </p:spPr>
      </p:pic>
      <p:pic>
        <p:nvPicPr>
          <p:cNvPr id="3" name="图片 2" descr="20230625-2148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53360"/>
            <a:ext cx="4457065" cy="328549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AutoEncoder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栈式自编码(SAE)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3" name="图片 2" descr="v2-8f16ee4ca80f1d5057d1b5c656c94a61_720w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20" y="1044575"/>
            <a:ext cx="3106420" cy="2106295"/>
          </a:xfrm>
          <a:prstGeom prst="rect">
            <a:avLst/>
          </a:prstGeom>
        </p:spPr>
      </p:pic>
      <p:pic>
        <p:nvPicPr>
          <p:cNvPr id="4" name="图片 3" descr="Screenshot from 2023-06-26 19-47-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050" y="3257550"/>
            <a:ext cx="3717290" cy="2322195"/>
          </a:xfrm>
          <a:prstGeom prst="rect">
            <a:avLst/>
          </a:prstGeom>
        </p:spPr>
      </p:pic>
      <p:pic>
        <p:nvPicPr>
          <p:cNvPr id="5" name="图片 4" descr="Screenshot from 2023-06-26 19-48-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715" y="5473065"/>
            <a:ext cx="4448810" cy="5302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1120" y="6057900"/>
            <a:ext cx="552640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优点：泛化性强，无监督</a:t>
            </a:r>
            <a:r>
              <a:rPr lang="en-US" altLang="zh-CN"/>
              <a:t>，</a:t>
            </a:r>
            <a:r>
              <a:rPr lang="zh-CN" altLang="en-US"/>
              <a:t>不需数据标注</a:t>
            </a:r>
            <a:endParaRPr lang="zh-CN" altLang="en-US"/>
          </a:p>
          <a:p>
            <a:r>
              <a:rPr lang="zh-CN" altLang="en-US"/>
              <a:t>缺点：针对异常识别场景，训练数据需要为正常数据。</a:t>
            </a:r>
            <a:endParaRPr lang="zh-CN" altLang="en-US"/>
          </a:p>
        </p:txBody>
      </p:sp>
      <p:sp>
        <p:nvSpPr>
          <p:cNvPr id="7" name="右箭头 6"/>
          <p:cNvSpPr/>
          <p:nvPr/>
        </p:nvSpPr>
        <p:spPr>
          <a:xfrm>
            <a:off x="3327400" y="1569085"/>
            <a:ext cx="2762885" cy="1210945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latin typeface="Nimbus Roman" panose="00000500000000000000" charset="0"/>
                <a:cs typeface="Nimbus Roman" panose="00000500000000000000" charset="0"/>
                <a:sym typeface="+mn-ea"/>
              </a:rPr>
              <a:t> 层数深，低层网络梯度弥散</a:t>
            </a:r>
            <a:endParaRPr lang="en-US" altLang="en-US" sz="1400">
              <a:solidFill>
                <a:schemeClr val="tx1"/>
              </a:solidFill>
              <a:latin typeface="Nimbus Roman" panose="00000500000000000000" charset="0"/>
              <a:cs typeface="Nimbus Roman" panose="00000500000000000000" charset="0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240145" y="1112520"/>
            <a:ext cx="560959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栈式自编码(SAE)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参数预训练</a:t>
            </a:r>
            <a:r>
              <a:rPr lang="en-US" altLang="zh-CN"/>
              <a:t>，每一层进行参数初始化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对每层网络的进行逐层无监督训练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无监督训练完毕后，用有标签的数据对整个网络的参数继续进行梯度下降调整。</a:t>
            </a:r>
            <a:endParaRPr lang="en-US" altLang="zh-CN"/>
          </a:p>
        </p:txBody>
      </p:sp>
      <p:sp>
        <p:nvSpPr>
          <p:cNvPr id="12" name="矩形标注 11"/>
          <p:cNvSpPr/>
          <p:nvPr/>
        </p:nvSpPr>
        <p:spPr>
          <a:xfrm>
            <a:off x="9312910" y="2588895"/>
            <a:ext cx="1765300" cy="979170"/>
          </a:xfrm>
          <a:prstGeom prst="wedgeRectCallout">
            <a:avLst>
              <a:gd name="adj1" fmla="val -19136"/>
              <a:gd name="adj2" fmla="val -68547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无监督预训练</a:t>
            </a:r>
            <a:endParaRPr lang="zh-CN" altLang="en-US">
              <a:sym typeface="+mn-ea"/>
            </a:endParaRPr>
          </a:p>
          <a:p>
            <a:pPr algn="ctr"/>
            <a:r>
              <a:rPr lang="zh-CN" altLang="en-US">
                <a:sym typeface="+mn-ea"/>
              </a:rPr>
              <a:t>有监督微调</a:t>
            </a:r>
            <a:endParaRPr lang="en-US" altLang="zh-CN"/>
          </a:p>
        </p:txBody>
      </p:sp>
      <p:sp>
        <p:nvSpPr>
          <p:cNvPr id="14" name="爆炸形 1 13"/>
          <p:cNvSpPr/>
          <p:nvPr/>
        </p:nvSpPr>
        <p:spPr>
          <a:xfrm>
            <a:off x="9140825" y="3998595"/>
            <a:ext cx="2796540" cy="1849755"/>
          </a:xfrm>
          <a:prstGeom prst="irregularSeal1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 变分自编码器（VAE）</a:t>
            </a:r>
            <a:endParaRPr lang="en-US" altLang="zh-CN"/>
          </a:p>
        </p:txBody>
      </p:sp>
      <p:pic>
        <p:nvPicPr>
          <p:cNvPr id="16" name="图片 15" descr="20200709202857623"/>
          <p:cNvPicPr>
            <a:picLocks noChangeAspect="1"/>
          </p:cNvPicPr>
          <p:nvPr/>
        </p:nvPicPr>
        <p:blipFill>
          <a:blip r:embed="rId4"/>
          <a:srcRect l="7183" r="6365" b="5493"/>
          <a:stretch>
            <a:fillRect/>
          </a:stretch>
        </p:blipFill>
        <p:spPr>
          <a:xfrm>
            <a:off x="5852160" y="2903855"/>
            <a:ext cx="2940050" cy="348488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sym typeface="+mn-ea"/>
              </a:rPr>
              <a:t>VAE</a:t>
            </a:r>
            <a:endParaRPr lang="en-US" sz="1400">
              <a:solidFill>
                <a:schemeClr val="tx1"/>
              </a:solidFill>
              <a:sym typeface="+mn-ea"/>
            </a:endParaRPr>
          </a:p>
          <a:p>
            <a:pPr algn="ctr"/>
            <a:endParaRPr 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" name="图片 1" descr="v2-ea18b0b476a072878699a04d0866ccbf_r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2275" y="2458720"/>
            <a:ext cx="5024120" cy="4333240"/>
          </a:xfrm>
          <a:prstGeom prst="rect">
            <a:avLst/>
          </a:prstGeom>
        </p:spPr>
      </p:pic>
      <p:pic>
        <p:nvPicPr>
          <p:cNvPr id="5" name="图片 4" descr="v2-dc54f6dbb398b6716bc706045c8c63f3_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775" y="1229360"/>
            <a:ext cx="2338070" cy="131572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726055" y="1564640"/>
            <a:ext cx="287655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P（</a:t>
            </a:r>
            <a:r>
              <a:rPr lang="en-US" altLang="zh-CN"/>
              <a:t>z</a:t>
            </a:r>
            <a:r>
              <a:rPr lang="zh-CN" altLang="en-US"/>
              <a:t>）就是隐层变量Z的分布又称先验分布</a:t>
            </a:r>
            <a:endParaRPr lang="zh-CN" alt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399790" y="2241550"/>
            <a:ext cx="53924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2023/06/2</a:t>
            </a:r>
            <a:r>
              <a:rPr lang="en-US" altLang="en-US" sz="4000"/>
              <a:t>6</a:t>
            </a:r>
            <a:endParaRPr lang="en-US" altLang="en-US" sz="400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859155" y="1533525"/>
            <a:ext cx="1002474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571500" indent="-571500" algn="l">
              <a:buFont typeface="Arial" panose="02080604020202020204" pitchFamily="34" charset="0"/>
              <a:buChar char="•"/>
            </a:pPr>
            <a:r>
              <a:rPr lang="en-US" altLang="en-US" sz="4000">
                <a:sym typeface="+mn-ea"/>
              </a:rPr>
              <a:t>AutoEncoder </a:t>
            </a:r>
            <a:r>
              <a:rPr lang="zh-CN" altLang="en-US" sz="4000">
                <a:sym typeface="+mn-ea"/>
              </a:rPr>
              <a:t>自编码器</a:t>
            </a:r>
            <a:endParaRPr lang="zh-CN" altLang="en-US" sz="4000">
              <a:sym typeface="+mn-ea"/>
            </a:endParaRPr>
          </a:p>
          <a:p>
            <a:pPr marL="571500" indent="-571500" algn="l">
              <a:buFont typeface="Arial" panose="02080604020202020204" pitchFamily="34" charset="0"/>
              <a:buChar char="•"/>
            </a:pPr>
            <a:r>
              <a:rPr lang="en-US" altLang="en-US" sz="4000"/>
              <a:t>Variational AutoEncoder变分自编码器</a:t>
            </a:r>
            <a:endParaRPr lang="en-US" altLang="en-US" sz="400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AutoEncoder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自编码器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8745" y="1254125"/>
            <a:ext cx="38557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自编码是一种非线性降维</a:t>
            </a:r>
            <a:r>
              <a:rPr lang="en-US" altLang="zh-CN"/>
              <a:t>方式</a:t>
            </a:r>
            <a:endParaRPr lang="en-US" altLang="zh-CN"/>
          </a:p>
        </p:txBody>
      </p:sp>
      <p:pic>
        <p:nvPicPr>
          <p:cNvPr id="7" name="图片 6" descr="pg0 (2)"/>
          <p:cNvPicPr>
            <a:picLocks noChangeAspect="1"/>
          </p:cNvPicPr>
          <p:nvPr/>
        </p:nvPicPr>
        <p:blipFill>
          <a:blip r:embed="rId1"/>
          <a:srcRect l="1540" t="15240" r="1540" b="1037"/>
          <a:stretch>
            <a:fillRect/>
          </a:stretch>
        </p:blipFill>
        <p:spPr>
          <a:xfrm>
            <a:off x="118745" y="3146425"/>
            <a:ext cx="5842635" cy="291846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118745" y="2068195"/>
            <a:ext cx="584263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en-US"/>
              <a:t>目标：使隐藏层h包含高维输入X尽可能多的重要信息。</a:t>
            </a:r>
            <a:endParaRPr lang="en-US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6680200" y="3825240"/>
            <a:ext cx="4297680" cy="2030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latin typeface="Nimbus Roman" panose="00000500000000000000" charset="0"/>
                <a:cs typeface="Nimbus Roman" panose="00000500000000000000" charset="0"/>
                <a:sym typeface="+mn-ea"/>
              </a:rPr>
              <a:t> 层数深时低层网络梯度弥散时改进方案</a:t>
            </a:r>
            <a:endParaRPr lang="en-US" altLang="en-US">
              <a:latin typeface="Nimbus Roman" panose="00000500000000000000" charset="0"/>
              <a:cs typeface="Nimbus Roman" panose="00000500000000000000" charset="0"/>
              <a:sym typeface="+mn-ea"/>
            </a:endParaRPr>
          </a:p>
          <a:p>
            <a:endParaRPr lang="en-US" altLang="en-US">
              <a:latin typeface="Nimbus Roman" panose="00000500000000000000" charset="0"/>
              <a:cs typeface="Nimbus Roman" panose="00000500000000000000" charset="0"/>
              <a:sym typeface="+mn-ea"/>
            </a:endParaRPr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>
                <a:solidFill>
                  <a:srgbClr val="FF0000"/>
                </a:solidFill>
              </a:rPr>
              <a:t>参数预训练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逐层无监督训练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zh-CN"/>
              <a:t>用有标签的数据调整</a:t>
            </a:r>
            <a:endParaRPr lang="en-US" altLang="zh-CN"/>
          </a:p>
        </p:txBody>
      </p:sp>
      <p:sp>
        <p:nvSpPr>
          <p:cNvPr id="20" name="文本框 19"/>
          <p:cNvSpPr txBox="1"/>
          <p:nvPr/>
        </p:nvSpPr>
        <p:spPr>
          <a:xfrm>
            <a:off x="6680200" y="861695"/>
            <a:ext cx="538289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Font typeface="Arial" panose="02080604020202020204" pitchFamily="34" charset="0"/>
              <a:buNone/>
            </a:pPr>
            <a:r>
              <a:rPr lang="en-US" altLang="en-US">
                <a:sym typeface="+mn-ea"/>
              </a:rPr>
              <a:t>自编码</a:t>
            </a:r>
            <a:r>
              <a:rPr lang="zh-CN" altLang="en-US">
                <a:sym typeface="+mn-ea"/>
              </a:rPr>
              <a:t>器</a:t>
            </a:r>
            <a:r>
              <a:rPr lang="en-US" altLang="zh-CN">
                <a:sym typeface="+mn-ea"/>
              </a:rPr>
              <a:t>特点</a:t>
            </a:r>
            <a:endParaRPr lang="en-US" altLang="en-US"/>
          </a:p>
          <a:p>
            <a:pPr indent="0">
              <a:buFont typeface="Arial" panose="02080604020202020204" pitchFamily="34" charset="0"/>
              <a:buNone/>
            </a:pPr>
            <a:endParaRPr lang="en-US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en-US"/>
              <a:t>前馈神经网络：输出层的数据以及准确率</a:t>
            </a:r>
            <a:endParaRPr lang="en-US" altLang="en-US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en-US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en-US"/>
              <a:t>自编码</a:t>
            </a:r>
            <a:r>
              <a:rPr lang="zh-CN" altLang="en-US">
                <a:sym typeface="+mn-ea"/>
              </a:rPr>
              <a:t>器</a:t>
            </a:r>
            <a:r>
              <a:rPr lang="en-US" altLang="en-US"/>
              <a:t>：中间隐层的结果。</a:t>
            </a:r>
            <a:endParaRPr lang="en-US" altLang="en-US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AutoEncoder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自编码器</a:t>
            </a:r>
            <a:endParaRPr lang="zh-CN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8" name="图片 7" descr="vae"/>
          <p:cNvPicPr>
            <a:picLocks noChangeAspect="1"/>
          </p:cNvPicPr>
          <p:nvPr/>
        </p:nvPicPr>
        <p:blipFill>
          <a:blip r:embed="rId1"/>
          <a:srcRect t="10590" r="9093"/>
          <a:stretch>
            <a:fillRect/>
          </a:stretch>
        </p:blipFill>
        <p:spPr>
          <a:xfrm>
            <a:off x="119380" y="2538095"/>
            <a:ext cx="4865370" cy="35883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8155" y="1287780"/>
            <a:ext cx="428561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/>
              <a:t>实验：手写字母编码与重建</a:t>
            </a:r>
            <a:endParaRPr 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/>
              <a:t>数据集：Minst</a:t>
            </a:r>
            <a:endParaRPr 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/>
              <a:t>优化目标：原图和重建图均方误差</a:t>
            </a:r>
            <a:endParaRPr lang="en-US"/>
          </a:p>
        </p:txBody>
      </p:sp>
      <p:grpSp>
        <p:nvGrpSpPr>
          <p:cNvPr id="6" name="组合 5"/>
          <p:cNvGrpSpPr/>
          <p:nvPr/>
        </p:nvGrpSpPr>
        <p:grpSpPr>
          <a:xfrm>
            <a:off x="6961505" y="4420870"/>
            <a:ext cx="4261485" cy="1981200"/>
            <a:chOff x="10963" y="6962"/>
            <a:chExt cx="6711" cy="3120"/>
          </a:xfrm>
        </p:grpSpPr>
        <p:pic>
          <p:nvPicPr>
            <p:cNvPr id="9" name="图片 8" descr="x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456" y="6962"/>
              <a:ext cx="3219" cy="3120"/>
            </a:xfrm>
            <a:prstGeom prst="rect">
              <a:avLst/>
            </a:prstGeom>
          </p:spPr>
        </p:pic>
        <p:pic>
          <p:nvPicPr>
            <p:cNvPr id="10" name="图片 9" descr="x_hat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963" y="6962"/>
              <a:ext cx="3179" cy="3083"/>
            </a:xfrm>
            <a:prstGeom prst="rect">
              <a:avLst/>
            </a:prstGeom>
          </p:spPr>
        </p:pic>
      </p:grpSp>
      <p:pic>
        <p:nvPicPr>
          <p:cNvPr id="2" name="图片 1" descr="x_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4325" y="1928495"/>
            <a:ext cx="2019300" cy="1957705"/>
          </a:xfrm>
          <a:prstGeom prst="rect">
            <a:avLst/>
          </a:prstGeom>
        </p:spPr>
      </p:pic>
      <p:pic>
        <p:nvPicPr>
          <p:cNvPr id="3" name="图片 2" descr="x_hat_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8805" y="1905000"/>
            <a:ext cx="2044065" cy="1981200"/>
          </a:xfrm>
          <a:prstGeom prst="rect">
            <a:avLst/>
          </a:prstGeom>
        </p:spPr>
      </p:pic>
      <p:sp>
        <p:nvSpPr>
          <p:cNvPr id="7" name="圆角矩形 6"/>
          <p:cNvSpPr/>
          <p:nvPr/>
        </p:nvSpPr>
        <p:spPr>
          <a:xfrm>
            <a:off x="7224395" y="958850"/>
            <a:ext cx="1311910" cy="5676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sz="1400">
                <a:solidFill>
                  <a:schemeClr val="tx1"/>
                </a:solidFill>
                <a:sym typeface="+mn-ea"/>
              </a:rPr>
              <a:t>input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9545320" y="958850"/>
            <a:ext cx="1311910" cy="5676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out</a:t>
            </a:r>
            <a:r>
              <a:rPr lang="en-US" sz="1400">
                <a:solidFill>
                  <a:schemeClr val="tx1"/>
                </a:solidFill>
                <a:sym typeface="+mn-ea"/>
              </a:rPr>
              <a:t>put</a:t>
            </a:r>
            <a:endParaRPr 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5440045" y="2611755"/>
            <a:ext cx="1311910" cy="5676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epoch 0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14" name="圆角矩形 13"/>
          <p:cNvSpPr/>
          <p:nvPr/>
        </p:nvSpPr>
        <p:spPr>
          <a:xfrm>
            <a:off x="5440045" y="5127625"/>
            <a:ext cx="1311910" cy="56769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epoch90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变分自编码器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VAE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7710" y="1311910"/>
            <a:ext cx="55791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主要目标：</a:t>
            </a:r>
            <a:r>
              <a:rPr lang="zh-CN" altLang="en-US"/>
              <a:t>构建从隐变量 </a:t>
            </a:r>
            <a:r>
              <a:rPr lang="en-US"/>
              <a:t>Z</a:t>
            </a:r>
            <a:r>
              <a:rPr lang="zh-CN" altLang="en-US"/>
              <a:t>生成目标数据 X 的模型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假设：样本服从某些常见的分布(eg:正态)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162050" y="4497070"/>
            <a:ext cx="439229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DejaVu Math TeX Gyre" panose="02000503000000000000" charset="0"/>
                <a:ea typeface="DejaVu Math TeX Gyre" panose="02000503000000000000" charset="0"/>
                <a:sym typeface="+mn-ea"/>
              </a:rPr>
              <a:t>p(Z) </a:t>
            </a:r>
            <a:r>
              <a:rPr lang="en-US" altLang="zh-CN">
                <a:latin typeface="DejaVu Math TeX Gyre" panose="02000503000000000000" charset="0"/>
                <a:ea typeface="DejaVu Math TeX Gyre" panose="02000503000000000000" charset="0"/>
                <a:sym typeface="+mn-ea"/>
              </a:rPr>
              <a:t>：先验分布，假设为正态分布</a:t>
            </a:r>
            <a:endParaRPr lang="en-US" altLang="zh-CN">
              <a:latin typeface="DejaVu Math TeX Gyre" panose="02000503000000000000" charset="0"/>
              <a:ea typeface="DejaVu Math TeX Gyre" panose="02000503000000000000" charset="0"/>
              <a:sym typeface="+mn-ea"/>
            </a:endParaRPr>
          </a:p>
          <a:p>
            <a:endParaRPr lang="en-US" altLang="zh-CN">
              <a:latin typeface="DejaVu Math TeX Gyre" panose="02000503000000000000" charset="0"/>
              <a:ea typeface="DejaVu Math TeX Gyre" panose="02000503000000000000" charset="0"/>
              <a:sym typeface="+mn-ea"/>
            </a:endParaRPr>
          </a:p>
          <a:p>
            <a:r>
              <a:rPr lang="zh-CN" altLang="en-US">
                <a:latin typeface="DejaVu Math TeX Gyre" panose="02000503000000000000" charset="0"/>
                <a:ea typeface="DejaVu Math TeX Gyre" panose="02000503000000000000" charset="0"/>
              </a:rPr>
              <a:t>p(X</a:t>
            </a:r>
            <a:r>
              <a:rPr lang="en-US" altLang="zh-CN" baseline="30000">
                <a:latin typeface="DejaVu Math TeX Gyre" panose="02000503000000000000" charset="0"/>
                <a:ea typeface="DejaVu Math TeX Gyre" panose="02000503000000000000" charset="0"/>
              </a:rPr>
              <a:t>R</a:t>
            </a:r>
            <a:r>
              <a:rPr lang="zh-CN" altLang="en-US">
                <a:latin typeface="DejaVu Math TeX Gyre" panose="02000503000000000000" charset="0"/>
                <a:ea typeface="DejaVu Math TeX Gyre" panose="02000503000000000000" charset="0"/>
              </a:rPr>
              <a:t>|Z)</a:t>
            </a:r>
            <a:r>
              <a:rPr lang="zh-CN" altLang="en-US"/>
              <a:t> </a:t>
            </a:r>
            <a:r>
              <a:rPr lang="en-US" altLang="zh-CN"/>
              <a:t>:后验分布,</a:t>
            </a:r>
            <a:r>
              <a:rPr lang="zh-CN" altLang="en-US"/>
              <a:t>由 Z 来生成 X的模型</a:t>
            </a:r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437515" y="2684145"/>
            <a:ext cx="5704840" cy="1301115"/>
            <a:chOff x="673" y="2817"/>
            <a:chExt cx="8984" cy="2049"/>
          </a:xfrm>
        </p:grpSpPr>
        <p:pic>
          <p:nvPicPr>
            <p:cNvPr id="11" name="图片 10" descr="pg0 (6)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673" y="2926"/>
              <a:ext cx="8984" cy="1800"/>
            </a:xfrm>
            <a:prstGeom prst="rect">
              <a:avLst/>
            </a:prstGeom>
          </p:spPr>
        </p:pic>
        <p:sp>
          <p:nvSpPr>
            <p:cNvPr id="12" name="圆角矩形 11"/>
            <p:cNvSpPr/>
            <p:nvPr/>
          </p:nvSpPr>
          <p:spPr>
            <a:xfrm>
              <a:off x="4375" y="2817"/>
              <a:ext cx="5197" cy="2049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6" name="图片 15" descr="v2-c256aa96833c4982e9fc60c8d350deae_r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695" y="1311910"/>
            <a:ext cx="4805680" cy="291465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pg0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5335" y="635000"/>
            <a:ext cx="10058400" cy="510921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399790" y="2241550"/>
            <a:ext cx="53924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2023/</a:t>
            </a:r>
            <a:r>
              <a:rPr lang="en-US" altLang="en-US" sz="4000"/>
              <a:t>07/02</a:t>
            </a:r>
            <a:endParaRPr lang="en-US" altLang="en-US" sz="400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Huffman compression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哈夫曼编码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46380" y="2302510"/>
            <a:ext cx="323723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字符编码</a:t>
            </a:r>
            <a:r>
              <a:rPr lang="en-US" altLang="zh-CN"/>
              <a:t>两原理：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前缀不重复（prefix-free）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>
                <a:sym typeface="+mn-ea"/>
              </a:rPr>
              <a:t>频率相关</a:t>
            </a:r>
            <a:endParaRPr lang="zh-CN" altLang="en-US"/>
          </a:p>
        </p:txBody>
      </p:sp>
      <p:graphicFrame>
        <p:nvGraphicFramePr>
          <p:cNvPr id="4" name="表格 3"/>
          <p:cNvGraphicFramePr/>
          <p:nvPr/>
        </p:nvGraphicFramePr>
        <p:xfrm>
          <a:off x="246380" y="1353820"/>
          <a:ext cx="26212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880"/>
                <a:gridCol w="436880"/>
                <a:gridCol w="436880"/>
                <a:gridCol w="436880"/>
                <a:gridCol w="87376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b="0">
                          <a:solidFill>
                            <a:schemeClr val="tx1"/>
                          </a:solidFill>
                        </a:rPr>
                        <a:t>......</a:t>
                      </a:r>
                      <a:endParaRPr lang="en-US" altLang="zh-CN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5" name="图片 4" descr="Screenshot from 2023-06-30 23-44-0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7145" y="250190"/>
            <a:ext cx="5483860" cy="2837815"/>
          </a:xfrm>
          <a:prstGeom prst="rect">
            <a:avLst/>
          </a:prstGeom>
        </p:spPr>
      </p:pic>
      <p:graphicFrame>
        <p:nvGraphicFramePr>
          <p:cNvPr id="6" name="表格 5"/>
          <p:cNvGraphicFramePr/>
          <p:nvPr/>
        </p:nvGraphicFramePr>
        <p:xfrm>
          <a:off x="1901825" y="3933190"/>
          <a:ext cx="9528175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/>
                <a:gridCol w="1044575"/>
                <a:gridCol w="1054735"/>
                <a:gridCol w="1064260"/>
                <a:gridCol w="1087755"/>
                <a:gridCol w="42094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编码方式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F(50.0%)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C(25.0%)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R(12.5%)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S(12.5%)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编码长度期望</a:t>
                      </a:r>
                      <a:endParaRPr lang="en-US" altLang="zh-CN" sz="1600" b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方式1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rgbClr val="FF0000"/>
                          </a:solidFill>
                        </a:rPr>
                        <a:t>error</a:t>
                      </a:r>
                      <a:endParaRPr lang="en-US" altLang="zh-CN" sz="1600" b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方式</a:t>
                      </a:r>
                      <a:r>
                        <a:rPr lang="en-US" altLang="en-US" sz="1600">
                          <a:sym typeface="+mn-ea"/>
                        </a:rPr>
                        <a:t>2</a:t>
                      </a:r>
                      <a:endParaRPr lang="en-US" altLang="en-US" sz="1600" b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2*0.5+3*0.25+1*0.125+3*0.125=2.25</a:t>
                      </a: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方式3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1*0.5+2*0.25+3*0.125+3*0.125=1.75</a:t>
                      </a: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Huffman compression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哈夫曼编码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6" name="表格 5"/>
          <p:cNvGraphicFramePr/>
          <p:nvPr/>
        </p:nvGraphicFramePr>
        <p:xfrm>
          <a:off x="329565" y="1049020"/>
          <a:ext cx="9528175" cy="1524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67435"/>
                <a:gridCol w="1044575"/>
                <a:gridCol w="1054735"/>
                <a:gridCol w="1064260"/>
                <a:gridCol w="1087755"/>
                <a:gridCol w="420941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编码方式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F(50.0%)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C(25.0%)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R(12.5%)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S(12.5%)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编码长度期望</a:t>
                      </a:r>
                      <a:endParaRPr lang="en-US" altLang="zh-CN" sz="1600" b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方式1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rgbClr val="FF0000"/>
                          </a:solidFill>
                        </a:rPr>
                        <a:t>error</a:t>
                      </a:r>
                      <a:endParaRPr lang="en-US" altLang="zh-CN" sz="1600" b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>
                          <a:sym typeface="+mn-ea"/>
                        </a:rPr>
                        <a:t>方式</a:t>
                      </a:r>
                      <a:r>
                        <a:rPr lang="en-US" altLang="en-US" sz="1600">
                          <a:sym typeface="+mn-ea"/>
                        </a:rPr>
                        <a:t>2</a:t>
                      </a:r>
                      <a:endParaRPr lang="en-US" altLang="en-US" sz="1600" b="0"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2*0.5+3*0.25+1*0.125+3*0.125=2.25</a:t>
                      </a: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方式3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110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111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>
                          <a:solidFill>
                            <a:schemeClr val="tx1"/>
                          </a:solidFill>
                        </a:rPr>
                        <a:t>1*0.5+2*0.25+3*0.125+3*0.125=1.75</a:t>
                      </a:r>
                      <a:endParaRPr lang="en-US" altLang="zh-CN" sz="1600" b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2" name="图片 1" descr="pg0 (1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5425" y="2795270"/>
            <a:ext cx="4476115" cy="359981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359150" y="2795270"/>
            <a:ext cx="323723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字符编码</a:t>
            </a:r>
            <a:r>
              <a:rPr lang="en-US" altLang="zh-CN"/>
              <a:t>两原理：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前缀不重复（prefix-free）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>
                <a:sym typeface="+mn-ea"/>
              </a:rPr>
              <a:t>频率相关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952615" y="2656840"/>
            <a:ext cx="323723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长度</a:t>
            </a:r>
            <a:endParaRPr lang="en-US" altLang="zh-CN"/>
          </a:p>
          <a:p>
            <a:endParaRPr lang="en-US" altLang="zh-CN"/>
          </a:p>
          <a:p>
            <a:r>
              <a:rPr lang="en-US" altLang="zh-CN"/>
              <a:t>F：    -log</a:t>
            </a:r>
            <a:r>
              <a:rPr lang="en-US" altLang="zh-CN" baseline="-25000"/>
              <a:t>2</a:t>
            </a:r>
            <a:r>
              <a:rPr lang="en-US" altLang="zh-CN"/>
              <a:t>0.5=1</a:t>
            </a:r>
            <a:endParaRPr lang="zh-CN" altLang="en-US"/>
          </a:p>
          <a:p>
            <a:r>
              <a:rPr lang="en-US" altLang="zh-CN"/>
              <a:t>C：</a:t>
            </a:r>
            <a:r>
              <a:rPr lang="en-US" altLang="zh-CN">
                <a:sym typeface="+mn-ea"/>
              </a:rPr>
              <a:t>    </a:t>
            </a:r>
            <a:r>
              <a:rPr lang="en-US" altLang="en-US">
                <a:sym typeface="+mn-ea"/>
              </a:rPr>
              <a:t>-</a:t>
            </a:r>
            <a:r>
              <a:rPr lang="en-US" altLang="zh-CN">
                <a:sym typeface="+mn-ea"/>
              </a:rPr>
              <a:t>log</a:t>
            </a:r>
            <a:r>
              <a:rPr lang="en-US" altLang="zh-CN" baseline="-25000">
                <a:sym typeface="+mn-ea"/>
              </a:rPr>
              <a:t>2</a:t>
            </a:r>
            <a:r>
              <a:rPr lang="en-US" altLang="zh-CN">
                <a:sym typeface="+mn-ea"/>
              </a:rPr>
              <a:t>0.</a:t>
            </a:r>
            <a:r>
              <a:rPr lang="en-US" altLang="en-US">
                <a:sym typeface="+mn-ea"/>
              </a:rPr>
              <a:t>2</a:t>
            </a:r>
            <a:r>
              <a:rPr lang="en-US" altLang="zh-CN">
                <a:sym typeface="+mn-ea"/>
              </a:rPr>
              <a:t>5=</a:t>
            </a:r>
            <a:r>
              <a:rPr lang="en-US" altLang="en-US">
                <a:sym typeface="+mn-ea"/>
              </a:rPr>
              <a:t>2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R</a:t>
            </a:r>
            <a:r>
              <a:rPr lang="en-US" altLang="zh-CN">
                <a:sym typeface="+mn-ea"/>
              </a:rPr>
              <a:t>：    </a:t>
            </a:r>
            <a:r>
              <a:rPr lang="en-US" altLang="en-US">
                <a:sym typeface="+mn-ea"/>
              </a:rPr>
              <a:t>-</a:t>
            </a:r>
            <a:r>
              <a:rPr lang="en-US" altLang="zh-CN">
                <a:sym typeface="+mn-ea"/>
              </a:rPr>
              <a:t>log</a:t>
            </a:r>
            <a:r>
              <a:rPr lang="en-US" altLang="zh-CN" baseline="-25000">
                <a:sym typeface="+mn-ea"/>
              </a:rPr>
              <a:t>2</a:t>
            </a:r>
            <a:r>
              <a:rPr lang="en-US" altLang="zh-CN">
                <a:sym typeface="+mn-ea"/>
              </a:rPr>
              <a:t>0.</a:t>
            </a:r>
            <a:r>
              <a:rPr lang="en-US" altLang="en-US">
                <a:sym typeface="+mn-ea"/>
              </a:rPr>
              <a:t>12</a:t>
            </a:r>
            <a:r>
              <a:rPr lang="en-US" altLang="zh-CN">
                <a:sym typeface="+mn-ea"/>
              </a:rPr>
              <a:t>5=</a:t>
            </a:r>
            <a:r>
              <a:rPr lang="en-US" altLang="en-US">
                <a:sym typeface="+mn-ea"/>
              </a:rPr>
              <a:t>3</a:t>
            </a:r>
            <a:endParaRPr lang="en-US" altLang="en-US">
              <a:sym typeface="+mn-ea"/>
            </a:endParaRPr>
          </a:p>
          <a:p>
            <a:r>
              <a:rPr lang="en-US" altLang="en-US">
                <a:sym typeface="+mn-ea"/>
              </a:rPr>
              <a:t>S</a:t>
            </a:r>
            <a:r>
              <a:rPr lang="en-US" altLang="zh-CN">
                <a:sym typeface="+mn-ea"/>
              </a:rPr>
              <a:t>：    </a:t>
            </a:r>
            <a:r>
              <a:rPr lang="en-US" altLang="en-US">
                <a:sym typeface="+mn-ea"/>
              </a:rPr>
              <a:t>-</a:t>
            </a:r>
            <a:r>
              <a:rPr lang="en-US" altLang="zh-CN">
                <a:sym typeface="+mn-ea"/>
              </a:rPr>
              <a:t>log</a:t>
            </a:r>
            <a:r>
              <a:rPr lang="en-US" altLang="zh-CN" baseline="-25000">
                <a:sym typeface="+mn-ea"/>
              </a:rPr>
              <a:t>2</a:t>
            </a:r>
            <a:r>
              <a:rPr lang="en-US" altLang="zh-CN">
                <a:sym typeface="+mn-ea"/>
              </a:rPr>
              <a:t>0.</a:t>
            </a:r>
            <a:r>
              <a:rPr lang="en-US" altLang="en-US">
                <a:sym typeface="+mn-ea"/>
              </a:rPr>
              <a:t>12</a:t>
            </a:r>
            <a:r>
              <a:rPr lang="en-US" altLang="zh-CN">
                <a:sym typeface="+mn-ea"/>
              </a:rPr>
              <a:t>5=</a:t>
            </a:r>
            <a:r>
              <a:rPr lang="en-US" altLang="en-US">
                <a:sym typeface="+mn-ea"/>
              </a:rPr>
              <a:t>3</a:t>
            </a: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5921375" y="4410075"/>
            <a:ext cx="3808730" cy="101346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 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信息熵就是平均最小编码长度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pic>
        <p:nvPicPr>
          <p:cNvPr id="8" name="图片 7" descr="Screenshot from 2023-07-01 09-24-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595" y="5749925"/>
            <a:ext cx="4352290" cy="847725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熵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信息熵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交叉熵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8" name="图片 7" descr="Screenshot from 2023-07-01 09-24-2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125" y="2865755"/>
            <a:ext cx="3914140" cy="7626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14325" y="4286885"/>
            <a:ext cx="407162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H(x) = 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-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∫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(x) log</a:t>
            </a:r>
            <a:r>
              <a:rPr lang="zh-CN" altLang="en-US" sz="2400" baseline="-25000">
                <a:latin typeface="Abyssinica SIL" panose="02000000000000000000" charset="0"/>
                <a:cs typeface="Abyssinica SIL" panose="02000000000000000000" charset="0"/>
              </a:rPr>
              <a:t>2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(x)dx</a:t>
            </a:r>
            <a:endParaRPr lang="zh-CN" altLang="en-US" sz="2400">
              <a:latin typeface="Abyssinica SIL" panose="02000000000000000000" charset="0"/>
              <a:cs typeface="Abyssinica SIL" panose="02000000000000000000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5095" y="1007745"/>
            <a:ext cx="46482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熵</a:t>
            </a:r>
            <a:endParaRPr lang="en-US" altLang="zh-CN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 altLang="en-US"/>
              <a:t>服从某一特定概率分布事件的理论最小平均编码长度</a:t>
            </a:r>
            <a:endParaRPr lang="zh-CN" altLang="en-US"/>
          </a:p>
          <a:p>
            <a:pPr marL="285750" indent="-285750">
              <a:buFont typeface="Arial" panose="02080604020202020204" pitchFamily="34" charset="0"/>
              <a:buChar char="•"/>
            </a:pPr>
            <a:r>
              <a:rPr lang="en-US" altLang="en-US">
                <a:sym typeface="+mn-ea"/>
              </a:rPr>
              <a:t>熵在信息学中就是信息熵</a:t>
            </a:r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6300470" y="156845"/>
          <a:ext cx="4251325" cy="381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44575"/>
                <a:gridCol w="1054735"/>
                <a:gridCol w="1064260"/>
                <a:gridCol w="108775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F(50.0%)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C(25.0%)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R(12.5%)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600" b="0"/>
                        <a:t>S(12.5%)</a:t>
                      </a:r>
                      <a:endParaRPr lang="en-US" altLang="zh-CN" sz="1600" b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6085840" y="1303020"/>
          <a:ext cx="4681220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3925"/>
                <a:gridCol w="922655"/>
                <a:gridCol w="932180"/>
                <a:gridCol w="941070"/>
                <a:gridCol w="96139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/>
                        <a:t>one-hot</a:t>
                      </a:r>
                      <a:endParaRPr lang="en-US" altLang="en-US" sz="14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/>
                        <a:t>F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/>
                        <a:t>C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/>
                        <a:t>R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/>
                        <a:t>S</a:t>
                      </a:r>
                      <a:endParaRPr lang="en-US" altLang="zh-CN" sz="1600" b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实际值q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0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0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0</a:t>
                      </a:r>
                      <a:endParaRPr lang="en-US" altLang="en-US" sz="1600" b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预测值p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1/2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1/4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1/8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1/8</a:t>
                      </a:r>
                      <a:endParaRPr lang="en-US" altLang="en-US" sz="1600" b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文本框 9"/>
          <p:cNvSpPr txBox="1"/>
          <p:nvPr/>
        </p:nvSpPr>
        <p:spPr>
          <a:xfrm>
            <a:off x="5875655" y="657860"/>
            <a:ext cx="56896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把来自一个分布q的消息使用另一个分布p的最佳代码传达的平均消息长度）称为交叉熵。</a:t>
            </a:r>
            <a:endParaRPr lang="zh-CN" altLang="en-US"/>
          </a:p>
        </p:txBody>
      </p:sp>
      <p:pic>
        <p:nvPicPr>
          <p:cNvPr id="11" name="图片 10" descr="Screenshot from 2023-07-01 11-26-5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6225" y="2522855"/>
            <a:ext cx="6400165" cy="847725"/>
          </a:xfrm>
          <a:prstGeom prst="rect">
            <a:avLst/>
          </a:prstGeom>
        </p:spPr>
      </p:pic>
      <p:pic>
        <p:nvPicPr>
          <p:cNvPr id="12" name="图片 11" descr="pg0 (11)"/>
          <p:cNvPicPr>
            <a:picLocks noChangeAspect="1"/>
          </p:cNvPicPr>
          <p:nvPr/>
        </p:nvPicPr>
        <p:blipFill>
          <a:blip r:embed="rId3"/>
          <a:srcRect l="4043" t="5257" r="3845" b="4304"/>
          <a:stretch>
            <a:fillRect/>
          </a:stretch>
        </p:blipFill>
        <p:spPr>
          <a:xfrm>
            <a:off x="6009005" y="3147060"/>
            <a:ext cx="3185795" cy="251587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4568190" y="5740400"/>
            <a:ext cx="759079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用p表示q所需最佳编码平均长度</a:t>
            </a:r>
            <a:endParaRPr lang="en-US" altLang="zh-CN"/>
          </a:p>
          <a:p>
            <a:r>
              <a:rPr lang="en-US" altLang="zh-CN"/>
              <a:t>H</a:t>
            </a:r>
            <a:r>
              <a:rPr lang="en-US" altLang="zh-CN" baseline="-25000"/>
              <a:t>p</a:t>
            </a:r>
            <a:r>
              <a:rPr lang="en-US" altLang="zh-CN"/>
              <a:t>(q)=-{1*log</a:t>
            </a:r>
            <a:r>
              <a:rPr lang="en-US" altLang="zh-CN" baseline="-25000"/>
              <a:t>2</a:t>
            </a:r>
            <a:r>
              <a:rPr lang="en-US" altLang="zh-CN"/>
              <a:t>0.5+0*log</a:t>
            </a:r>
            <a:r>
              <a:rPr lang="en-US" altLang="zh-CN" baseline="-25000"/>
              <a:t>2</a:t>
            </a:r>
            <a:r>
              <a:rPr lang="en-US" altLang="zh-CN"/>
              <a:t>0.25+0*log</a:t>
            </a:r>
            <a:r>
              <a:rPr lang="en-US" altLang="zh-CN" baseline="-25000"/>
              <a:t>2</a:t>
            </a:r>
            <a:r>
              <a:rPr lang="en-US" altLang="zh-CN"/>
              <a:t>0.125+0*log</a:t>
            </a:r>
            <a:r>
              <a:rPr lang="en-US" altLang="zh-CN" baseline="-25000"/>
              <a:t>2</a:t>
            </a:r>
            <a:r>
              <a:rPr lang="en-US" altLang="zh-CN"/>
              <a:t>0.125}=1</a:t>
            </a:r>
            <a:endParaRPr lang="en-US" altLang="zh-CN"/>
          </a:p>
          <a:p>
            <a:r>
              <a:rPr lang="en-US" altLang="zh-CN">
                <a:sym typeface="+mn-ea"/>
              </a:rPr>
              <a:t>H</a:t>
            </a:r>
            <a:r>
              <a:rPr lang="en-US" altLang="en-US" baseline="-25000">
                <a:sym typeface="+mn-ea"/>
              </a:rPr>
              <a:t>q</a:t>
            </a:r>
            <a:r>
              <a:rPr lang="en-US" altLang="zh-CN">
                <a:sym typeface="+mn-ea"/>
              </a:rPr>
              <a:t>(q)=-{1*log</a:t>
            </a:r>
            <a:r>
              <a:rPr lang="en-US" altLang="zh-CN" baseline="-25000">
                <a:sym typeface="+mn-ea"/>
              </a:rPr>
              <a:t>2</a:t>
            </a:r>
            <a:r>
              <a:rPr lang="en-US" altLang="en-US">
                <a:sym typeface="+mn-ea"/>
              </a:rPr>
              <a:t>1</a:t>
            </a:r>
            <a:r>
              <a:rPr lang="en-US" altLang="zh-CN">
                <a:sym typeface="+mn-ea"/>
              </a:rPr>
              <a:t>+0*log</a:t>
            </a:r>
            <a:r>
              <a:rPr lang="en-US" altLang="zh-CN" baseline="-25000">
                <a:sym typeface="+mn-ea"/>
              </a:rPr>
              <a:t>2</a:t>
            </a:r>
            <a:r>
              <a:rPr lang="en-US" altLang="zh-CN">
                <a:sym typeface="+mn-ea"/>
              </a:rPr>
              <a:t>0.25+0*log</a:t>
            </a:r>
            <a:r>
              <a:rPr lang="en-US" altLang="zh-CN" baseline="-25000">
                <a:sym typeface="+mn-ea"/>
              </a:rPr>
              <a:t>2</a:t>
            </a:r>
            <a:r>
              <a:rPr lang="en-US" altLang="zh-CN">
                <a:sym typeface="+mn-ea"/>
              </a:rPr>
              <a:t>0.125+0*log</a:t>
            </a:r>
            <a:r>
              <a:rPr lang="en-US" altLang="zh-CN" baseline="-25000">
                <a:sym typeface="+mn-ea"/>
              </a:rPr>
              <a:t>2</a:t>
            </a:r>
            <a:r>
              <a:rPr lang="en-US" altLang="zh-CN">
                <a:sym typeface="+mn-ea"/>
              </a:rPr>
              <a:t>0.125}=</a:t>
            </a:r>
            <a:r>
              <a:rPr lang="en-US" altLang="en-US">
                <a:sym typeface="+mn-ea"/>
              </a:rPr>
              <a:t>0</a:t>
            </a:r>
            <a:endParaRPr lang="en-US" altLang="en-US">
              <a:sym typeface="+mn-ea"/>
            </a:endParaRPr>
          </a:p>
          <a:p>
            <a:r>
              <a:rPr lang="en-US" altLang="zh-CN">
                <a:sym typeface="+mn-ea"/>
              </a:rPr>
              <a:t>H</a:t>
            </a:r>
            <a:r>
              <a:rPr lang="en-US" altLang="en-US" baseline="-25000">
                <a:sym typeface="+mn-ea"/>
              </a:rPr>
              <a:t>q</a:t>
            </a:r>
            <a:r>
              <a:rPr lang="en-US" altLang="zh-CN">
                <a:sym typeface="+mn-ea"/>
              </a:rPr>
              <a:t>(</a:t>
            </a:r>
            <a:r>
              <a:rPr lang="en-US" altLang="en-US">
                <a:sym typeface="+mn-ea"/>
              </a:rPr>
              <a:t>p</a:t>
            </a:r>
            <a:r>
              <a:rPr lang="en-US" altLang="zh-CN">
                <a:sym typeface="+mn-ea"/>
              </a:rPr>
              <a:t>)</a:t>
            </a:r>
            <a:r>
              <a:rPr lang="en-US" altLang="en-US">
                <a:sym typeface="+mn-ea"/>
              </a:rPr>
              <a:t>=</a:t>
            </a:r>
            <a:r>
              <a:rPr lang="en-US" altLang="en-US">
                <a:latin typeface="AR PL UKai CN" panose="02000503000000000000" charset="-122"/>
                <a:ea typeface="AR PL UKai CN" panose="02000503000000000000" charset="-122"/>
                <a:sym typeface="+mn-ea"/>
              </a:rPr>
              <a:t>∞</a:t>
            </a:r>
            <a:endParaRPr lang="en-US" altLang="zh-CN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KL散度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157480" y="1070610"/>
          <a:ext cx="4681220" cy="1143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23925"/>
                <a:gridCol w="922655"/>
                <a:gridCol w="932180"/>
                <a:gridCol w="941070"/>
                <a:gridCol w="96139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400" b="0"/>
                        <a:t>one-hot</a:t>
                      </a:r>
                      <a:endParaRPr lang="en-US" altLang="en-US" sz="14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/>
                        <a:t>F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/>
                        <a:t>C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/>
                        <a:t>R</a:t>
                      </a:r>
                      <a:endParaRPr lang="en-US" altLang="zh-CN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600" b="0"/>
                        <a:t>S</a:t>
                      </a:r>
                      <a:endParaRPr lang="en-US" altLang="zh-CN" sz="1600" b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实际值p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0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0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0</a:t>
                      </a:r>
                      <a:endParaRPr lang="en-US" altLang="en-US" sz="1600" b="0"/>
                    </a:p>
                  </a:txBody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预测值p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1/2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1/4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1/8</a:t>
                      </a:r>
                      <a:endParaRPr lang="en-US" altLang="en-US" sz="1600" b="0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600" b="0"/>
                        <a:t>1/8</a:t>
                      </a:r>
                      <a:endParaRPr lang="en-US" altLang="en-US" sz="1600" b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22885" y="2461895"/>
            <a:ext cx="2385695" cy="36830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en-US">
                <a:sym typeface="+mn-ea"/>
              </a:rPr>
              <a:t>实际值p</a:t>
            </a:r>
            <a:r>
              <a:rPr lang="en-US" altLang="zh-CN">
                <a:sym typeface="+mn-ea"/>
              </a:rPr>
              <a:t>最小编码长度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299720" y="2898775"/>
            <a:ext cx="381889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H(p) = -1*log</a:t>
            </a:r>
            <a:r>
              <a:rPr lang="en-US" altLang="zh-CN" baseline="-25000"/>
              <a:t>2</a:t>
            </a:r>
            <a:r>
              <a:rPr lang="en-US" altLang="zh-CN"/>
              <a:t>1+......=0</a:t>
            </a:r>
            <a:endParaRPr lang="en-US" altLang="zh-CN"/>
          </a:p>
          <a:p>
            <a:r>
              <a:rPr lang="en-US" altLang="zh-CN"/>
              <a:t>用预测值q编码实际值p期望长度</a:t>
            </a:r>
            <a:endParaRPr lang="en-US" altLang="zh-CN"/>
          </a:p>
          <a:p>
            <a:r>
              <a:rPr lang="en-US" altLang="zh-CN">
                <a:sym typeface="+mn-ea"/>
              </a:rPr>
              <a:t>H</a:t>
            </a:r>
            <a:r>
              <a:rPr lang="en-US" altLang="en-US" baseline="-25000">
                <a:sym typeface="+mn-ea"/>
              </a:rPr>
              <a:t>q</a:t>
            </a:r>
            <a:r>
              <a:rPr lang="en-US" altLang="zh-CN">
                <a:sym typeface="+mn-ea"/>
              </a:rPr>
              <a:t>(</a:t>
            </a:r>
            <a:r>
              <a:rPr lang="en-US" altLang="en-US">
                <a:sym typeface="+mn-ea"/>
              </a:rPr>
              <a:t>p</a:t>
            </a:r>
            <a:r>
              <a:rPr lang="en-US" altLang="zh-CN">
                <a:sym typeface="+mn-ea"/>
              </a:rPr>
              <a:t>)</a:t>
            </a:r>
            <a:r>
              <a:rPr lang="en-US" altLang="zh-CN"/>
              <a:t> = 1</a:t>
            </a:r>
            <a:endParaRPr lang="en-US" altLang="zh-CN"/>
          </a:p>
        </p:txBody>
      </p:sp>
      <p:pic>
        <p:nvPicPr>
          <p:cNvPr id="4" name="图片 3" descr="Screenshot from 2023-07-01 11-45-3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185" y="4507865"/>
            <a:ext cx="3590290" cy="73342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64185" y="3907155"/>
            <a:ext cx="350393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ym typeface="+mn-ea"/>
              </a:rPr>
              <a:t>KL散度：</a:t>
            </a:r>
            <a:r>
              <a:rPr lang="zh-CN" altLang="en-US"/>
              <a:t>熵和交叉熵之间的差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99720" y="5241290"/>
            <a:ext cx="35039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ym typeface="+mn-ea"/>
              </a:rPr>
              <a:t>KL散度：预测值为了表示实际值编码长度期望变长了多少</a:t>
            </a:r>
            <a:endParaRPr lang="en-US" altLang="en-US">
              <a:sym typeface="+mn-ea"/>
            </a:endParaRPr>
          </a:p>
        </p:txBody>
      </p:sp>
      <p:pic>
        <p:nvPicPr>
          <p:cNvPr id="9" name="图片 8" descr="Screenshot from 2023-07-01 15-17-0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965" y="1346835"/>
            <a:ext cx="6512560" cy="4164965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文本框 7"/>
          <p:cNvSpPr txBox="1"/>
          <p:nvPr/>
        </p:nvSpPr>
        <p:spPr>
          <a:xfrm>
            <a:off x="167640" y="597535"/>
            <a:ext cx="4682490" cy="56311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实际值p信息熵</a:t>
            </a:r>
            <a:endParaRPr lang="zh-CN" altLang="en-US" sz="2400">
              <a:latin typeface="Abyssinica SIL" panose="02000000000000000000" charset="0"/>
              <a:cs typeface="Abyssinica SIL" panose="02000000000000000000" charset="0"/>
            </a:endParaRPr>
          </a:p>
          <a:p>
            <a:pPr algn="ctr"/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H(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) = 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-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∫</a:t>
            </a:r>
            <a:r>
              <a:rPr lang="en-US" sz="2400">
                <a:latin typeface="Abyssinica SIL" panose="02000000000000000000" charset="0"/>
                <a:cs typeface="Abyssinica SIL" panose="02000000000000000000" charset="0"/>
              </a:rPr>
              <a:t>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log</a:t>
            </a:r>
            <a:r>
              <a:rPr lang="zh-CN" altLang="en-US" sz="2400" baseline="-25000">
                <a:latin typeface="Abyssinica SIL" panose="02000000000000000000" charset="0"/>
                <a:cs typeface="Abyssinica SIL" panose="02000000000000000000" charset="0"/>
              </a:rPr>
              <a:t>2</a:t>
            </a:r>
            <a:r>
              <a:rPr lang="en-US" sz="2400">
                <a:latin typeface="Abyssinica SIL" panose="02000000000000000000" charset="0"/>
                <a:cs typeface="Abyssinica SIL" panose="02000000000000000000" charset="0"/>
              </a:rPr>
              <a:t>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dx</a:t>
            </a:r>
            <a:endParaRPr lang="zh-CN" altLang="en-US" sz="2400">
              <a:latin typeface="Abyssinica SIL" panose="02000000000000000000" charset="0"/>
              <a:cs typeface="Abyssinica SIL" panose="02000000000000000000" charset="0"/>
            </a:endParaRPr>
          </a:p>
          <a:p>
            <a:pPr algn="ctr"/>
            <a:endParaRPr lang="zh-CN" altLang="en-US" sz="2400">
              <a:latin typeface="Abyssinica SIL" panose="02000000000000000000" charset="0"/>
              <a:cs typeface="Abyssinica SIL" panose="02000000000000000000" charset="0"/>
            </a:endParaRPr>
          </a:p>
          <a:p>
            <a:pPr algn="ctr"/>
            <a:r>
              <a:rPr lang="en-US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预测值q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信息熵</a:t>
            </a:r>
            <a:endParaRPr lang="zh-CN" altLang="en-US" sz="2400">
              <a:latin typeface="Abyssinica SIL" panose="02000000000000000000" charset="0"/>
              <a:cs typeface="Abyssinica SIL" panose="02000000000000000000" charset="0"/>
            </a:endParaRPr>
          </a:p>
          <a:p>
            <a:pPr algn="ctr"/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H(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q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) = 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-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∫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q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log</a:t>
            </a:r>
            <a:r>
              <a:rPr lang="zh-CN" altLang="en-US" sz="2400" baseline="-25000">
                <a:latin typeface="Abyssinica SIL" panose="02000000000000000000" charset="0"/>
                <a:cs typeface="Abyssinica SIL" panose="02000000000000000000" charset="0"/>
                <a:sym typeface="+mn-ea"/>
              </a:rPr>
              <a:t>2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q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dx</a:t>
            </a:r>
            <a:endParaRPr lang="zh-CN" altLang="en-US" sz="2400">
              <a:latin typeface="Abyssinica SIL" panose="02000000000000000000" charset="0"/>
              <a:cs typeface="Abyssinica SIL" panose="02000000000000000000" charset="0"/>
            </a:endParaRPr>
          </a:p>
          <a:p>
            <a:pPr algn="ctr"/>
            <a:endParaRPr lang="zh-CN" altLang="en-US" sz="2400">
              <a:latin typeface="Abyssinica SIL" panose="02000000000000000000" charset="0"/>
              <a:cs typeface="Abyssinica SIL" panose="02000000000000000000" charset="0"/>
            </a:endParaRPr>
          </a:p>
          <a:p>
            <a:pPr algn="ctr"/>
            <a:r>
              <a:rPr lang="en-US" altLang="zh-CN" sz="2400">
                <a:sym typeface="+mn-ea"/>
              </a:rPr>
              <a:t>预测值</a:t>
            </a:r>
            <a:r>
              <a:rPr lang="en-US" altLang="en-US" sz="2400">
                <a:sym typeface="+mn-ea"/>
              </a:rPr>
              <a:t>q</a:t>
            </a:r>
            <a:r>
              <a:rPr lang="en-US" altLang="zh-CN" sz="2400">
                <a:sym typeface="+mn-ea"/>
              </a:rPr>
              <a:t>编码实际值</a:t>
            </a:r>
            <a:r>
              <a:rPr lang="en-US" altLang="en-US" sz="2400">
                <a:sym typeface="+mn-ea"/>
              </a:rPr>
              <a:t>p</a:t>
            </a:r>
            <a:r>
              <a:rPr lang="en-US" altLang="zh-CN" sz="2400">
                <a:sym typeface="+mn-ea"/>
              </a:rPr>
              <a:t>期望长度</a:t>
            </a:r>
            <a:endParaRPr lang="en-US" altLang="zh-CN" sz="2400">
              <a:sym typeface="+mn-ea"/>
            </a:endParaRPr>
          </a:p>
          <a:p>
            <a:pPr algn="ctr"/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H(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p</a:t>
            </a:r>
            <a:r>
              <a:rPr lang="en-US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||q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) = 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-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∫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log</a:t>
            </a:r>
            <a:r>
              <a:rPr lang="zh-CN" altLang="en-US" sz="2400" baseline="-25000">
                <a:latin typeface="Abyssinica SIL" panose="02000000000000000000" charset="0"/>
                <a:cs typeface="Abyssinica SIL" panose="02000000000000000000" charset="0"/>
                <a:sym typeface="+mn-ea"/>
              </a:rPr>
              <a:t>2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q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dx</a:t>
            </a:r>
            <a:endParaRPr lang="zh-CN" altLang="en-US" sz="2400">
              <a:latin typeface="Abyssinica SIL" panose="02000000000000000000" charset="0"/>
              <a:cs typeface="Abyssinica SIL" panose="02000000000000000000" charset="0"/>
              <a:sym typeface="+mn-ea"/>
            </a:endParaRPr>
          </a:p>
          <a:p>
            <a:pPr algn="ctr"/>
            <a:endParaRPr lang="zh-CN" altLang="en-US" sz="2400">
              <a:latin typeface="Abyssinica SIL" panose="02000000000000000000" charset="0"/>
              <a:cs typeface="Abyssinica SIL" panose="02000000000000000000" charset="0"/>
              <a:sym typeface="+mn-ea"/>
            </a:endParaRPr>
          </a:p>
          <a:p>
            <a:pPr algn="ctr"/>
            <a:r>
              <a:rPr lang="en-US" altLang="en-US" sz="2400">
                <a:sym typeface="+mn-ea"/>
              </a:rPr>
              <a:t>KL散度(q编码p - p编码p)</a:t>
            </a:r>
            <a:endParaRPr lang="en-US" altLang="zh-CN" sz="2400">
              <a:sym typeface="+mn-ea"/>
            </a:endParaRPr>
          </a:p>
          <a:p>
            <a:pPr algn="ctr"/>
            <a:r>
              <a:rPr lang="en-US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KL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(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p</a:t>
            </a:r>
            <a:r>
              <a:rPr lang="en-US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||q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) = H(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p</a:t>
            </a:r>
            <a:r>
              <a:rPr lang="en-US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||q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)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-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H(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)</a:t>
            </a:r>
            <a:endParaRPr lang="zh-CN" altLang="en-US" sz="2400">
              <a:latin typeface="Abyssinica SIL" panose="02000000000000000000" charset="0"/>
              <a:cs typeface="Abyssinica SIL" panose="02000000000000000000" charset="0"/>
              <a:sym typeface="+mn-ea"/>
            </a:endParaRPr>
          </a:p>
          <a:p>
            <a:pPr algn="ctr"/>
            <a:r>
              <a:rPr lang="en-US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= 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-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∫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log</a:t>
            </a:r>
            <a:r>
              <a:rPr lang="zh-CN" altLang="en-US" sz="2400" baseline="-25000">
                <a:latin typeface="Abyssinica SIL" panose="02000000000000000000" charset="0"/>
                <a:cs typeface="Abyssinica SIL" panose="02000000000000000000" charset="0"/>
                <a:sym typeface="+mn-ea"/>
              </a:rPr>
              <a:t>2</a:t>
            </a:r>
            <a:r>
              <a:rPr lang="en-US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q/p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dx</a:t>
            </a:r>
            <a:endParaRPr lang="zh-CN" altLang="en-US" sz="2400">
              <a:latin typeface="Abyssinica SIL" panose="02000000000000000000" charset="0"/>
              <a:cs typeface="Abyssinica SIL" panose="02000000000000000000" charset="0"/>
              <a:sym typeface="+mn-ea"/>
            </a:endParaRPr>
          </a:p>
          <a:p>
            <a:pPr algn="ctr"/>
            <a:endParaRPr lang="zh-CN" altLang="en-US" sz="2400">
              <a:latin typeface="Abyssinica SIL" panose="02000000000000000000" charset="0"/>
              <a:cs typeface="Abyssinica SIL" panose="02000000000000000000" charset="0"/>
            </a:endParaRPr>
          </a:p>
          <a:p>
            <a:pPr algn="ctr"/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p,q均为高斯分布</a:t>
            </a:r>
            <a:endParaRPr lang="en-US" altLang="zh-CN" sz="2400">
              <a:latin typeface="Abyssinica SIL" panose="02000000000000000000" charset="0"/>
              <a:cs typeface="Abyssinica SIL" panose="02000000000000000000" charset="0"/>
            </a:endParaRPr>
          </a:p>
          <a:p>
            <a:pPr algn="ctr"/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p~N(</a:t>
            </a:r>
            <a:r>
              <a:rPr lang="en-US" altLang="zh-CN" sz="24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</a:rPr>
              <a:t>μ</a:t>
            </a:r>
            <a:r>
              <a:rPr lang="en-US" altLang="zh-CN" sz="2400" baseline="-250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</a:rPr>
              <a:t>1</a:t>
            </a:r>
            <a:r>
              <a:rPr lang="en-US" altLang="zh-CN" sz="24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</a:rPr>
              <a:t>,δ</a:t>
            </a:r>
            <a:r>
              <a:rPr lang="en-US" altLang="zh-CN" sz="2400" baseline="-250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</a:rPr>
              <a:t>1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)，q~N(</a:t>
            </a:r>
            <a:r>
              <a:rPr lang="en-US" altLang="zh-CN" sz="24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  <a:sym typeface="+mn-ea"/>
              </a:rPr>
              <a:t>μ</a:t>
            </a:r>
            <a:r>
              <a:rPr lang="en-US" altLang="en-US" sz="2400" baseline="-250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  <a:sym typeface="+mn-ea"/>
              </a:rPr>
              <a:t>2</a:t>
            </a:r>
            <a:r>
              <a:rPr lang="en-US" altLang="zh-CN" sz="24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  <a:sym typeface="+mn-ea"/>
              </a:rPr>
              <a:t>,δ</a:t>
            </a:r>
            <a:r>
              <a:rPr lang="en-US" altLang="en-US" sz="2400" baseline="-250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  <a:sym typeface="+mn-ea"/>
              </a:rPr>
              <a:t>2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)</a:t>
            </a:r>
            <a:endParaRPr lang="en-US" altLang="zh-CN" sz="2400">
              <a:latin typeface="Abyssinica SIL" panose="02000000000000000000" charset="0"/>
              <a:cs typeface="Abyssinica SIL" panose="02000000000000000000" charset="0"/>
            </a:endParaRPr>
          </a:p>
        </p:txBody>
      </p:sp>
      <p:pic>
        <p:nvPicPr>
          <p:cNvPr id="3" name="图片 2" descr="Screenshot from 2023-07-01 15-30-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1105" y="1433195"/>
            <a:ext cx="4271010" cy="121412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803900" y="234315"/>
            <a:ext cx="407162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∫</a:t>
            </a:r>
            <a:r>
              <a:rPr lang="en-US" sz="2400">
                <a:latin typeface="Abyssinica SIL" panose="02000000000000000000" charset="0"/>
                <a:cs typeface="Abyssinica SIL" panose="02000000000000000000" charset="0"/>
              </a:rPr>
              <a:t>exp(-x</a:t>
            </a:r>
            <a:r>
              <a:rPr lang="en-US" sz="2400" baseline="30000">
                <a:latin typeface="Abyssinica SIL" panose="02000000000000000000" charset="0"/>
                <a:cs typeface="Abyssinica SIL" panose="02000000000000000000" charset="0"/>
              </a:rPr>
              <a:t>2</a:t>
            </a:r>
            <a:r>
              <a:rPr lang="en-US" sz="2400">
                <a:latin typeface="Abyssinica SIL" panose="02000000000000000000" charset="0"/>
                <a:cs typeface="Abyssinica SIL" panose="02000000000000000000" charset="0"/>
              </a:rPr>
              <a:t>)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</a:rPr>
              <a:t>dx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</a:rPr>
              <a:t>=</a:t>
            </a:r>
            <a:r>
              <a:rPr lang="en-US" altLang="zh-CN" sz="24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</a:rPr>
              <a:t>π</a:t>
            </a:r>
            <a:r>
              <a:rPr lang="en-US" altLang="zh-CN" sz="2400" baseline="300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</a:rPr>
              <a:t>1/2</a:t>
            </a:r>
            <a:endParaRPr lang="en-US" altLang="zh-CN" sz="2400">
              <a:latin typeface="AR PL UKai CN" panose="02000503000000000000" charset="-122"/>
              <a:ea typeface="AR PL UKai CN" panose="02000503000000000000" charset="-122"/>
              <a:cs typeface="Abyssinica SIL" panose="02000000000000000000" charset="0"/>
            </a:endParaRPr>
          </a:p>
          <a:p>
            <a:pPr algn="ctr"/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∫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x</a:t>
            </a:r>
            <a:r>
              <a:rPr lang="en-US" altLang="zh-CN" sz="2400" baseline="30000">
                <a:latin typeface="Abyssinica SIL" panose="02000000000000000000" charset="0"/>
                <a:cs typeface="Abyssinica SIL" panose="02000000000000000000" charset="0"/>
                <a:sym typeface="+mn-ea"/>
              </a:rPr>
              <a:t>2</a:t>
            </a:r>
            <a:r>
              <a:rPr 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exp(-x</a:t>
            </a:r>
            <a:r>
              <a:rPr lang="en-US" sz="2400" baseline="30000">
                <a:latin typeface="Abyssinica SIL" panose="02000000000000000000" charset="0"/>
                <a:cs typeface="Abyssinica SIL" panose="02000000000000000000" charset="0"/>
                <a:sym typeface="+mn-ea"/>
              </a:rPr>
              <a:t>2</a:t>
            </a:r>
            <a:r>
              <a:rPr 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)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dx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=</a:t>
            </a:r>
            <a:r>
              <a:rPr lang="en-US" altLang="zh-CN" sz="24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  <a:sym typeface="+mn-ea"/>
              </a:rPr>
              <a:t>π</a:t>
            </a:r>
            <a:r>
              <a:rPr lang="en-US" altLang="zh-CN" sz="2400" baseline="300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  <a:sym typeface="+mn-ea"/>
              </a:rPr>
              <a:t>1/2</a:t>
            </a:r>
            <a:r>
              <a:rPr lang="en-US" altLang="en-US" sz="24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  <a:sym typeface="+mn-ea"/>
              </a:rPr>
              <a:t>/2</a:t>
            </a:r>
            <a:endParaRPr lang="en-US" altLang="en-US" sz="2400">
              <a:latin typeface="AR PL UKai CN" panose="02000503000000000000" charset="-122"/>
              <a:ea typeface="AR PL UKai CN" panose="02000503000000000000" charset="-122"/>
              <a:cs typeface="Abyssinica SIL" panose="02000000000000000000" charset="0"/>
              <a:sym typeface="+mn-ea"/>
            </a:endParaRPr>
          </a:p>
          <a:p>
            <a:pPr algn="ctr"/>
            <a:r>
              <a:rPr lang="en-US" altLang="en-US" sz="2400">
                <a:latin typeface="AR PL UKai CN" panose="02000503000000000000" charset="-122"/>
                <a:ea typeface="AR PL UKai CN" panose="02000503000000000000" charset="-122"/>
                <a:cs typeface="Abyssinica SIL" panose="02000000000000000000" charset="0"/>
              </a:rPr>
              <a:t>H(p(x))=</a:t>
            </a:r>
            <a:r>
              <a:rPr lang="zh-CN" altLang="en-US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∫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p(x)log</a:t>
            </a:r>
            <a:r>
              <a:rPr lang="en-US" altLang="zh-CN" sz="2400" baseline="-25000">
                <a:latin typeface="Abyssinica SIL" panose="02000000000000000000" charset="0"/>
                <a:cs typeface="Abyssinica SIL" panose="02000000000000000000" charset="0"/>
                <a:sym typeface="+mn-ea"/>
              </a:rPr>
              <a:t>2</a:t>
            </a:r>
            <a:r>
              <a:rPr lang="en-US" altLang="zh-CN" sz="2400">
                <a:latin typeface="Abyssinica SIL" panose="02000000000000000000" charset="0"/>
                <a:cs typeface="Abyssinica SIL" panose="02000000000000000000" charset="0"/>
                <a:sym typeface="+mn-ea"/>
              </a:rPr>
              <a:t>p(x)dx</a:t>
            </a:r>
            <a:endParaRPr lang="en-US" altLang="zh-CN" sz="2400">
              <a:latin typeface="AR PL UKai CN" panose="02000503000000000000" charset="-122"/>
              <a:ea typeface="AR PL UKai CN" panose="02000503000000000000" charset="-122"/>
              <a:cs typeface="Abyssinica SIL" panose="02000000000000000000" charset="0"/>
            </a:endParaRPr>
          </a:p>
        </p:txBody>
      </p:sp>
      <p:pic>
        <p:nvPicPr>
          <p:cNvPr id="5" name="图片 4" descr="Screenshot from 2023-07-01 17-19-5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690" y="2526665"/>
            <a:ext cx="6593840" cy="280225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6013450" y="5303520"/>
            <a:ext cx="44742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q~N(0,1)   p(</a:t>
            </a:r>
            <a:r>
              <a:rPr altLang="en-US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μ,δ</a:t>
            </a:r>
            <a:r>
              <a:rPr lang="en-US" altLang="en-US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)</a:t>
            </a:r>
            <a:endParaRPr lang="en-US" altLang="en-US">
              <a:latin typeface="Abyssinica SIL" panose="02000000000000000000" charset="0"/>
              <a:ea typeface="AR PL UKai CN" panose="02000503000000000000" charset="-122"/>
              <a:cs typeface="Abyssinica SIL" panose="02000000000000000000" charset="0"/>
              <a:sym typeface="+mn-ea"/>
            </a:endParaRPr>
          </a:p>
          <a:p>
            <a:pPr algn="ctr"/>
            <a:r>
              <a:rPr lang="en-US" altLang="zh-CN">
                <a:latin typeface="Abyssinica SIL" panose="02000000000000000000" charset="0"/>
                <a:cs typeface="Abyssinica SIL" panose="02000000000000000000" charset="0"/>
              </a:rPr>
              <a:t>KL(p,q)= -log</a:t>
            </a:r>
            <a:r>
              <a:rPr lang="en-US" altLang="zh-CN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δ </a:t>
            </a:r>
            <a:r>
              <a:rPr lang="en-US" altLang="en-US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+ </a:t>
            </a:r>
            <a:r>
              <a:rPr lang="en-US" altLang="zh-CN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δ</a:t>
            </a:r>
            <a:r>
              <a:rPr lang="en-US" altLang="en-US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/2 + </a:t>
            </a:r>
            <a:r>
              <a:rPr altLang="en-US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μ</a:t>
            </a:r>
            <a:r>
              <a:rPr lang="en-US" baseline="30000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2</a:t>
            </a:r>
            <a:r>
              <a:rPr lang="en-US">
                <a:latin typeface="Abyssinica SIL" panose="02000000000000000000" charset="0"/>
                <a:ea typeface="AR PL UKai CN" panose="02000503000000000000" charset="-122"/>
                <a:cs typeface="Abyssinica SIL" panose="02000000000000000000" charset="0"/>
                <a:sym typeface="+mn-ea"/>
              </a:rPr>
              <a:t>/2 - 1/2</a:t>
            </a:r>
            <a:endParaRPr lang="en-US">
              <a:latin typeface="Abyssinica SIL" panose="02000000000000000000" charset="0"/>
              <a:ea typeface="AR PL UKai CN" panose="02000503000000000000" charset="-122"/>
              <a:cs typeface="Abyssinica SIL" panose="02000000000000000000" charset="0"/>
              <a:sym typeface="+mn-ea"/>
            </a:endParaRPr>
          </a:p>
        </p:txBody>
      </p:sp>
      <p:pic>
        <p:nvPicPr>
          <p:cNvPr id="10" name="图片 9" descr="Screenshot from 2023-07-01 17-54-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4535" y="5948680"/>
            <a:ext cx="5824855" cy="90551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变分自编码器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VAE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60350" y="3793490"/>
            <a:ext cx="55791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目标</a:t>
            </a:r>
            <a:r>
              <a:rPr lang="en-US" altLang="en-US"/>
              <a:t>1</a:t>
            </a:r>
            <a:r>
              <a:rPr lang="en-US" altLang="zh-CN"/>
              <a:t>：</a:t>
            </a:r>
            <a:r>
              <a:rPr lang="zh-CN" altLang="en-US"/>
              <a:t>构建从隐变量 </a:t>
            </a:r>
            <a:r>
              <a:rPr lang="en-US"/>
              <a:t>Z</a:t>
            </a:r>
            <a:r>
              <a:rPr lang="zh-CN" altLang="en-US"/>
              <a:t>生成目标数据 X 的模型</a:t>
            </a:r>
            <a:endParaRPr lang="zh-CN" altLang="en-US"/>
          </a:p>
          <a:p>
            <a:pPr algn="ctr"/>
            <a:r>
              <a:rPr lang="en-US" altLang="zh-CN"/>
              <a:t>Loss1 =BCE( X , X</a:t>
            </a:r>
            <a:r>
              <a:rPr lang="en-US" altLang="zh-CN" baseline="30000"/>
              <a:t>R</a:t>
            </a:r>
            <a:r>
              <a:rPr lang="en-US" altLang="zh-CN"/>
              <a:t>) </a:t>
            </a:r>
            <a:endParaRPr lang="en-US" altLang="zh-CN"/>
          </a:p>
          <a:p>
            <a:pPr algn="ctr"/>
            <a:r>
              <a:rPr lang="en-US" altLang="zh-CN"/>
              <a:t>X和X</a:t>
            </a:r>
            <a:r>
              <a:rPr lang="en-US" altLang="zh-CN" baseline="30000"/>
              <a:t>R</a:t>
            </a:r>
            <a:r>
              <a:rPr lang="en-US" altLang="zh-CN"/>
              <a:t>的二值交叉熵</a:t>
            </a:r>
            <a:endParaRPr lang="en-US" altLang="zh-CN"/>
          </a:p>
        </p:txBody>
      </p:sp>
      <p:pic>
        <p:nvPicPr>
          <p:cNvPr id="11" name="图片 10" descr="pg0 (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" y="1075690"/>
            <a:ext cx="5704840" cy="1143000"/>
          </a:xfrm>
          <a:prstGeom prst="rect">
            <a:avLst/>
          </a:prstGeom>
        </p:spPr>
      </p:pic>
      <p:pic>
        <p:nvPicPr>
          <p:cNvPr id="4" name="图片 3" descr="1"/>
          <p:cNvPicPr>
            <a:picLocks noChangeAspect="1"/>
          </p:cNvPicPr>
          <p:nvPr/>
        </p:nvPicPr>
        <p:blipFill>
          <a:blip r:embed="rId2"/>
          <a:srcRect l="12120" b="9305"/>
          <a:stretch>
            <a:fillRect/>
          </a:stretch>
        </p:blipFill>
        <p:spPr>
          <a:xfrm>
            <a:off x="7294245" y="315595"/>
            <a:ext cx="4226560" cy="2642870"/>
          </a:xfrm>
          <a:prstGeom prst="rect">
            <a:avLst/>
          </a:prstGeom>
        </p:spPr>
      </p:pic>
      <p:pic>
        <p:nvPicPr>
          <p:cNvPr id="5" name="图片 4" descr="3"/>
          <p:cNvPicPr>
            <a:picLocks noChangeAspect="1"/>
          </p:cNvPicPr>
          <p:nvPr/>
        </p:nvPicPr>
        <p:blipFill>
          <a:blip r:embed="rId3"/>
          <a:srcRect l="12767" b="8934"/>
          <a:stretch>
            <a:fillRect/>
          </a:stretch>
        </p:blipFill>
        <p:spPr>
          <a:xfrm>
            <a:off x="7325360" y="3686810"/>
            <a:ext cx="4195445" cy="2653665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变分自编码器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VAE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27710" y="1311910"/>
            <a:ext cx="55791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主要目标：</a:t>
            </a:r>
            <a:r>
              <a:rPr lang="zh-CN" altLang="en-US"/>
              <a:t>构建从隐变量 </a:t>
            </a:r>
            <a:r>
              <a:rPr lang="en-US"/>
              <a:t>Z</a:t>
            </a:r>
            <a:r>
              <a:rPr lang="zh-CN" altLang="en-US"/>
              <a:t>生成目标数据 X 的模型</a:t>
            </a:r>
            <a:endParaRPr lang="zh-CN" altLang="en-US"/>
          </a:p>
          <a:p>
            <a:endParaRPr lang="zh-CN" altLang="en-US"/>
          </a:p>
          <a:p>
            <a:r>
              <a:rPr lang="en-US" altLang="zh-CN"/>
              <a:t>假设：样本服从某些常见的分布(eg:正态)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796290" y="4050665"/>
            <a:ext cx="439229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DejaVu Math TeX Gyre" panose="02000503000000000000" charset="0"/>
                <a:ea typeface="DejaVu Math TeX Gyre" panose="02000503000000000000" charset="0"/>
                <a:sym typeface="+mn-ea"/>
              </a:rPr>
              <a:t>p(Z) </a:t>
            </a:r>
            <a:r>
              <a:rPr lang="en-US" altLang="zh-CN">
                <a:latin typeface="DejaVu Math TeX Gyre" panose="02000503000000000000" charset="0"/>
                <a:ea typeface="DejaVu Math TeX Gyre" panose="02000503000000000000" charset="0"/>
                <a:sym typeface="+mn-ea"/>
              </a:rPr>
              <a:t>：先验分布，</a:t>
            </a:r>
            <a:r>
              <a:rPr lang="en-US" altLang="zh-CN">
                <a:solidFill>
                  <a:schemeClr val="tx1"/>
                </a:solidFill>
                <a:latin typeface="DejaVu Math TeX Gyre" panose="02000503000000000000" charset="0"/>
                <a:ea typeface="DejaVu Math TeX Gyre" panose="02000503000000000000" charset="0"/>
                <a:sym typeface="+mn-ea"/>
              </a:rPr>
              <a:t>假设为</a:t>
            </a:r>
            <a:r>
              <a:rPr lang="en-US" altLang="en-US">
                <a:solidFill>
                  <a:schemeClr val="tx1"/>
                </a:solidFill>
                <a:latin typeface="DejaVu Math TeX Gyre" panose="02000503000000000000" charset="0"/>
                <a:ea typeface="DejaVu Math TeX Gyre" panose="02000503000000000000" charset="0"/>
                <a:sym typeface="+mn-ea"/>
              </a:rPr>
              <a:t>标准</a:t>
            </a:r>
            <a:r>
              <a:rPr lang="en-US" altLang="zh-CN">
                <a:solidFill>
                  <a:schemeClr val="tx1"/>
                </a:solidFill>
                <a:latin typeface="DejaVu Math TeX Gyre" panose="02000503000000000000" charset="0"/>
                <a:ea typeface="DejaVu Math TeX Gyre" panose="02000503000000000000" charset="0"/>
                <a:sym typeface="+mn-ea"/>
              </a:rPr>
              <a:t>正态分布</a:t>
            </a:r>
            <a:endParaRPr lang="en-US" altLang="zh-CN">
              <a:latin typeface="DejaVu Math TeX Gyre" panose="02000503000000000000" charset="0"/>
              <a:ea typeface="DejaVu Math TeX Gyre" panose="02000503000000000000" charset="0"/>
              <a:sym typeface="+mn-ea"/>
            </a:endParaRPr>
          </a:p>
          <a:p>
            <a:endParaRPr lang="en-US" altLang="zh-CN">
              <a:latin typeface="DejaVu Math TeX Gyre" panose="02000503000000000000" charset="0"/>
              <a:ea typeface="DejaVu Math TeX Gyre" panose="02000503000000000000" charset="0"/>
              <a:sym typeface="+mn-ea"/>
            </a:endParaRPr>
          </a:p>
          <a:p>
            <a:r>
              <a:rPr lang="zh-CN" altLang="en-US">
                <a:latin typeface="DejaVu Math TeX Gyre" panose="02000503000000000000" charset="0"/>
                <a:ea typeface="DejaVu Math TeX Gyre" panose="02000503000000000000" charset="0"/>
              </a:rPr>
              <a:t>p(X|Z)</a:t>
            </a:r>
            <a:r>
              <a:rPr lang="zh-CN" altLang="en-US"/>
              <a:t> </a:t>
            </a:r>
            <a:r>
              <a:rPr lang="en-US" altLang="zh-CN"/>
              <a:t>:后验分布,</a:t>
            </a:r>
            <a:r>
              <a:rPr lang="zh-CN" altLang="en-US"/>
              <a:t>由 Z 来生成 X的模型</a:t>
            </a:r>
            <a:endParaRPr lang="zh-CN" altLang="en-US"/>
          </a:p>
        </p:txBody>
      </p:sp>
      <p:pic>
        <p:nvPicPr>
          <p:cNvPr id="11" name="图片 10" descr="pg0 (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700" y="2233930"/>
            <a:ext cx="5704840" cy="1143000"/>
          </a:xfrm>
          <a:prstGeom prst="rect">
            <a:avLst/>
          </a:prstGeom>
        </p:spPr>
      </p:pic>
      <p:graphicFrame>
        <p:nvGraphicFramePr>
          <p:cNvPr id="2" name="表格 1"/>
          <p:cNvGraphicFramePr/>
          <p:nvPr/>
        </p:nvGraphicFramePr>
        <p:xfrm>
          <a:off x="5958840" y="2491740"/>
          <a:ext cx="1360170" cy="3744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085"/>
                <a:gridCol w="680085"/>
              </a:tblGrid>
              <a:tr h="37782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X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54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cs typeface="+mn-lt"/>
                        </a:rPr>
                        <a:t>x1</a:t>
                      </a:r>
                      <a:endParaRPr lang="en-US" altLang="en-US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en-US" altLang="zh-CN" sz="800">
                        <a:latin typeface="Abyssinica SIL" panose="02000000000000000000" charset="0"/>
                        <a:cs typeface="Abyssinica SIL" panose="020000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54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x2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>
                        <a:latin typeface="Abyssinica SIL" panose="02000000000000000000" charset="0"/>
                        <a:cs typeface="Abyssinica SIL" panose="020000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54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x3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>
                        <a:latin typeface="Abyssinica SIL" panose="02000000000000000000" charset="0"/>
                        <a:cs typeface="Abyssinica SIL" panose="020000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54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x4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>
                        <a:latin typeface="Abyssinica SIL" panose="02000000000000000000" charset="0"/>
                        <a:cs typeface="Abyssinica SIL" panose="020000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40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...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>
                        <a:latin typeface="Abyssinica SIL" panose="02000000000000000000" charset="0"/>
                        <a:cs typeface="Abyssinica SIL" panose="020000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40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...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 sz="1400">
                        <a:latin typeface="Abyssinica SIL" panose="02000000000000000000" charset="0"/>
                        <a:cs typeface="Abyssinica SIL" panose="02000000000000000000" charset="0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4" name="右箭头 3"/>
          <p:cNvSpPr/>
          <p:nvPr/>
        </p:nvSpPr>
        <p:spPr>
          <a:xfrm>
            <a:off x="7505065" y="3582035"/>
            <a:ext cx="1187450" cy="4686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7078345" y="1452880"/>
            <a:ext cx="3799840" cy="78105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 任意模型均可映射为高维标准正态分布</a:t>
            </a:r>
            <a:endParaRPr lang="en-US" altLang="zh-CN"/>
          </a:p>
        </p:txBody>
      </p:sp>
      <p:graphicFrame>
        <p:nvGraphicFramePr>
          <p:cNvPr id="6" name="表格 5"/>
          <p:cNvGraphicFramePr/>
          <p:nvPr/>
        </p:nvGraphicFramePr>
        <p:xfrm>
          <a:off x="8886825" y="2491740"/>
          <a:ext cx="1360170" cy="37445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085"/>
                <a:gridCol w="680085"/>
              </a:tblGrid>
              <a:tr h="377825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b="0">
                          <a:solidFill>
                            <a:schemeClr val="tx1"/>
                          </a:solidFill>
                        </a:rPr>
                        <a:t>Z</a:t>
                      </a:r>
                      <a:endParaRPr lang="en-US" altLang="en-US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54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 sz="1800">
                          <a:cs typeface="+mn-lt"/>
                        </a:rPr>
                        <a:t>x1</a:t>
                      </a:r>
                      <a:endParaRPr lang="en-US" altLang="en-US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cs typeface="+mn-lt"/>
                        </a:rPr>
                        <a:t>N(0,1)</a:t>
                      </a:r>
                      <a:endParaRPr lang="en-US" altLang="en-US" sz="10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54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x2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cs typeface="+mn-lt"/>
                          <a:sym typeface="+mn-ea"/>
                        </a:rPr>
                        <a:t>N(0,1)</a:t>
                      </a:r>
                      <a:endParaRPr lang="en-US" altLang="en-US" sz="1000">
                        <a:cs typeface="+mn-lt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cs typeface="+mn-lt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54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x3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cs typeface="+mn-lt"/>
                          <a:sym typeface="+mn-ea"/>
                        </a:rPr>
                        <a:t>N(0,1)</a:t>
                      </a:r>
                      <a:endParaRPr lang="en-US" altLang="en-US" sz="1000">
                        <a:cs typeface="+mn-lt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cs typeface="+mn-lt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65468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x4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cs typeface="+mn-lt"/>
                          <a:sym typeface="+mn-ea"/>
                        </a:rPr>
                        <a:t>N(0,1)</a:t>
                      </a:r>
                      <a:endParaRPr lang="en-US" altLang="en-US" sz="1000">
                        <a:cs typeface="+mn-lt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cs typeface="+mn-lt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40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...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cs typeface="+mn-lt"/>
                          <a:sym typeface="+mn-ea"/>
                        </a:rPr>
                        <a:t>N(0,1)</a:t>
                      </a:r>
                      <a:endParaRPr lang="en-US" altLang="en-US" sz="1000">
                        <a:cs typeface="+mn-lt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cs typeface="+mn-lt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cs typeface="+mn-lt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  <a:tr h="37401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800">
                          <a:cs typeface="+mn-lt"/>
                        </a:rPr>
                        <a:t>...</a:t>
                      </a:r>
                      <a:endParaRPr lang="en-US" altLang="zh-CN" sz="1800">
                        <a:cs typeface="+mn-lt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000">
                          <a:cs typeface="+mn-lt"/>
                          <a:sym typeface="+mn-ea"/>
                        </a:rPr>
                        <a:t>N(0,1)</a:t>
                      </a:r>
                      <a:endParaRPr lang="en-US" altLang="en-US" sz="1000">
                        <a:cs typeface="+mn-lt"/>
                        <a:sym typeface="+mn-ea"/>
                      </a:endParaRPr>
                    </a:p>
                    <a:p>
                      <a:pPr>
                        <a:buNone/>
                      </a:pPr>
                      <a:endParaRPr lang="en-US" altLang="en-US" sz="1000">
                        <a:cs typeface="+mn-lt"/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399790" y="2241550"/>
            <a:ext cx="53924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2023/</a:t>
            </a:r>
            <a:r>
              <a:rPr lang="en-US" altLang="en-US" sz="4000"/>
              <a:t>07/10</a:t>
            </a:r>
            <a:endParaRPr lang="en-US" altLang="en-US" sz="400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论文关键点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标签自适应混合方法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Label-Adaptive Mixup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24" name="图片 24" descr="Screenshot from 2023-07-10 14-39-1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8770" y="1287780"/>
            <a:ext cx="4090670" cy="54749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4517390" y="2319655"/>
            <a:ext cx="461137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Arial" panose="02080604020202020204" pitchFamily="34" charset="0"/>
              <a:buChar char="•"/>
            </a:pPr>
            <a:r>
              <a:rPr lang="zh-CN">
                <a:cs typeface="SimSun" charset="0"/>
                <a:sym typeface="+mn-ea"/>
              </a:rPr>
              <a:t>修改</a:t>
            </a:r>
            <a:r>
              <a:rPr lang="en-US">
                <a:latin typeface="Calibri" charset="0"/>
                <a:cs typeface="SimSun" charset="0"/>
                <a:sym typeface="+mn-ea"/>
              </a:rPr>
              <a:t>hu-bert</a:t>
            </a:r>
            <a:r>
              <a:rPr lang="zh-CN">
                <a:cs typeface="SimSun" charset="0"/>
                <a:sym typeface="+mn-ea"/>
              </a:rPr>
              <a:t>提出标签自适应混合方法中心损失</a:t>
            </a:r>
            <a:r>
              <a:rPr lang="en-US">
                <a:latin typeface="Calibri" charset="0"/>
                <a:cs typeface="SimSun" charset="0"/>
                <a:sym typeface="+mn-ea"/>
              </a:rPr>
              <a:t>+</a:t>
            </a:r>
            <a:r>
              <a:rPr lang="zh-CN">
                <a:cs typeface="SimSun" charset="0"/>
                <a:sym typeface="+mn-ea"/>
              </a:rPr>
              <a:t>识别损失</a:t>
            </a:r>
            <a:endParaRPr lang="zh-CN" altLang="en-US"/>
          </a:p>
          <a:p>
            <a:endParaRPr lang="en-US" altLang="zh-CN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31" descr="Screenshot from 2023-07-10 14-59-0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3563" y="463233"/>
            <a:ext cx="5295265" cy="3923665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加噪声(现实意义的)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多次分类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60" name="图片 60" descr="1160281-20181216215120003-104470739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" y="1041718"/>
            <a:ext cx="5514340" cy="3218815"/>
          </a:xfrm>
          <a:prstGeom prst="rect">
            <a:avLst/>
          </a:prstGeom>
        </p:spPr>
      </p:pic>
      <p:graphicFrame>
        <p:nvGraphicFramePr>
          <p:cNvPr id="3" name="表格 2"/>
          <p:cNvGraphicFramePr/>
          <p:nvPr/>
        </p:nvGraphicFramePr>
        <p:xfrm>
          <a:off x="6024880" y="1205230"/>
          <a:ext cx="5359400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9850"/>
                <a:gridCol w="1339850"/>
                <a:gridCol w="1339850"/>
                <a:gridCol w="1339850"/>
              </a:tblGrid>
              <a:tr h="381000">
                <a:tc gridSpan="4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四分类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H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表格 3"/>
          <p:cNvGraphicFramePr/>
          <p:nvPr/>
        </p:nvGraphicFramePr>
        <p:xfrm>
          <a:off x="6024880" y="3048000"/>
          <a:ext cx="1785620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2810"/>
                <a:gridCol w="892810"/>
              </a:tblGrid>
              <a:tr h="38100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二</a:t>
                      </a:r>
                      <a:r>
                        <a:rPr lang="en-US" altLang="zh-CN"/>
                        <a:t>分类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表格 4"/>
          <p:cNvGraphicFramePr/>
          <p:nvPr/>
        </p:nvGraphicFramePr>
        <p:xfrm>
          <a:off x="8140065" y="3048000"/>
          <a:ext cx="1785620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2810"/>
                <a:gridCol w="892810"/>
              </a:tblGrid>
              <a:tr h="38100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二</a:t>
                      </a:r>
                      <a:r>
                        <a:rPr lang="en-US" altLang="zh-CN"/>
                        <a:t>分类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S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表格 5"/>
          <p:cNvGraphicFramePr/>
          <p:nvPr/>
        </p:nvGraphicFramePr>
        <p:xfrm>
          <a:off x="10161905" y="3048000"/>
          <a:ext cx="1785620" cy="76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92810"/>
                <a:gridCol w="892810"/>
              </a:tblGrid>
              <a:tr h="381000"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二</a:t>
                      </a:r>
                      <a:r>
                        <a:rPr lang="en-US" altLang="zh-CN"/>
                        <a:t>分类</a:t>
                      </a:r>
                      <a:endParaRPr lang="en-US" altLang="zh-CN"/>
                    </a:p>
                  </a:txBody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N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en-US"/>
                        <a:t>H</a:t>
                      </a:r>
                      <a:endParaRPr lang="en-US" altLang="en-US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7" name="曲线连接符 6"/>
          <p:cNvCxnSpPr>
            <a:endCxn id="4" idx="0"/>
          </p:cNvCxnSpPr>
          <p:nvPr/>
        </p:nvCxnSpPr>
        <p:spPr>
          <a:xfrm rot="5400000" flipV="1">
            <a:off x="6222365" y="2352675"/>
            <a:ext cx="1082040" cy="308610"/>
          </a:xfrm>
          <a:prstGeom prst="curvedConnector3">
            <a:avLst>
              <a:gd name="adj1" fmla="val 50059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曲线连接符 7"/>
          <p:cNvCxnSpPr>
            <a:endCxn id="5" idx="0"/>
          </p:cNvCxnSpPr>
          <p:nvPr/>
        </p:nvCxnSpPr>
        <p:spPr>
          <a:xfrm>
            <a:off x="6598920" y="1976120"/>
            <a:ext cx="2433955" cy="1071880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曲线连接符 8"/>
          <p:cNvCxnSpPr>
            <a:endCxn id="6" idx="0"/>
          </p:cNvCxnSpPr>
          <p:nvPr/>
        </p:nvCxnSpPr>
        <p:spPr>
          <a:xfrm>
            <a:off x="6609080" y="1955165"/>
            <a:ext cx="4445635" cy="1092835"/>
          </a:xfrm>
          <a:prstGeom prst="curved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图片 33" descr="Screenshot from 2023-07-10 20-25-12"/>
          <p:cNvPicPr>
            <a:picLocks noChangeAspect="1"/>
          </p:cNvPicPr>
          <p:nvPr/>
        </p:nvPicPr>
        <p:blipFill>
          <a:blip r:embed="rId2"/>
          <a:srcRect b="3842"/>
          <a:stretch>
            <a:fillRect/>
          </a:stretch>
        </p:blipFill>
        <p:spPr>
          <a:xfrm>
            <a:off x="6269355" y="3896995"/>
            <a:ext cx="4643755" cy="287655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400">
                <a:solidFill>
                  <a:schemeClr val="tx1"/>
                </a:solidFill>
                <a:sym typeface="+mn-ea"/>
              </a:rPr>
              <a:t> 流形算法</a:t>
            </a:r>
            <a:endParaRPr lang="en-US" altLang="zh-CN" sz="140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75460" y="1361440"/>
            <a:ext cx="86410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流形学习（manifold learning）假设数据在高维空间的分布位于某一更低维的流形</a:t>
            </a:r>
            <a:endParaRPr lang="en-US" altLang="zh-CN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3399790" y="2241550"/>
            <a:ext cx="539242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4000"/>
              <a:t>2023/</a:t>
            </a:r>
            <a:r>
              <a:rPr lang="en-US" altLang="en-US" sz="4000"/>
              <a:t>10/20</a:t>
            </a:r>
            <a:endParaRPr lang="en-US" altLang="en-US" sz="400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Retnet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3020695" y="224155"/>
          <a:ext cx="6149975" cy="152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4840"/>
                <a:gridCol w="712470"/>
                <a:gridCol w="1174115"/>
                <a:gridCol w="2648585"/>
                <a:gridCol w="989965"/>
              </a:tblGrid>
              <a:tr h="381000">
                <a:tc rowSpan="4">
                  <a:txBody>
                    <a:bodyPr/>
                    <a:p>
                      <a:pPr algn="ctr">
                        <a:lnSpc>
                          <a:spcPct val="370000"/>
                        </a:lnSpc>
                        <a:buNone/>
                      </a:pPr>
                      <a:r>
                        <a:rPr lang="en-US" altLang="en-US" sz="1200" b="0">
                          <a:solidFill>
                            <a:schemeClr val="tx1"/>
                          </a:solidFill>
                        </a:rPr>
                        <a:t>batch</a:t>
                      </a:r>
                      <a:endParaRPr lang="en-US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chemeClr val="tx1"/>
                          </a:solidFill>
                        </a:rPr>
                        <a:t>list 1</a:t>
                      </a:r>
                      <a:endParaRPr lang="en-US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chemeClr val="tx1"/>
                          </a:solidFill>
                          <a:sym typeface="+mn-ea"/>
                        </a:rPr>
                        <a:t>tensor(32,72)</a:t>
                      </a:r>
                      <a:endParaRPr lang="en-US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 b="0">
                          <a:solidFill>
                            <a:schemeClr val="tx1"/>
                          </a:solidFill>
                        </a:rPr>
                        <a:t>32样本72字符在词汇总表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索引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seqs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sym typeface="+mn-ea"/>
                        </a:rPr>
                        <a:t>list 2</a:t>
                      </a:r>
                      <a:endParaRPr lang="en-US" altLang="en-US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sym typeface="+mn-ea"/>
                        </a:rPr>
                        <a:t>tensor(32,72)</a:t>
                      </a:r>
                      <a:endParaRPr lang="en-US" altLang="zh-CN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/>
                        <a:t>前后句信息，</a:t>
                      </a:r>
                      <a:r>
                        <a:rPr lang="en-US" altLang="zh-CN" sz="1200" b="0"/>
                        <a:t>0前句，1后句，2空符</a:t>
                      </a:r>
                      <a:endParaRPr lang="en-US" altLang="zh-CN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sym typeface="+mn-ea"/>
                        </a:rPr>
                        <a:t>segs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sym typeface="+mn-ea"/>
                        </a:rPr>
                        <a:t>list 3</a:t>
                      </a:r>
                      <a:endParaRPr lang="en-US" altLang="en-US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tensor(32,2)</a:t>
                      </a:r>
                      <a:endParaRPr lang="en-US" altLang="zh-CN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200" b="0"/>
                        <a:t>一行</a:t>
                      </a:r>
                      <a:r>
                        <a:rPr lang="zh-CN" altLang="en-US" sz="1200" b="0"/>
                        <a:t>两句话</a:t>
                      </a:r>
                      <a:r>
                        <a:rPr lang="en-US" altLang="zh-CN" sz="1200" b="0"/>
                        <a:t>各自</a:t>
                      </a:r>
                      <a:r>
                        <a:rPr lang="zh-CN" altLang="en-US" sz="1200" b="0"/>
                        <a:t>长度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sym typeface="+mn-ea"/>
                        </a:rPr>
                        <a:t>xlen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200">
                          <a:solidFill>
                            <a:schemeClr val="tx1"/>
                          </a:solidFill>
                          <a:sym typeface="+mn-ea"/>
                        </a:rPr>
                        <a:t>list 4</a:t>
                      </a:r>
                      <a:endParaRPr lang="en-US" altLang="en-US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tensor(32,</a:t>
                      </a:r>
                      <a:r>
                        <a:rPr lang="en-US" altLang="zh-CN" sz="1200">
                          <a:sym typeface="+mn-ea"/>
                        </a:rPr>
                        <a:t>1</a:t>
                      </a:r>
                      <a:r>
                        <a:rPr lang="zh-CN" altLang="en-US" sz="1200">
                          <a:sym typeface="+mn-ea"/>
                        </a:rPr>
                        <a:t>)</a:t>
                      </a:r>
                      <a:endParaRPr lang="zh-CN" altLang="en-US" sz="1200"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 b="0"/>
                        <a:t>标签  array([0])  0or1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1200">
                          <a:solidFill>
                            <a:schemeClr val="tx1"/>
                          </a:solidFill>
                          <a:sym typeface="+mn-ea"/>
                        </a:rPr>
                        <a:t>nsp_labels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6" name="图片 5" descr="2023"/>
          <p:cNvPicPr>
            <a:picLocks noChangeAspect="1"/>
          </p:cNvPicPr>
          <p:nvPr/>
        </p:nvPicPr>
        <p:blipFill>
          <a:blip r:embed="rId1"/>
          <a:srcRect l="1522" t="5556" r="2158" b="4400"/>
          <a:stretch>
            <a:fillRect/>
          </a:stretch>
        </p:blipFill>
        <p:spPr>
          <a:xfrm>
            <a:off x="2772410" y="2008505"/>
            <a:ext cx="6348095" cy="2573020"/>
          </a:xfrm>
          <a:prstGeom prst="rect">
            <a:avLst/>
          </a:prstGeom>
        </p:spPr>
      </p:pic>
      <p:pic>
        <p:nvPicPr>
          <p:cNvPr id="8" name="图片 7" descr="2023 (3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855" y="4790440"/>
            <a:ext cx="874268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Screenshot from 2023-10-21 15-33-38"/>
          <p:cNvPicPr>
            <a:picLocks noChangeAspect="1"/>
          </p:cNvPicPr>
          <p:nvPr/>
        </p:nvPicPr>
        <p:blipFill>
          <a:blip r:embed="rId1"/>
          <a:srcRect l="4363" t="3922"/>
          <a:stretch>
            <a:fillRect/>
          </a:stretch>
        </p:blipFill>
        <p:spPr>
          <a:xfrm>
            <a:off x="367665" y="400050"/>
            <a:ext cx="6166485" cy="2799715"/>
          </a:xfrm>
          <a:prstGeom prst="rect">
            <a:avLst/>
          </a:prstGeom>
        </p:spPr>
      </p:pic>
      <p:pic>
        <p:nvPicPr>
          <p:cNvPr id="5" name="图片 4" descr="Screenshot from 2023-10-21 15-35-3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1445" y="3335020"/>
            <a:ext cx="2363470" cy="3101975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Retnet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86360" y="1090930"/>
            <a:ext cx="3688080" cy="2633980"/>
            <a:chOff x="726" y="2554"/>
            <a:chExt cx="5808" cy="4148"/>
          </a:xfrm>
        </p:grpSpPr>
        <p:sp>
          <p:nvSpPr>
            <p:cNvPr id="7" name="圆角矩形 6"/>
            <p:cNvSpPr/>
            <p:nvPr/>
          </p:nvSpPr>
          <p:spPr>
            <a:xfrm>
              <a:off x="1095" y="3046"/>
              <a:ext cx="2607" cy="150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en-US" altLang="zh-CN"/>
                <a:t> Retentions</a:t>
              </a:r>
              <a:endParaRPr lang="en-US" altLang="zh-CN"/>
            </a:p>
          </p:txBody>
        </p:sp>
        <p:sp>
          <p:nvSpPr>
            <p:cNvPr id="8" name="圆角矩形 7"/>
            <p:cNvSpPr/>
            <p:nvPr/>
          </p:nvSpPr>
          <p:spPr>
            <a:xfrm>
              <a:off x="1095" y="4755"/>
              <a:ext cx="2607" cy="1508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p>
              <a:pPr algn="ctr"/>
              <a:r>
                <a:rPr lang="en-US" altLang="en-US"/>
                <a:t>FFN</a:t>
              </a:r>
              <a:r>
                <a:rPr lang="en-US" altLang="zh-CN"/>
                <a:t>s</a:t>
              </a:r>
              <a:endParaRPr lang="en-US" altLang="zh-CN"/>
            </a:p>
          </p:txBody>
        </p:sp>
        <p:sp>
          <p:nvSpPr>
            <p:cNvPr id="9" name="圆角矩形 8"/>
            <p:cNvSpPr/>
            <p:nvPr/>
          </p:nvSpPr>
          <p:spPr>
            <a:xfrm>
              <a:off x="726" y="2554"/>
              <a:ext cx="3346" cy="4149"/>
            </a:xfrm>
            <a:prstGeom prst="round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3937" y="3684"/>
              <a:ext cx="975" cy="188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r>
                <a:rPr lang="zh-CN" altLang="en-US" sz="7200">
                  <a:latin typeface="Arial" panose="02080604020202020204" pitchFamily="34" charset="0"/>
                </a:rPr>
                <a:t>×</a:t>
              </a:r>
              <a:endParaRPr lang="zh-CN" altLang="en-US" sz="7200">
                <a:latin typeface="Arial" panose="02080604020202020204" pitchFamily="34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4534" y="4121"/>
              <a:ext cx="2000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ctr"/>
              <a:r>
                <a:rPr lang="zh-CN" altLang="en-US"/>
                <a:t>layers</a:t>
              </a:r>
              <a:endParaRPr lang="zh-CN" altLang="en-US"/>
            </a:p>
            <a:p>
              <a:pPr algn="ctr"/>
              <a:r>
                <a:rPr lang="en-US" altLang="zh-CN"/>
                <a:t>(3)</a:t>
              </a:r>
              <a:endParaRPr lang="en-US" altLang="zh-CN"/>
            </a:p>
          </p:txBody>
        </p:sp>
      </p:grpSp>
      <p:pic>
        <p:nvPicPr>
          <p:cNvPr id="17" name="图片 16" descr="2023 (6)"/>
          <p:cNvPicPr>
            <a:picLocks noChangeAspect="1"/>
          </p:cNvPicPr>
          <p:nvPr/>
        </p:nvPicPr>
        <p:blipFill>
          <a:blip r:embed="rId1"/>
          <a:srcRect t="2660" b="2354"/>
          <a:stretch>
            <a:fillRect/>
          </a:stretch>
        </p:blipFill>
        <p:spPr>
          <a:xfrm>
            <a:off x="3367405" y="135255"/>
            <a:ext cx="5457190" cy="6712585"/>
          </a:xfrm>
          <a:prstGeom prst="rect">
            <a:avLst/>
          </a:prstGeom>
        </p:spPr>
      </p:pic>
      <p:pic>
        <p:nvPicPr>
          <p:cNvPr id="19" name="图片 18" descr="2023 (9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9530" y="390525"/>
            <a:ext cx="2809240" cy="595249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gelu_viz-1"/>
          <p:cNvPicPr>
            <a:picLocks noChangeAspect="1"/>
          </p:cNvPicPr>
          <p:nvPr/>
        </p:nvPicPr>
        <p:blipFill>
          <a:blip r:embed="rId1"/>
          <a:srcRect l="2588" r="3933"/>
          <a:stretch>
            <a:fillRect/>
          </a:stretch>
        </p:blipFill>
        <p:spPr>
          <a:xfrm>
            <a:off x="68580" y="1130935"/>
            <a:ext cx="9402445" cy="3636645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Retnet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5" name="图片 14" descr="2023 (5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0075" y="548640"/>
            <a:ext cx="5171440" cy="6219190"/>
          </a:xfrm>
          <a:prstGeom prst="rect">
            <a:avLst/>
          </a:prstGeom>
        </p:spPr>
      </p:pic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Retnet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16585" y="690245"/>
            <a:ext cx="10003790" cy="54775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400"/>
              <a:t>RetNet(</a:t>
            </a:r>
            <a:endParaRPr lang="zh-CN" altLang="en-US" sz="1400"/>
          </a:p>
          <a:p>
            <a:r>
              <a:rPr lang="zh-CN" altLang="en-US" sz="1400"/>
              <a:t>  (retentions): ModuleList(</a:t>
            </a:r>
            <a:endParaRPr lang="zh-CN" altLang="en-US" sz="1400"/>
          </a:p>
          <a:p>
            <a:r>
              <a:rPr lang="zh-CN" altLang="en-US" sz="1400"/>
              <a:t>    (0-2): 3 x MultiScaleRetention(</a:t>
            </a:r>
            <a:endParaRPr lang="zh-CN" altLang="en-US" sz="1400"/>
          </a:p>
          <a:p>
            <a:r>
              <a:rPr lang="zh-CN" altLang="en-US" sz="1400"/>
              <a:t>      (group_norm): GroupNorm(2, 512, eps=1e-05, affine=True)</a:t>
            </a:r>
            <a:endParaRPr lang="zh-CN" altLang="en-US" sz="1400"/>
          </a:p>
          <a:p>
            <a:r>
              <a:rPr lang="zh-CN" altLang="en-US" sz="1400"/>
              <a:t>      (retentions): ModuleList(</a:t>
            </a:r>
            <a:endParaRPr lang="zh-CN" altLang="en-US" sz="1400"/>
          </a:p>
          <a:p>
            <a:r>
              <a:rPr lang="zh-CN" altLang="en-US" sz="1400"/>
              <a:t>        (0-1): 2 x SimpleRetention(</a:t>
            </a:r>
            <a:endParaRPr lang="zh-CN" altLang="en-US" sz="1400"/>
          </a:p>
          <a:p>
            <a:r>
              <a:rPr lang="zh-CN" altLang="en-US" sz="1400"/>
              <a:t>          (xpos): XPOS()</a:t>
            </a:r>
            <a:endParaRPr lang="zh-CN" altLang="en-US" sz="1400"/>
          </a:p>
          <a:p>
            <a:r>
              <a:rPr lang="zh-CN" altLang="en-US" sz="1400"/>
              <a:t>        )</a:t>
            </a:r>
            <a:endParaRPr lang="zh-CN" altLang="en-US" sz="1400"/>
          </a:p>
          <a:p>
            <a:r>
              <a:rPr lang="zh-CN" altLang="en-US" sz="1400"/>
              <a:t>      )</a:t>
            </a:r>
            <a:endParaRPr lang="zh-CN" altLang="en-US" sz="1400"/>
          </a:p>
          <a:p>
            <a:r>
              <a:rPr lang="zh-CN" altLang="en-US" sz="1400"/>
              <a:t>    )</a:t>
            </a:r>
            <a:endParaRPr lang="zh-CN" altLang="en-US" sz="1400"/>
          </a:p>
          <a:p>
            <a:r>
              <a:rPr lang="zh-CN" altLang="en-US" sz="1400"/>
              <a:t>  )</a:t>
            </a:r>
            <a:endParaRPr lang="zh-CN" altLang="en-US" sz="1400"/>
          </a:p>
          <a:p>
            <a:r>
              <a:rPr lang="zh-CN" altLang="en-US" sz="1400"/>
              <a:t>  (ffns): ModuleList(</a:t>
            </a:r>
            <a:endParaRPr lang="zh-CN" altLang="en-US" sz="1400"/>
          </a:p>
          <a:p>
            <a:r>
              <a:rPr lang="zh-CN" altLang="en-US" sz="1400"/>
              <a:t>    (0-2): 3 x Sequential(</a:t>
            </a:r>
            <a:endParaRPr lang="zh-CN" altLang="en-US" sz="1400"/>
          </a:p>
          <a:p>
            <a:r>
              <a:rPr lang="zh-CN" altLang="en-US" sz="1400"/>
              <a:t>      (0): Linear(in_features=256, out_features=512, bias=True)</a:t>
            </a:r>
            <a:endParaRPr lang="zh-CN" altLang="en-US" sz="1400"/>
          </a:p>
          <a:p>
            <a:r>
              <a:rPr lang="zh-CN" altLang="en-US" sz="1400"/>
              <a:t>      (1): GELU(approximate='none')</a:t>
            </a:r>
            <a:endParaRPr lang="zh-CN" altLang="en-US" sz="1400"/>
          </a:p>
          <a:p>
            <a:r>
              <a:rPr lang="zh-CN" altLang="en-US" sz="1400"/>
              <a:t>      (2): Linear(in_features=512, out_features=256, bias=True)</a:t>
            </a:r>
            <a:endParaRPr lang="zh-CN" altLang="en-US" sz="1400"/>
          </a:p>
          <a:p>
            <a:r>
              <a:rPr lang="zh-CN" altLang="en-US" sz="1400"/>
              <a:t>    )</a:t>
            </a:r>
            <a:endParaRPr lang="zh-CN" altLang="en-US" sz="1400"/>
          </a:p>
          <a:p>
            <a:r>
              <a:rPr lang="zh-CN" altLang="en-US" sz="1400"/>
              <a:t>  )</a:t>
            </a:r>
            <a:endParaRPr lang="zh-CN" altLang="en-US" sz="1400"/>
          </a:p>
          <a:p>
            <a:r>
              <a:rPr lang="zh-CN" altLang="en-US" sz="1400"/>
              <a:t>  (layer_norms_1): ModuleList(</a:t>
            </a:r>
            <a:endParaRPr lang="zh-CN" altLang="en-US" sz="1400"/>
          </a:p>
          <a:p>
            <a:r>
              <a:rPr lang="zh-CN" altLang="en-US" sz="1400"/>
              <a:t>    (0-2): 3 x LayerNorm((256,), eps=1e-05, elementwise_affine=True)</a:t>
            </a:r>
            <a:endParaRPr lang="zh-CN" altLang="en-US" sz="1400"/>
          </a:p>
          <a:p>
            <a:r>
              <a:rPr lang="zh-CN" altLang="en-US" sz="1400"/>
              <a:t>  )</a:t>
            </a:r>
            <a:endParaRPr lang="zh-CN" altLang="en-US" sz="1400"/>
          </a:p>
          <a:p>
            <a:r>
              <a:rPr lang="zh-CN" altLang="en-US" sz="1400"/>
              <a:t>  (layer_norms_2): ModuleList(</a:t>
            </a:r>
            <a:endParaRPr lang="zh-CN" altLang="en-US" sz="1400"/>
          </a:p>
          <a:p>
            <a:r>
              <a:rPr lang="zh-CN" altLang="en-US" sz="1400"/>
              <a:t>    (0-2): 3 x LayerNorm((256,), eps=1e-05, elementwise_affine=True)</a:t>
            </a:r>
            <a:endParaRPr lang="zh-CN" altLang="en-US" sz="1400"/>
          </a:p>
          <a:p>
            <a:r>
              <a:rPr lang="zh-CN" altLang="en-US" sz="1400"/>
              <a:t>  )</a:t>
            </a:r>
            <a:endParaRPr lang="zh-CN" altLang="en-US" sz="1400"/>
          </a:p>
          <a:p>
            <a:r>
              <a:rPr lang="zh-CN" altLang="en-US" sz="1400"/>
              <a:t>)</a:t>
            </a:r>
            <a:endParaRPr lang="zh-CN" altLang="en-US" sz="140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PainAtnNet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208915" y="1498600"/>
          <a:ext cx="4662805" cy="39897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6115"/>
                <a:gridCol w="666115"/>
                <a:gridCol w="666115"/>
                <a:gridCol w="666115"/>
                <a:gridCol w="666115"/>
              </a:tblGrid>
              <a:tr h="27432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gridSpan="2"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样本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h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7">
                  <a:txBody>
                    <a:bodyPr/>
                    <a:p>
                      <a:pPr algn="ctr">
                        <a:buNone/>
                      </a:pP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分类器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29615">
                <a:tc rowSpan="6">
                  <a:txBody>
                    <a:bodyPr/>
                    <a:p>
                      <a:pPr algn="ctr">
                        <a:buNone/>
                      </a:pP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BioVid热疼痛数据库</a:t>
                      </a:r>
                      <a:endParaRPr lang="zh-CN" altLang="en-US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rowSpan="2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solidFill>
                            <a:srgbClr val="FF0000"/>
                          </a:solidFill>
                        </a:rPr>
                        <a:t>皮肤电活动（EDA）</a:t>
                      </a:r>
                      <a:endParaRPr lang="zh-CN" altLang="en-US" sz="12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皮肤电导水平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zh-CN" altLang="en-US" sz="1200" b="0">
                          <a:solidFill>
                            <a:schemeClr val="tx1"/>
                          </a:solidFill>
                        </a:rPr>
                        <a:t>SCL</a:t>
                      </a: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</a:rPr>
                        <a:t>支持向量机（SVM）</a:t>
                      </a:r>
                      <a:endParaRPr lang="en-US" altLang="zh-CN" sz="1200" b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29615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皮肤电导反应</a:t>
                      </a:r>
                      <a:r>
                        <a:rPr lang="en-US" altLang="zh-CN" sz="1200">
                          <a:sym typeface="+mn-ea"/>
                        </a:rPr>
                        <a:t>(</a:t>
                      </a:r>
                      <a:r>
                        <a:rPr lang="zh-CN" altLang="en-US" sz="1200">
                          <a:sym typeface="+mn-ea"/>
                        </a:rPr>
                        <a:t>SCR</a:t>
                      </a:r>
                      <a:r>
                        <a:rPr lang="en-US" altLang="zh-CN" sz="1200">
                          <a:sym typeface="+mn-ea"/>
                        </a:rPr>
                        <a:t>)</a:t>
                      </a:r>
                      <a:endParaRPr lang="en-US" altLang="zh-CN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0">
                          <a:solidFill>
                            <a:schemeClr val="tx1"/>
                          </a:solidFill>
                          <a:sym typeface="+mn-ea"/>
                        </a:rPr>
                        <a:t>k近邻（KNN）</a:t>
                      </a:r>
                      <a:endParaRPr lang="en-US" altLang="zh-CN" sz="1200" b="0">
                        <a:solidFill>
                          <a:schemeClr val="tx1"/>
                        </a:solidFill>
                        <a:sym typeface="+mn-ea"/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97535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/>
                        <a:t>心电图（ECG）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/>
                        <a:t>贝叶斯模型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29615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/>
                        <a:t>肌电图（EMG）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/>
                        <a:t>回归模型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96900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>
                          <a:sym typeface="+mn-ea"/>
                        </a:rPr>
                        <a:t>脑电图（EEG）</a:t>
                      </a: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1200" b="0"/>
                        <a:t> </a:t>
                      </a:r>
                      <a:r>
                        <a:rPr lang="zh-CN" altLang="en-US" sz="1200" b="0">
                          <a:solidFill>
                            <a:srgbClr val="FF0000"/>
                          </a:solidFill>
                        </a:rPr>
                        <a:t>tree-based mode</a:t>
                      </a:r>
                      <a:r>
                        <a:rPr lang="en-US" altLang="zh-CN" sz="1200" b="0">
                          <a:solidFill>
                            <a:srgbClr val="FF0000"/>
                          </a:solidFill>
                        </a:rPr>
                        <a:t>l</a:t>
                      </a:r>
                      <a:endParaRPr lang="en-US" altLang="zh-CN" sz="1200" b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32105"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1200" b="0"/>
                        <a:t>video</a:t>
                      </a:r>
                      <a:endParaRPr lang="en-US" altLang="zh-CN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 vMerge="1"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 sz="1200" b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mpd="sng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4" name="图片 14" descr="Screenshot from 2023-10-24 16-46-4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43680" y="1072833"/>
            <a:ext cx="3971290" cy="5668645"/>
          </a:xfrm>
          <a:prstGeom prst="rect">
            <a:avLst/>
          </a:prstGeom>
        </p:spPr>
      </p:pic>
      <p:sp>
        <p:nvSpPr>
          <p:cNvPr id="8" name="圆角矩形标注 7"/>
          <p:cNvSpPr/>
          <p:nvPr/>
        </p:nvSpPr>
        <p:spPr>
          <a:xfrm>
            <a:off x="6494145" y="562610"/>
            <a:ext cx="1280795" cy="510540"/>
          </a:xfrm>
          <a:prstGeom prst="wedgeRoundRectCallout">
            <a:avLst>
              <a:gd name="adj1" fmla="val -34131"/>
              <a:gd name="adj2" fmla="val 6251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r>
              <a:rPr lang="en-US" altLang="zh-CN"/>
              <a:t> MSCN</a:t>
            </a:r>
            <a:endParaRPr lang="en-US" altLang="zh-CN"/>
          </a:p>
        </p:txBody>
      </p:sp>
      <p:sp>
        <p:nvSpPr>
          <p:cNvPr id="9" name="文本框 8"/>
          <p:cNvSpPr txBox="1"/>
          <p:nvPr/>
        </p:nvSpPr>
        <p:spPr>
          <a:xfrm>
            <a:off x="8014970" y="958850"/>
            <a:ext cx="40798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/>
              <a:t>EDA信号本质上是非平稳</a:t>
            </a:r>
            <a:r>
              <a:rPr lang="en-US" altLang="zh-CN"/>
              <a:t>的信号</a:t>
            </a:r>
            <a:endParaRPr lang="en-US" altLang="zh-CN"/>
          </a:p>
          <a:p>
            <a:pPr algn="ctr"/>
            <a:r>
              <a:rPr lang="en-US" altLang="zh-CN"/>
              <a:t>通过利用窗口不同的卷积层进行卷积</a:t>
            </a:r>
            <a:endParaRPr lang="en-US" altLang="zh-CN"/>
          </a:p>
        </p:txBody>
      </p:sp>
      <p:pic>
        <p:nvPicPr>
          <p:cNvPr id="24" name="图片 24" descr="Screenshot from 2023-10-24 19-46-3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2135" y="1832610"/>
            <a:ext cx="372618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圆角矩形 12"/>
          <p:cNvSpPr/>
          <p:nvPr/>
        </p:nvSpPr>
        <p:spPr>
          <a:xfrm>
            <a:off x="4445" y="12700"/>
            <a:ext cx="1991360" cy="94615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400">
                <a:solidFill>
                  <a:schemeClr val="tx1"/>
                </a:solidFill>
                <a:sym typeface="+mn-ea"/>
              </a:rPr>
              <a:t>PainAtnNet</a:t>
            </a:r>
            <a:endParaRPr lang="en-US" altLang="en-US" sz="1400">
              <a:solidFill>
                <a:schemeClr val="tx1"/>
              </a:solidFill>
              <a:sym typeface="+mn-ea"/>
            </a:endParaRPr>
          </a:p>
        </p:txBody>
      </p:sp>
      <p:pic>
        <p:nvPicPr>
          <p:cNvPr id="7" name="图片 13" descr="Screenshot from 2023-10-24 16-17-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875" y="1249045"/>
            <a:ext cx="8976360" cy="5357495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文本框 14"/>
          <p:cNvSpPr txBox="1"/>
          <p:nvPr/>
        </p:nvSpPr>
        <p:spPr>
          <a:xfrm>
            <a:off x="972185" y="1835150"/>
            <a:ext cx="1477010" cy="306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zh-CN" altLang="en-US" sz="1400">
                <a:sym typeface="+mn-ea"/>
              </a:rPr>
              <a:t>基于声学模型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76275" y="1692910"/>
            <a:ext cx="2325370" cy="268351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793115" y="2612390"/>
            <a:ext cx="1835785" cy="306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zh-CN" altLang="en-US" sz="1400">
                <a:sym typeface="+mn-ea"/>
              </a:rPr>
              <a:t>基于关键词检测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72185" y="3494405"/>
            <a:ext cx="873125" cy="306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en-US" altLang="en-US" sz="1400">
                <a:latin typeface="Microsoft YaHei" charset="-122"/>
                <a:ea typeface="Microsoft YaHei" charset="-122"/>
              </a:rPr>
              <a:t>......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灯片编号占位符 1"/>
          <p:cNvSpPr>
            <a:spLocks noGrp="1"/>
          </p:cNvSpPr>
          <p:nvPr>
            <p:ph type="sldNum" sz="quarter" idx="15"/>
          </p:nvPr>
        </p:nvSpPr>
        <p:spPr>
          <a:xfrm>
            <a:off x="9409854" y="6461005"/>
            <a:ext cx="2743200" cy="365125"/>
          </a:xfrm>
        </p:spPr>
        <p:txBody>
          <a:bodyPr/>
          <a:p>
            <a:fld id="{C25A37DA-D453-4862-9A15-A08ACB05482A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6" name="文本框 35"/>
          <p:cNvSpPr txBox="1"/>
          <p:nvPr/>
        </p:nvSpPr>
        <p:spPr>
          <a:xfrm>
            <a:off x="409575" y="4523740"/>
            <a:ext cx="1282065" cy="336649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r>
              <a:rPr lang="en-US" altLang="zh-CN" sz="1400">
                <a:latin typeface="Microsoft YaHei" charset="-122"/>
                <a:ea typeface="Microsoft YaHei" charset="-122"/>
              </a:rPr>
              <a:t>target.pmdl</a:t>
            </a:r>
            <a:endParaRPr lang="en-US" altLang="zh-CN" sz="1400">
              <a:latin typeface="Microsoft YaHei" charset="-122"/>
              <a:ea typeface="Microsoft YaHei" charset="-122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2319020" y="4349115"/>
            <a:ext cx="2297430" cy="1318895"/>
          </a:xfrm>
          <a:prstGeom prst="roundRect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41" name="直接箭头连接符 40"/>
          <p:cNvCxnSpPr/>
          <p:nvPr/>
        </p:nvCxnSpPr>
        <p:spPr>
          <a:xfrm>
            <a:off x="1764030" y="5359400"/>
            <a:ext cx="1057275" cy="444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3" name="圆角矩形 42"/>
          <p:cNvSpPr/>
          <p:nvPr/>
        </p:nvSpPr>
        <p:spPr>
          <a:xfrm>
            <a:off x="2820670" y="4516755"/>
            <a:ext cx="877570" cy="99441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en-US" altLang="zh-CN" sz="1200" b="1">
              <a:solidFill>
                <a:schemeClr val="tx1"/>
              </a:solidFill>
              <a:latin typeface="Microsoft YaHei" charset="-122"/>
              <a:ea typeface="Microsoft YaHei" charset="-122"/>
              <a:sym typeface="+mn-ea"/>
            </a:endParaRPr>
          </a:p>
          <a:p>
            <a:pPr algn="ctr"/>
            <a:r>
              <a:rPr lang="en-US" altLang="zh-CN" sz="1200" b="1">
                <a:solidFill>
                  <a:schemeClr val="tx1"/>
                </a:solidFill>
                <a:latin typeface="Microsoft YaHei" charset="-122"/>
                <a:ea typeface="Microsoft YaHei" charset="-122"/>
                <a:sym typeface="+mn-ea"/>
              </a:rPr>
              <a:t>Model</a:t>
            </a:r>
            <a:endParaRPr lang="en-US" altLang="zh-CN" sz="1200" b="1">
              <a:solidFill>
                <a:schemeClr val="tx1"/>
              </a:solidFill>
              <a:latin typeface="Microsoft YaHei" charset="-122"/>
              <a:ea typeface="Microsoft YaHei" charset="-122"/>
            </a:endParaRPr>
          </a:p>
          <a:p>
            <a:pPr algn="ctr"/>
            <a:endParaRPr lang="en-US" altLang="zh-CN" sz="1200" b="1">
              <a:solidFill>
                <a:schemeClr val="tx1"/>
              </a:solidFill>
              <a:latin typeface="Microsoft YaHei" charset="-122"/>
              <a:ea typeface="Microsoft YaHei" charset="-122"/>
            </a:endParaRPr>
          </a:p>
        </p:txBody>
      </p:sp>
      <p:cxnSp>
        <p:nvCxnSpPr>
          <p:cNvPr id="44" name="直接箭头连接符 43"/>
          <p:cNvCxnSpPr/>
          <p:nvPr>
            <p:custDataLst>
              <p:tags r:id="rId1"/>
            </p:custDataLst>
          </p:nvPr>
        </p:nvCxnSpPr>
        <p:spPr>
          <a:xfrm flipV="1">
            <a:off x="1774825" y="4671695"/>
            <a:ext cx="1046480" cy="1079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3698240" y="4897755"/>
            <a:ext cx="9315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Microsoft YaHei" charset="-122"/>
                <a:ea typeface="Microsoft YaHei" charset="-122"/>
              </a:rPr>
              <a:t>success?</a:t>
            </a:r>
            <a:endParaRPr lang="en-US" altLang="zh-CN" sz="1400">
              <a:latin typeface="Microsoft YaHei" charset="-122"/>
              <a:ea typeface="Microsoft YaHei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781685" y="5204460"/>
            <a:ext cx="7004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400">
                <a:latin typeface="Microsoft YaHei" charset="-122"/>
                <a:ea typeface="Microsoft YaHei" charset="-122"/>
              </a:rPr>
              <a:t>audio</a:t>
            </a:r>
            <a:endParaRPr lang="en-US" altLang="zh-CN" sz="1400">
              <a:latin typeface="Microsoft YaHei" charset="-122"/>
              <a:ea typeface="Microsoft YaHei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1929130" y="1597660"/>
            <a:ext cx="1550035" cy="1318895"/>
          </a:xfrm>
          <a:prstGeom prst="roundRect">
            <a:avLst/>
          </a:prstGeom>
          <a:ln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5" name="直接箭头连接符 4"/>
          <p:cNvCxnSpPr/>
          <p:nvPr/>
        </p:nvCxnSpPr>
        <p:spPr>
          <a:xfrm>
            <a:off x="1773555" y="2612390"/>
            <a:ext cx="668655" cy="0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" name="圆角矩形 5"/>
          <p:cNvSpPr/>
          <p:nvPr/>
        </p:nvSpPr>
        <p:spPr>
          <a:xfrm>
            <a:off x="2430780" y="1765300"/>
            <a:ext cx="877570" cy="99441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sz="1200" b="1">
                <a:solidFill>
                  <a:schemeClr val="tx1"/>
                </a:solidFill>
                <a:latin typeface="Microsoft YaHei" charset="-122"/>
                <a:ea typeface="Microsoft YaHei" charset="-122"/>
                <a:sym typeface="+mn-ea"/>
              </a:rPr>
              <a:t>train</a:t>
            </a:r>
            <a:endParaRPr lang="en-US" altLang="en-US" sz="1200" b="1">
              <a:solidFill>
                <a:schemeClr val="tx1"/>
              </a:solidFill>
              <a:latin typeface="Microsoft YaHei" charset="-122"/>
              <a:ea typeface="Microsoft YaHei" charset="-122"/>
            </a:endParaRPr>
          </a:p>
        </p:txBody>
      </p:sp>
      <p:cxnSp>
        <p:nvCxnSpPr>
          <p:cNvPr id="7" name="直接箭头连接符 6"/>
          <p:cNvCxnSpPr/>
          <p:nvPr>
            <p:custDataLst>
              <p:tags r:id="rId2"/>
            </p:custDataLst>
          </p:nvPr>
        </p:nvCxnSpPr>
        <p:spPr>
          <a:xfrm flipV="1">
            <a:off x="1784350" y="1913255"/>
            <a:ext cx="647065" cy="1905"/>
          </a:xfrm>
          <a:prstGeom prst="straightConnector1">
            <a:avLst/>
          </a:prstGeom>
          <a:ln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34365" y="1662430"/>
            <a:ext cx="873125" cy="306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en-US" altLang="zh-CN" sz="1400">
                <a:latin typeface="Microsoft YaHei" charset="-122"/>
                <a:ea typeface="Microsoft YaHei" charset="-122"/>
              </a:rPr>
              <a:t>audio</a:t>
            </a:r>
            <a:r>
              <a:rPr lang="en-US" altLang="en-US" sz="1400">
                <a:latin typeface="Microsoft YaHei" charset="-122"/>
                <a:ea typeface="Microsoft YaHei" charset="-122"/>
              </a:rPr>
              <a:t>1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338455" y="1520190"/>
            <a:ext cx="1464945" cy="148590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34365" y="2110105"/>
            <a:ext cx="873125" cy="306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en-US" altLang="zh-CN" sz="1400">
                <a:latin typeface="Microsoft YaHei" charset="-122"/>
                <a:ea typeface="Microsoft YaHei" charset="-122"/>
              </a:rPr>
              <a:t>audio</a:t>
            </a:r>
            <a:r>
              <a:rPr lang="en-US" altLang="en-US" sz="1400">
                <a:latin typeface="Microsoft YaHei" charset="-122"/>
                <a:ea typeface="Microsoft YaHei" charset="-122"/>
              </a:rPr>
              <a:t>2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34365" y="2509520"/>
            <a:ext cx="873125" cy="306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en-US" altLang="en-US" sz="1400">
                <a:latin typeface="Microsoft YaHei" charset="-122"/>
                <a:ea typeface="Microsoft YaHei" charset="-122"/>
              </a:rPr>
              <a:t>......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  <p:cxnSp>
        <p:nvCxnSpPr>
          <p:cNvPr id="13" name="肘形连接符 12"/>
          <p:cNvCxnSpPr>
            <a:stCxn id="4" idx="2"/>
            <a:endCxn id="36" idx="0"/>
          </p:cNvCxnSpPr>
          <p:nvPr/>
        </p:nvCxnSpPr>
        <p:spPr>
          <a:xfrm rot="5400000">
            <a:off x="1074103" y="2893378"/>
            <a:ext cx="1607185" cy="1653540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>
            <p:custDataLst>
              <p:tags r:id="rId3"/>
            </p:custDataLst>
          </p:nvPr>
        </p:nvSpPr>
        <p:spPr>
          <a:xfrm>
            <a:off x="5095240" y="1707515"/>
            <a:ext cx="1724025" cy="3803650"/>
          </a:xfrm>
          <a:prstGeom prst="round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lt1"/>
                </a:solidFill>
              </a14:hiddenFill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  <a:sym typeface="+mn-ea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5257800" y="1866900"/>
            <a:ext cx="1322705" cy="1162685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文本框 22"/>
          <p:cNvSpPr txBox="1"/>
          <p:nvPr/>
        </p:nvSpPr>
        <p:spPr>
          <a:xfrm>
            <a:off x="5482590" y="2070735"/>
            <a:ext cx="873125" cy="306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en-US" altLang="en-US" sz="1400">
                <a:latin typeface="Microsoft YaHei" charset="-122"/>
                <a:ea typeface="Microsoft YaHei" charset="-122"/>
              </a:rPr>
              <a:t>讯飞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5482590" y="2554605"/>
            <a:ext cx="873125" cy="306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en-US" altLang="en-US" sz="1400">
                <a:latin typeface="Microsoft YaHei" charset="-122"/>
                <a:ea typeface="Microsoft YaHei" charset="-122"/>
              </a:rPr>
              <a:t>gpt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5257800" y="3529330"/>
            <a:ext cx="1322705" cy="187706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5482590" y="3733165"/>
            <a:ext cx="934085" cy="2755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en-US" altLang="en-US" sz="1200">
                <a:latin typeface="Microsoft YaHei" charset="-122"/>
                <a:ea typeface="Microsoft YaHei" charset="-122"/>
              </a:rPr>
              <a:t>chatglm2</a:t>
            </a:r>
            <a:endParaRPr lang="en-US" altLang="en-US" sz="1200">
              <a:latin typeface="Microsoft YaHei" charset="-122"/>
              <a:ea typeface="Microsoft YaHei" charset="-122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482590" y="4075430"/>
            <a:ext cx="934085" cy="2755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en-US" altLang="en-US" sz="1200">
                <a:latin typeface="Microsoft YaHei" charset="-122"/>
                <a:ea typeface="Microsoft YaHei" charset="-122"/>
              </a:rPr>
              <a:t>chatglm3</a:t>
            </a:r>
            <a:endParaRPr lang="en-US" altLang="en-US" sz="1200">
              <a:latin typeface="Microsoft YaHei" charset="-122"/>
              <a:ea typeface="Microsoft YaHei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482590" y="4421505"/>
            <a:ext cx="934085" cy="2755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en-US" altLang="en-US" sz="1200">
                <a:latin typeface="Microsoft YaHei" charset="-122"/>
                <a:ea typeface="Microsoft YaHei" charset="-122"/>
              </a:rPr>
              <a:t>llma</a:t>
            </a:r>
            <a:endParaRPr lang="en-US" altLang="en-US" sz="1200">
              <a:latin typeface="Microsoft YaHei" charset="-122"/>
              <a:ea typeface="Microsoft YaHei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482590" y="4787900"/>
            <a:ext cx="934085" cy="46037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en-US" altLang="en-US" sz="1200">
                <a:latin typeface="Microsoft YaHei" charset="-122"/>
                <a:ea typeface="Microsoft YaHei" charset="-122"/>
              </a:rPr>
              <a:t>VisualGLM-6b</a:t>
            </a:r>
            <a:endParaRPr lang="en-US" altLang="en-US" sz="1200">
              <a:latin typeface="Microsoft YaHei" charset="-122"/>
              <a:ea typeface="Microsoft YaHei" charset="-122"/>
            </a:endParaRPr>
          </a:p>
        </p:txBody>
      </p:sp>
      <p:cxnSp>
        <p:nvCxnSpPr>
          <p:cNvPr id="14" name="肘形连接符 13"/>
          <p:cNvCxnSpPr/>
          <p:nvPr/>
        </p:nvCxnSpPr>
        <p:spPr>
          <a:xfrm flipV="1">
            <a:off x="6416675" y="4220210"/>
            <a:ext cx="892810" cy="5715"/>
          </a:xfrm>
          <a:prstGeom prst="bentConnector3">
            <a:avLst>
              <a:gd name="adj1" fmla="val 50071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/>
        </p:nvSpPr>
        <p:spPr>
          <a:xfrm>
            <a:off x="7309485" y="4075430"/>
            <a:ext cx="934085" cy="2755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en-US" altLang="en-US" sz="1200">
                <a:latin typeface="Microsoft YaHei" charset="-122"/>
                <a:ea typeface="Microsoft YaHei" charset="-122"/>
              </a:rPr>
              <a:t>微调</a:t>
            </a:r>
            <a:endParaRPr lang="en-US" altLang="en-US" sz="1200">
              <a:latin typeface="Microsoft YaHei" charset="-122"/>
              <a:ea typeface="Microsoft YaHei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309485" y="3618865"/>
            <a:ext cx="934085" cy="2755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en-US" altLang="en-US" sz="1200">
                <a:latin typeface="Microsoft YaHei" charset="-122"/>
                <a:ea typeface="Microsoft YaHei" charset="-122"/>
              </a:rPr>
              <a:t>langchain</a:t>
            </a:r>
            <a:endParaRPr lang="en-US" altLang="en-US" sz="1200">
              <a:latin typeface="Microsoft YaHei" charset="-122"/>
              <a:ea typeface="Microsoft YaHei" charset="-122"/>
            </a:endParaRPr>
          </a:p>
        </p:txBody>
      </p:sp>
      <p:cxnSp>
        <p:nvCxnSpPr>
          <p:cNvPr id="17" name="肘形连接符 16"/>
          <p:cNvCxnSpPr>
            <a:stCxn id="28" idx="3"/>
            <a:endCxn id="16" idx="1"/>
          </p:cNvCxnSpPr>
          <p:nvPr/>
        </p:nvCxnSpPr>
        <p:spPr>
          <a:xfrm flipV="1">
            <a:off x="6416675" y="3756660"/>
            <a:ext cx="892810" cy="456565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/>
        </p:nvSpPr>
        <p:spPr>
          <a:xfrm>
            <a:off x="9410065" y="3039745"/>
            <a:ext cx="2145030" cy="118618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9665970" y="3243580"/>
            <a:ext cx="1644015" cy="306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en-US" altLang="en-US" sz="1400">
                <a:latin typeface="Microsoft YaHei" charset="-122"/>
                <a:ea typeface="Microsoft YaHei" charset="-122"/>
              </a:rPr>
              <a:t>vits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665970" y="3727450"/>
            <a:ext cx="1644015" cy="30670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p>
            <a:pPr algn="ctr"/>
            <a:r>
              <a:rPr lang="en-US" altLang="en-US" sz="1400">
                <a:latin typeface="Microsoft YaHei" charset="-122"/>
                <a:ea typeface="Microsoft YaHei" charset="-122"/>
              </a:rPr>
              <a:t>summer_speech</a:t>
            </a:r>
            <a:endParaRPr lang="en-US" altLang="en-US" sz="1400">
              <a:latin typeface="Microsoft YaHei" charset="-122"/>
              <a:ea typeface="Microsoft YaHei" charset="-122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494665" y="261620"/>
            <a:ext cx="745363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/>
              <a:t>隐马尔可夫模型（HMM）中，我们不知道模型具体的状态序列，只知道状态转移的概率，即模型的状态转换过程是不可观察的。</a:t>
            </a:r>
            <a:endParaRPr lang="zh-CN" altLang="en-US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10441</Words>
  <Application>WPS 演示</Application>
  <PresentationFormat>宽屏</PresentationFormat>
  <Paragraphs>2130</Paragraphs>
  <Slides>113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113</vt:i4>
      </vt:variant>
    </vt:vector>
  </HeadingPairs>
  <TitlesOfParts>
    <vt:vector size="135" baseType="lpstr">
      <vt:lpstr>Arial</vt:lpstr>
      <vt:lpstr>SimSun</vt:lpstr>
      <vt:lpstr>Wingdings</vt:lpstr>
      <vt:lpstr>Nimbus Roman No9 L</vt:lpstr>
      <vt:lpstr>KaiTi</vt:lpstr>
      <vt:lpstr>Droid Sans Fallback</vt:lpstr>
      <vt:lpstr>Times New Roman</vt:lpstr>
      <vt:lpstr>华文行楷</vt:lpstr>
      <vt:lpstr>Microsoft YaHei</vt:lpstr>
      <vt:lpstr>Calibri Light</vt:lpstr>
      <vt:lpstr>DejaVu Sans</vt:lpstr>
      <vt:lpstr>Calibri</vt:lpstr>
      <vt:lpstr>Microsoft YaHei</vt:lpstr>
      <vt:lpstr>Arial Unicode MS</vt:lpstr>
      <vt:lpstr>SimSun</vt:lpstr>
      <vt:lpstr>Nimbus Roman</vt:lpstr>
      <vt:lpstr>Wingdings</vt:lpstr>
      <vt:lpstr>AR PL UKai CN</vt:lpstr>
      <vt:lpstr>DejaVu Math TeX Gyre</vt:lpstr>
      <vt:lpstr>Abyssinica SIL</vt:lpstr>
      <vt:lpstr>Office 主题</vt:lpstr>
      <vt:lpstr>1_Office 主题</vt:lpstr>
      <vt:lpstr>NLP_attention之后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Transformer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MFCC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2023.6.3</vt:lpstr>
      <vt:lpstr>PowerPoint 演示文稿</vt:lpstr>
      <vt:lpstr>PowerPoint 演示文稿</vt:lpstr>
      <vt:lpstr>PowerPoint 演示文稿</vt:lpstr>
      <vt:lpstr>2023.6.6</vt:lpstr>
      <vt:lpstr>PowerPoint 演示文稿</vt:lpstr>
      <vt:lpstr>PowerPoint 演示文稿</vt:lpstr>
      <vt:lpstr>2023.6.9</vt:lpstr>
      <vt:lpstr>PowerPoint 演示文稿</vt:lpstr>
      <vt:lpstr>PowerPoint 演示文稿</vt:lpstr>
      <vt:lpstr>PowerPoint 演示文稿</vt:lpstr>
      <vt:lpstr>2023.6.10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lilei</dc:creator>
  <cp:lastModifiedBy>ubuntu</cp:lastModifiedBy>
  <cp:revision>85</cp:revision>
  <dcterms:created xsi:type="dcterms:W3CDTF">2024-10-22T08:07:44Z</dcterms:created>
  <dcterms:modified xsi:type="dcterms:W3CDTF">2024-10-22T08:07:44Z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2052-11.1.0.11711</vt:lpwstr>
  </property>
  <property fmtid="{D5CDD505-2E9C-101B-9397-08002B2CF9AE}" pid="3" name="ICV">
    <vt:lpwstr/>
  </property>
</Properties>
</file>