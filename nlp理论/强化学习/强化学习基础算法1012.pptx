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3" r:id="rId3"/>
  </p:sldMasterIdLst>
  <p:notesMasterIdLst>
    <p:notesMasterId r:id="rId17"/>
  </p:notesMasterIdLst>
  <p:handoutMasterIdLst>
    <p:handoutMasterId r:id="rId97"/>
  </p:handoutMasterIdLst>
  <p:sldIdLst>
    <p:sldId id="3781" r:id="rId4"/>
    <p:sldId id="3676" r:id="rId5"/>
    <p:sldId id="3691" r:id="rId6"/>
    <p:sldId id="3689" r:id="rId7"/>
    <p:sldId id="3695" r:id="rId8"/>
    <p:sldId id="3696" r:id="rId9"/>
    <p:sldId id="3697" r:id="rId10"/>
    <p:sldId id="3698" r:id="rId11"/>
    <p:sldId id="3705" r:id="rId12"/>
    <p:sldId id="3704" r:id="rId13"/>
    <p:sldId id="3706" r:id="rId14"/>
    <p:sldId id="3703" r:id="rId15"/>
    <p:sldId id="3702" r:id="rId16"/>
    <p:sldId id="3716" r:id="rId18"/>
    <p:sldId id="3717" r:id="rId19"/>
    <p:sldId id="3720" r:id="rId20"/>
    <p:sldId id="3721" r:id="rId21"/>
    <p:sldId id="3724" r:id="rId22"/>
    <p:sldId id="3715" r:id="rId23"/>
    <p:sldId id="3726" r:id="rId24"/>
    <p:sldId id="3727" r:id="rId25"/>
    <p:sldId id="3728" r:id="rId26"/>
    <p:sldId id="3729" r:id="rId27"/>
    <p:sldId id="3731" r:id="rId28"/>
    <p:sldId id="3733" r:id="rId29"/>
    <p:sldId id="3735" r:id="rId30"/>
    <p:sldId id="3739" r:id="rId31"/>
    <p:sldId id="3737" r:id="rId32"/>
    <p:sldId id="3743" r:id="rId33"/>
    <p:sldId id="3738" r:id="rId34"/>
    <p:sldId id="3730" r:id="rId35"/>
    <p:sldId id="3746" r:id="rId36"/>
    <p:sldId id="3747" r:id="rId37"/>
    <p:sldId id="3748" r:id="rId38"/>
    <p:sldId id="3749" r:id="rId39"/>
    <p:sldId id="3751" r:id="rId40"/>
    <p:sldId id="3752" r:id="rId41"/>
    <p:sldId id="3753" r:id="rId42"/>
    <p:sldId id="3754" r:id="rId43"/>
    <p:sldId id="3756" r:id="rId44"/>
    <p:sldId id="3759" r:id="rId45"/>
    <p:sldId id="3757" r:id="rId46"/>
    <p:sldId id="3758" r:id="rId47"/>
    <p:sldId id="3762" r:id="rId48"/>
    <p:sldId id="3764" r:id="rId49"/>
    <p:sldId id="3765" r:id="rId50"/>
    <p:sldId id="3763" r:id="rId51"/>
    <p:sldId id="3767" r:id="rId52"/>
    <p:sldId id="3768" r:id="rId53"/>
    <p:sldId id="3772" r:id="rId54"/>
    <p:sldId id="3770" r:id="rId55"/>
    <p:sldId id="3771" r:id="rId56"/>
    <p:sldId id="3769" r:id="rId57"/>
    <p:sldId id="3773" r:id="rId58"/>
    <p:sldId id="3777" r:id="rId59"/>
    <p:sldId id="3774" r:id="rId60"/>
    <p:sldId id="3841" r:id="rId61"/>
    <p:sldId id="3842" r:id="rId62"/>
    <p:sldId id="3843" r:id="rId63"/>
    <p:sldId id="3782" r:id="rId64"/>
    <p:sldId id="3844" r:id="rId65"/>
    <p:sldId id="3846" r:id="rId66"/>
    <p:sldId id="3845" r:id="rId67"/>
    <p:sldId id="3851" r:id="rId68"/>
    <p:sldId id="3852" r:id="rId69"/>
    <p:sldId id="3853" r:id="rId70"/>
    <p:sldId id="3854" r:id="rId71"/>
    <p:sldId id="3849" r:id="rId72"/>
    <p:sldId id="3850" r:id="rId73"/>
    <p:sldId id="3848" r:id="rId74"/>
    <p:sldId id="3855" r:id="rId75"/>
    <p:sldId id="3840" r:id="rId76"/>
    <p:sldId id="3857" r:id="rId77"/>
    <p:sldId id="3861" r:id="rId78"/>
    <p:sldId id="3856" r:id="rId79"/>
    <p:sldId id="3859" r:id="rId80"/>
    <p:sldId id="3865" r:id="rId81"/>
    <p:sldId id="3866" r:id="rId82"/>
    <p:sldId id="3868" r:id="rId83"/>
    <p:sldId id="3860" r:id="rId84"/>
    <p:sldId id="3869" r:id="rId85"/>
    <p:sldId id="3870" r:id="rId86"/>
    <p:sldId id="3871" r:id="rId87"/>
    <p:sldId id="3875" r:id="rId88"/>
    <p:sldId id="3874" r:id="rId89"/>
    <p:sldId id="3867" r:id="rId90"/>
    <p:sldId id="3881" r:id="rId91"/>
    <p:sldId id="3882" r:id="rId92"/>
    <p:sldId id="3883" r:id="rId93"/>
    <p:sldId id="3878" r:id="rId94"/>
    <p:sldId id="3880" r:id="rId95"/>
    <p:sldId id="3879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E33"/>
    <a:srgbClr val="FFFFFF"/>
    <a:srgbClr val="E7C2C8"/>
    <a:srgbClr val="C00000"/>
    <a:srgbClr val="FF7171"/>
    <a:srgbClr val="B80000"/>
    <a:srgbClr val="E60000"/>
    <a:srgbClr val="223B6A"/>
    <a:srgbClr val="213A67"/>
    <a:srgbClr val="233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60" autoAdjust="0"/>
    <p:restoredTop sz="94660"/>
  </p:normalViewPr>
  <p:slideViewPr>
    <p:cSldViewPr snapToGrid="0">
      <p:cViewPr varScale="1">
        <p:scale>
          <a:sx n="69" d="100"/>
          <a:sy n="69" d="100"/>
        </p:scale>
        <p:origin x="3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handoutMaster" Target="handoutMasters/handoutMaster1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0" Type="http://schemas.openxmlformats.org/officeDocument/2006/relationships/tableStyles" Target="tableStyle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2C112-9F68-42DC-82D8-31437E47D6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BE05A-61B0-4977-90F3-86CC599AFD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26205-1338-4E3F-A4EB-20F5DA2386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0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0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0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0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箭头: 五边形 29"/>
          <p:cNvSpPr/>
          <p:nvPr userDrawn="1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801"/>
            <a:ext cx="2256723" cy="23477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0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0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0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0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箭头: 五边形 29"/>
          <p:cNvSpPr/>
          <p:nvPr userDrawn="1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658071" y="1676991"/>
            <a:ext cx="732511" cy="663945"/>
            <a:chOff x="3777357" y="805392"/>
            <a:chExt cx="657188" cy="663945"/>
          </a:xfrm>
        </p:grpSpPr>
        <p:sp>
          <p:nvSpPr>
            <p:cNvPr id="6" name="矩形 5"/>
            <p:cNvSpPr/>
            <p:nvPr/>
          </p:nvSpPr>
          <p:spPr>
            <a:xfrm>
              <a:off x="3858481" y="893337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777357" y="805392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1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1658071" y="2617281"/>
            <a:ext cx="732511" cy="663945"/>
            <a:chOff x="3771189" y="1921535"/>
            <a:chExt cx="657188" cy="663945"/>
          </a:xfrm>
        </p:grpSpPr>
        <p:sp>
          <p:nvSpPr>
            <p:cNvPr id="9" name="矩形 8"/>
            <p:cNvSpPr/>
            <p:nvPr/>
          </p:nvSpPr>
          <p:spPr>
            <a:xfrm>
              <a:off x="3852313" y="2009480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771189" y="1921535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2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1658071" y="3557571"/>
            <a:ext cx="732511" cy="663945"/>
            <a:chOff x="3777357" y="3044789"/>
            <a:chExt cx="657188" cy="663945"/>
          </a:xfrm>
        </p:grpSpPr>
        <p:sp>
          <p:nvSpPr>
            <p:cNvPr id="12" name="矩形 11"/>
            <p:cNvSpPr/>
            <p:nvPr/>
          </p:nvSpPr>
          <p:spPr>
            <a:xfrm>
              <a:off x="3858481" y="3132734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777357" y="3044789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3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658074" y="5438150"/>
            <a:ext cx="845224" cy="663945"/>
            <a:chOff x="3777667" y="5396218"/>
            <a:chExt cx="758311" cy="663945"/>
          </a:xfrm>
        </p:grpSpPr>
        <p:sp>
          <p:nvSpPr>
            <p:cNvPr id="15" name="文本框 14"/>
            <p:cNvSpPr txBox="1"/>
            <p:nvPr/>
          </p:nvSpPr>
          <p:spPr>
            <a:xfrm>
              <a:off x="4020644" y="5470349"/>
              <a:ext cx="515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05</a:t>
              </a:r>
              <a:endParaRPr lang="zh-CN" altLang="en-US" sz="1800" dirty="0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58791" y="5484163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777667" y="5396218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5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8" name="文本占位符 35"/>
          <p:cNvSpPr>
            <a:spLocks noGrp="1"/>
          </p:cNvSpPr>
          <p:nvPr>
            <p:ph type="body" sz="quarter" idx="13"/>
          </p:nvPr>
        </p:nvSpPr>
        <p:spPr>
          <a:xfrm>
            <a:off x="2483531" y="1757279"/>
            <a:ext cx="7800953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35"/>
          <p:cNvSpPr>
            <a:spLocks noGrp="1"/>
          </p:cNvSpPr>
          <p:nvPr>
            <p:ph type="body" sz="quarter" idx="14"/>
          </p:nvPr>
        </p:nvSpPr>
        <p:spPr>
          <a:xfrm>
            <a:off x="2483534" y="2697569"/>
            <a:ext cx="9136106" cy="50336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文本占位符 35"/>
          <p:cNvSpPr>
            <a:spLocks noGrp="1"/>
          </p:cNvSpPr>
          <p:nvPr>
            <p:ph type="body" sz="quarter" idx="15"/>
          </p:nvPr>
        </p:nvSpPr>
        <p:spPr>
          <a:xfrm>
            <a:off x="2483534" y="3637859"/>
            <a:ext cx="8504200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1" name="文本占位符 35"/>
          <p:cNvSpPr>
            <a:spLocks noGrp="1"/>
          </p:cNvSpPr>
          <p:nvPr>
            <p:ph type="body" sz="quarter" idx="16"/>
          </p:nvPr>
        </p:nvSpPr>
        <p:spPr>
          <a:xfrm>
            <a:off x="2483533" y="4578149"/>
            <a:ext cx="9136107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2" name="文本占位符 35"/>
          <p:cNvSpPr>
            <a:spLocks noGrp="1"/>
          </p:cNvSpPr>
          <p:nvPr>
            <p:ph type="body" sz="quarter" idx="17"/>
          </p:nvPr>
        </p:nvSpPr>
        <p:spPr>
          <a:xfrm>
            <a:off x="2483534" y="5518439"/>
            <a:ext cx="9248218" cy="7177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1658071" y="4497861"/>
            <a:ext cx="732511" cy="663945"/>
            <a:chOff x="3777357" y="3044789"/>
            <a:chExt cx="657188" cy="663945"/>
          </a:xfrm>
        </p:grpSpPr>
        <p:sp>
          <p:nvSpPr>
            <p:cNvPr id="24" name="矩形 23"/>
            <p:cNvSpPr/>
            <p:nvPr/>
          </p:nvSpPr>
          <p:spPr>
            <a:xfrm>
              <a:off x="3858481" y="3132734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777357" y="3044789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4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27" name="文本框 26"/>
          <p:cNvSpPr txBox="1"/>
          <p:nvPr userDrawn="1"/>
        </p:nvSpPr>
        <p:spPr>
          <a:xfrm>
            <a:off x="311394" y="203039"/>
            <a:ext cx="217213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pc="30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目 录</a:t>
            </a:r>
            <a:endParaRPr lang="en-US" altLang="zh-CN" sz="4800" b="1" spc="300" baseline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  <a:p>
            <a:pPr algn="ctr"/>
            <a:r>
              <a:rPr lang="en-US" altLang="zh-CN" sz="2400" b="1" spc="100" baseline="0" dirty="0">
                <a:latin typeface="Arial" panose="02080604020202020204" pitchFamily="34" charset="0"/>
                <a:cs typeface="Arial" panose="02080604020202020204" pitchFamily="34" charset="0"/>
              </a:rPr>
              <a:t>CONTENTS</a:t>
            </a:r>
            <a:endParaRPr lang="zh-CN" altLang="en-US" sz="2400" b="1" spc="100" baseline="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483010" y="6425191"/>
            <a:ext cx="305760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 descr="E:\丫头\png\地球\18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  <a14:imgEffect>
                      <a14:brightnessContrast bright="-2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19363"/>
            <a:ext cx="12171755" cy="530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 userDrawn="1"/>
        </p:nvSpPr>
        <p:spPr>
          <a:xfrm>
            <a:off x="2596727" y="2670901"/>
            <a:ext cx="793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de-DE" sz="6600" dirty="0">
                <a:latin typeface="Arial" panose="02080604020202020204" pitchFamily="34" charset="0"/>
                <a:cs typeface="Arial" panose="02080604020202020204" pitchFamily="34" charset="0"/>
              </a:rPr>
              <a:t>感谢关注，期待讨论</a:t>
            </a:r>
            <a:endParaRPr lang="zh-CN" altLang="en-US" sz="66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0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0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0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0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箭头: 五边形 29"/>
          <p:cNvSpPr/>
          <p:nvPr userDrawn="1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801"/>
            <a:ext cx="2256723" cy="23477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0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0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0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0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箭头: 五边形 29"/>
          <p:cNvSpPr/>
          <p:nvPr userDrawn="1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658071" y="1676991"/>
            <a:ext cx="732511" cy="663945"/>
            <a:chOff x="3777357" y="805392"/>
            <a:chExt cx="657188" cy="663945"/>
          </a:xfrm>
        </p:grpSpPr>
        <p:sp>
          <p:nvSpPr>
            <p:cNvPr id="6" name="矩形 5"/>
            <p:cNvSpPr/>
            <p:nvPr/>
          </p:nvSpPr>
          <p:spPr>
            <a:xfrm>
              <a:off x="3858481" y="893337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777357" y="805392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1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1658071" y="2617281"/>
            <a:ext cx="732511" cy="663945"/>
            <a:chOff x="3771189" y="1921535"/>
            <a:chExt cx="657188" cy="663945"/>
          </a:xfrm>
        </p:grpSpPr>
        <p:sp>
          <p:nvSpPr>
            <p:cNvPr id="9" name="矩形 8"/>
            <p:cNvSpPr/>
            <p:nvPr/>
          </p:nvSpPr>
          <p:spPr>
            <a:xfrm>
              <a:off x="3852313" y="2009480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771189" y="1921535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2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1658071" y="3557571"/>
            <a:ext cx="732511" cy="663945"/>
            <a:chOff x="3777357" y="3044789"/>
            <a:chExt cx="657188" cy="663945"/>
          </a:xfrm>
        </p:grpSpPr>
        <p:sp>
          <p:nvSpPr>
            <p:cNvPr id="12" name="矩形 11"/>
            <p:cNvSpPr/>
            <p:nvPr/>
          </p:nvSpPr>
          <p:spPr>
            <a:xfrm>
              <a:off x="3858481" y="3132734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777357" y="3044789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3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658074" y="5438150"/>
            <a:ext cx="845224" cy="663945"/>
            <a:chOff x="3777667" y="5396218"/>
            <a:chExt cx="758311" cy="663945"/>
          </a:xfrm>
        </p:grpSpPr>
        <p:sp>
          <p:nvSpPr>
            <p:cNvPr id="15" name="文本框 14"/>
            <p:cNvSpPr txBox="1"/>
            <p:nvPr/>
          </p:nvSpPr>
          <p:spPr>
            <a:xfrm>
              <a:off x="4020644" y="5470349"/>
              <a:ext cx="515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05</a:t>
              </a:r>
              <a:endParaRPr lang="zh-CN" altLang="en-US" sz="1800" dirty="0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58791" y="5484163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777667" y="5396218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5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8" name="文本占位符 35"/>
          <p:cNvSpPr>
            <a:spLocks noGrp="1"/>
          </p:cNvSpPr>
          <p:nvPr>
            <p:ph type="body" sz="quarter" idx="13"/>
          </p:nvPr>
        </p:nvSpPr>
        <p:spPr>
          <a:xfrm>
            <a:off x="2483531" y="1757279"/>
            <a:ext cx="7800953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35"/>
          <p:cNvSpPr>
            <a:spLocks noGrp="1"/>
          </p:cNvSpPr>
          <p:nvPr>
            <p:ph type="body" sz="quarter" idx="14"/>
          </p:nvPr>
        </p:nvSpPr>
        <p:spPr>
          <a:xfrm>
            <a:off x="2483534" y="2697569"/>
            <a:ext cx="9136106" cy="50336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文本占位符 35"/>
          <p:cNvSpPr>
            <a:spLocks noGrp="1"/>
          </p:cNvSpPr>
          <p:nvPr>
            <p:ph type="body" sz="quarter" idx="15"/>
          </p:nvPr>
        </p:nvSpPr>
        <p:spPr>
          <a:xfrm>
            <a:off x="2483534" y="3637859"/>
            <a:ext cx="8504200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1" name="文本占位符 35"/>
          <p:cNvSpPr>
            <a:spLocks noGrp="1"/>
          </p:cNvSpPr>
          <p:nvPr>
            <p:ph type="body" sz="quarter" idx="16"/>
          </p:nvPr>
        </p:nvSpPr>
        <p:spPr>
          <a:xfrm>
            <a:off x="2483533" y="4578149"/>
            <a:ext cx="9136107" cy="5033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 baseline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2" name="文本占位符 35"/>
          <p:cNvSpPr>
            <a:spLocks noGrp="1"/>
          </p:cNvSpPr>
          <p:nvPr>
            <p:ph type="body" sz="quarter" idx="17"/>
          </p:nvPr>
        </p:nvSpPr>
        <p:spPr>
          <a:xfrm>
            <a:off x="2483534" y="5518439"/>
            <a:ext cx="9248218" cy="7177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2400" b="0"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1658071" y="4497861"/>
            <a:ext cx="732511" cy="663945"/>
            <a:chOff x="3777357" y="3044789"/>
            <a:chExt cx="657188" cy="663945"/>
          </a:xfrm>
        </p:grpSpPr>
        <p:sp>
          <p:nvSpPr>
            <p:cNvPr id="24" name="矩形 23"/>
            <p:cNvSpPr/>
            <p:nvPr/>
          </p:nvSpPr>
          <p:spPr>
            <a:xfrm>
              <a:off x="3858481" y="3132734"/>
              <a:ext cx="576064" cy="576000"/>
            </a:xfrm>
            <a:prstGeom prst="rect">
              <a:avLst/>
            </a:prstGeom>
            <a:solidFill>
              <a:schemeClr val="tx1">
                <a:alpha val="2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777357" y="3044789"/>
              <a:ext cx="576064" cy="576000"/>
            </a:xfrm>
            <a:prstGeom prst="rect">
              <a:avLst/>
            </a:prstGeom>
            <a:solidFill>
              <a:srgbClr val="A81E3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1800" b="1" kern="0" dirty="0">
                  <a:solidFill>
                    <a:prstClr val="white"/>
                  </a:solidFill>
                  <a:latin typeface="微软雅黑"/>
                  <a:ea typeface="微软雅黑"/>
                </a:rPr>
                <a:t>4</a:t>
              </a:r>
              <a:endParaRPr lang="zh-CN" altLang="en-US" sz="1800" b="1" kern="0" dirty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27" name="文本框 26"/>
          <p:cNvSpPr txBox="1"/>
          <p:nvPr userDrawn="1"/>
        </p:nvSpPr>
        <p:spPr>
          <a:xfrm>
            <a:off x="311394" y="203039"/>
            <a:ext cx="217213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pc="30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目 录</a:t>
            </a:r>
            <a:endParaRPr lang="en-US" altLang="zh-CN" sz="4800" b="1" spc="300" baseline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  <a:p>
            <a:pPr algn="ctr"/>
            <a:r>
              <a:rPr lang="en-US" altLang="zh-CN" sz="2400" b="1" spc="100" baseline="0" dirty="0">
                <a:latin typeface="Arial" panose="02080604020202020204" pitchFamily="34" charset="0"/>
                <a:cs typeface="Arial" panose="02080604020202020204" pitchFamily="34" charset="0"/>
              </a:rPr>
              <a:t>CONTENTS</a:t>
            </a:r>
            <a:endParaRPr lang="zh-CN" altLang="en-US" sz="2400" b="1" spc="100" baseline="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483010" y="6425191"/>
            <a:ext cx="305760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 descr="E:\丫头\png\地球\18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  <a14:imgEffect>
                      <a14:brightnessContrast bright="-2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19363"/>
            <a:ext cx="12171755" cy="530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 userDrawn="1"/>
        </p:nvSpPr>
        <p:spPr>
          <a:xfrm>
            <a:off x="2596727" y="2670901"/>
            <a:ext cx="793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de-DE" sz="6600" dirty="0">
                <a:latin typeface="Arial" panose="02080604020202020204" pitchFamily="34" charset="0"/>
                <a:cs typeface="Arial" panose="02080604020202020204" pitchFamily="34" charset="0"/>
              </a:rPr>
              <a:t>感谢关注，期待讨论</a:t>
            </a:r>
            <a:endParaRPr lang="zh-CN" altLang="en-US" sz="66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microsoft.com/office/2007/relationships/hdphoto" Target="../media/hdphoto2.wdp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4467" y="3171967"/>
            <a:ext cx="2733675" cy="3695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8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4467" y="3171967"/>
            <a:ext cx="2733675" cy="3695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8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53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8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81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89.png"/><Relationship Id="rId1" Type="http://schemas.openxmlformats.org/officeDocument/2006/relationships/image" Target="../media/image91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93.png"/><Relationship Id="rId2" Type="http://schemas.openxmlformats.org/officeDocument/2006/relationships/image" Target="../media/image89.png"/><Relationship Id="rId1" Type="http://schemas.openxmlformats.org/officeDocument/2006/relationships/image" Target="../media/image9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6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01.png"/><Relationship Id="rId1" Type="http://schemas.openxmlformats.org/officeDocument/2006/relationships/image" Target="../media/image6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61.png"/><Relationship Id="rId1" Type="http://schemas.openxmlformats.org/officeDocument/2006/relationships/image" Target="../media/image9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4.png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image" Target="../media/image86.png"/><Relationship Id="rId7" Type="http://schemas.openxmlformats.org/officeDocument/2006/relationships/image" Target="../media/image108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88.png"/><Relationship Id="rId3" Type="http://schemas.openxmlformats.org/officeDocument/2006/relationships/image" Target="../media/image84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10.png"/><Relationship Id="rId1" Type="http://schemas.openxmlformats.org/officeDocument/2006/relationships/image" Target="../media/image10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10.png"/><Relationship Id="rId1" Type="http://schemas.openxmlformats.org/officeDocument/2006/relationships/image" Target="../media/image104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1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2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1"/>
          <p:cNvSpPr txBox="1"/>
          <p:nvPr/>
        </p:nvSpPr>
        <p:spPr>
          <a:xfrm>
            <a:off x="1289695" y="2323288"/>
            <a:ext cx="9623035" cy="675506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36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强化学习基础算法</a:t>
            </a:r>
            <a:r>
              <a:rPr lang="en-US" altLang="zh-CN" dirty="0">
                <a:latin typeface="Arial" panose="02080604020202020204" pitchFamily="34" charset="0"/>
              </a:rPr>
              <a:t> </a:t>
            </a:r>
            <a:endParaRPr lang="zh-CN" altLang="en-US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65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en-US" altLang="de-DE" sz="3200" dirty="0">
                <a:latin typeface="KaiTi" panose="02010609060101010101" pitchFamily="49" charset="-122"/>
                <a:ea typeface="KaiTi" panose="02010609060101010101" pitchFamily="49" charset="-122"/>
              </a:rPr>
              <a:t>Q_learning</a:t>
            </a:r>
            <a:endParaRPr lang="en-US" altLang="de-DE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" name="图片 2" descr="q-learning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5885" y="1883410"/>
            <a:ext cx="5457190" cy="4476115"/>
          </a:xfrm>
          <a:prstGeom prst="rect">
            <a:avLst/>
          </a:prstGeom>
        </p:spPr>
      </p:pic>
      <p:pic>
        <p:nvPicPr>
          <p:cNvPr id="4" name="图片 3" descr="Screenshot from 2022-10-21 13-17-36"/>
          <p:cNvPicPr>
            <a:picLocks noChangeAspect="1"/>
          </p:cNvPicPr>
          <p:nvPr/>
        </p:nvPicPr>
        <p:blipFill>
          <a:blip r:embed="rId2"/>
          <a:srcRect l="687" r="601" b="1876"/>
          <a:stretch>
            <a:fillRect/>
          </a:stretch>
        </p:blipFill>
        <p:spPr>
          <a:xfrm>
            <a:off x="5671820" y="2528570"/>
            <a:ext cx="1962150" cy="2447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10910" y="1883410"/>
            <a:ext cx="5296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Q-table的更新：</a:t>
            </a:r>
            <a:endParaRPr lang="en-US" altLang="zh-CN"/>
          </a:p>
          <a:p>
            <a:r>
              <a:rPr lang="en-US" altLang="zh-CN"/>
              <a:t>Q(s,a)←Q(s,a)+α[r+</a:t>
            </a:r>
            <a:r>
              <a:rPr lang="en-US" altLang="zh-CN">
                <a:solidFill>
                  <a:srgbClr val="FF0000"/>
                </a:solidFill>
              </a:rPr>
              <a:t>γmax</a:t>
            </a:r>
            <a:r>
              <a:rPr lang="en-US" altLang="zh-CN" sz="1000">
                <a:solidFill>
                  <a:srgbClr val="FF0000"/>
                </a:solidFill>
              </a:rPr>
              <a:t>a_</a:t>
            </a:r>
            <a:r>
              <a:rPr lang="en-US" altLang="zh-CN">
                <a:solidFill>
                  <a:srgbClr val="FF0000"/>
                </a:solidFill>
              </a:rPr>
              <a:t>Q(s_,a_)</a:t>
            </a:r>
            <a:r>
              <a:rPr lang="en-US" altLang="zh-CN"/>
              <a:t>−Q（s,a）]</a:t>
            </a:r>
            <a:endParaRPr lang="en-US" altLang="zh-CN"/>
          </a:p>
        </p:txBody>
      </p:sp>
      <p:graphicFrame>
        <p:nvGraphicFramePr>
          <p:cNvPr id="18" name="表格 17"/>
          <p:cNvGraphicFramePr/>
          <p:nvPr/>
        </p:nvGraphicFramePr>
        <p:xfrm>
          <a:off x="9956800" y="2676525"/>
          <a:ext cx="20193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  <a:gridCol w="504825"/>
              </a:tblGrid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7866380" y="2625725"/>
            <a:ext cx="1722755" cy="1577340"/>
            <a:chOff x="1497" y="7121"/>
            <a:chExt cx="2713" cy="2484"/>
          </a:xfrm>
        </p:grpSpPr>
        <p:sp>
          <p:nvSpPr>
            <p:cNvPr id="10" name="矩形 9"/>
            <p:cNvSpPr/>
            <p:nvPr/>
          </p:nvSpPr>
          <p:spPr>
            <a:xfrm>
              <a:off x="1497" y="7121"/>
              <a:ext cx="1210" cy="109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2968" y="7201"/>
              <a:ext cx="1242" cy="101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3" name="下箭头 12"/>
            <p:cNvSpPr/>
            <p:nvPr/>
          </p:nvSpPr>
          <p:spPr>
            <a:xfrm>
              <a:off x="1513" y="8331"/>
              <a:ext cx="1194" cy="127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</p:grpSp>
      <p:pic>
        <p:nvPicPr>
          <p:cNvPr id="11" name="图片 10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221605"/>
            <a:ext cx="3469640" cy="1137920"/>
          </a:xfrm>
          <a:prstGeom prst="rect">
            <a:avLst/>
          </a:prstGeom>
        </p:spPr>
      </p:pic>
      <p:pic>
        <p:nvPicPr>
          <p:cNvPr id="16" name="图片 15" descr="Screenshot from 2022-10-21 15-06-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915" y="4846955"/>
            <a:ext cx="3364865" cy="1962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65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de-DE" sz="3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de-DE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Sarsa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66180" y="2200910"/>
            <a:ext cx="5296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Sarsa</a:t>
            </a:r>
            <a:r>
              <a:rPr lang="en-US" altLang="zh-CN"/>
              <a:t>的更新：</a:t>
            </a:r>
            <a:endParaRPr lang="en-US" altLang="zh-CN"/>
          </a:p>
          <a:p>
            <a:r>
              <a:rPr lang="en-US" altLang="zh-CN"/>
              <a:t>Q(s,a)←Q(s,a)+α[r+</a:t>
            </a:r>
            <a:r>
              <a:rPr lang="en-US" altLang="zh-CN">
                <a:solidFill>
                  <a:srgbClr val="FF0000"/>
                </a:solidFill>
              </a:rPr>
              <a:t>γQ(s_,a_)</a:t>
            </a:r>
            <a:r>
              <a:rPr lang="en-US" altLang="zh-CN"/>
              <a:t>−Q（s,a）]</a:t>
            </a:r>
            <a:endParaRPr lang="en-US" altLang="zh-CN"/>
          </a:p>
        </p:txBody>
      </p:sp>
      <p:pic>
        <p:nvPicPr>
          <p:cNvPr id="6" name="图片 5" descr="sars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2306955"/>
            <a:ext cx="5457190" cy="4476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83935" y="3235960"/>
            <a:ext cx="51746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Q-Learning算法，先假设下一步选取最大奖赏的动作，更新值函数。但是下一步不一定选取最大奖励的动作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Sarsa算法先选取下一状态执行的动作，然后根据所执行的动作，更新值函数。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65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Q-learning与</a:t>
            </a:r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Sarsa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3535" y="1699260"/>
            <a:ext cx="3211195" cy="1894840"/>
            <a:chOff x="1414" y="3062"/>
            <a:chExt cx="6039" cy="3854"/>
          </a:xfrm>
        </p:grpSpPr>
        <p:pic>
          <p:nvPicPr>
            <p:cNvPr id="4" name="图片 3" descr="Screenshot from 2022-10-21 13-17-36"/>
            <p:cNvPicPr>
              <a:picLocks noChangeAspect="1"/>
            </p:cNvPicPr>
            <p:nvPr/>
          </p:nvPicPr>
          <p:blipFill>
            <a:blip r:embed="rId1"/>
            <a:srcRect l="687" r="601" b="1876"/>
            <a:stretch>
              <a:fillRect/>
            </a:stretch>
          </p:blipFill>
          <p:spPr>
            <a:xfrm>
              <a:off x="1414" y="3062"/>
              <a:ext cx="3090" cy="3854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4741" y="3062"/>
              <a:ext cx="2713" cy="2484"/>
              <a:chOff x="1497" y="7121"/>
              <a:chExt cx="2713" cy="248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497" y="7121"/>
                <a:ext cx="1210" cy="1097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右箭头 11"/>
              <p:cNvSpPr/>
              <p:nvPr/>
            </p:nvSpPr>
            <p:spPr>
              <a:xfrm>
                <a:off x="2968" y="7201"/>
                <a:ext cx="1242" cy="101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13" name="下箭头 12"/>
              <p:cNvSpPr/>
              <p:nvPr/>
            </p:nvSpPr>
            <p:spPr>
              <a:xfrm>
                <a:off x="1513" y="8331"/>
                <a:ext cx="1194" cy="127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pic>
        <p:nvPicPr>
          <p:cNvPr id="11" name="图片 10" descr="s_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40" y="3910965"/>
            <a:ext cx="10058400" cy="28492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78985" y="1837690"/>
            <a:ext cx="5819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动作（action）依据q表选取，正负励（reward）相邻。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q-learning更勇敢，sarsa更谨慎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730"/>
            <a:ext cx="7697470" cy="615950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de-DE" sz="32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de-DE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Sarsa-lamda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" name="图片 2" descr="sarsa_lam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2075180"/>
            <a:ext cx="5457190" cy="4476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72430" y="1671320"/>
            <a:ext cx="484187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/>
              <a:t>Sarsa</a:t>
            </a:r>
            <a:r>
              <a:rPr lang="en-US" altLang="en-US" sz="1400" dirty="0"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-lamda</a:t>
            </a:r>
            <a:r>
              <a:rPr lang="en-US" altLang="zh-CN" sz="1400"/>
              <a:t>的更新：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delta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←R+gamma*Q(s_,a_)-Q(s,a)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</a:endParaRPr>
          </a:p>
          <a:p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E(s,a)←E(s,a)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+1</a:t>
            </a:r>
            <a:endParaRPr lang="en-US" altLang="en-US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For all s∈S,a∈A(s)</a:t>
            </a:r>
            <a:endParaRPr lang="en-US" altLang="en-US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	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Q(s,a)←Q(s,a)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+alpha*delta*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	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E(s,a)←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gamma*lamda*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6447790" y="3270885"/>
            <a:ext cx="603885" cy="7600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162165" y="3466465"/>
            <a:ext cx="1739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若取lamda=0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5321300" y="4053840"/>
            <a:ext cx="396176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delta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←R+gamma*Q(s_,a_)-Q(s,a)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</a:endParaRPr>
          </a:p>
          <a:p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E(s,a)←E(s,a)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+1</a:t>
            </a:r>
            <a:endParaRPr lang="en-US" altLang="en-US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For all s∈S,a∈A(s)</a:t>
            </a:r>
            <a:endParaRPr lang="en-US" altLang="en-US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	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Q(s,a)←Q(s,a)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+alpha*delta*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  <a:p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	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E(s,a)←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gamma*</a:t>
            </a:r>
            <a:r>
              <a:rPr lang="en-US" altLang="en-US" sz="1400">
                <a:solidFill>
                  <a:srgbClr val="FF0000"/>
                </a:solidFill>
                <a:latin typeface="AR PL UKai CN" panose="02000503000000000000" charset="-122"/>
                <a:ea typeface="AR PL UKai CN" panose="02000503000000000000" charset="-122"/>
                <a:sym typeface="+mn-ea"/>
              </a:rPr>
              <a:t>lamda(值为0)</a:t>
            </a:r>
            <a:r>
              <a:rPr lang="en-US" altLang="en-US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*</a:t>
            </a:r>
            <a:r>
              <a:rPr lang="en-US" altLang="zh-CN" sz="1400">
                <a:latin typeface="AR PL UKai CN" panose="02000503000000000000" charset="-122"/>
                <a:ea typeface="AR PL UKai CN" panose="02000503000000000000" charset="-122"/>
                <a:sym typeface="+mn-ea"/>
              </a:rPr>
              <a:t>E(s,a)</a:t>
            </a:r>
            <a:endParaRPr lang="en-US" altLang="zh-CN" sz="1400">
              <a:latin typeface="AR PL UKai CN" panose="02000503000000000000" charset="-122"/>
              <a:ea typeface="AR PL UKai CN" panose="02000503000000000000" charset="-122"/>
              <a:sym typeface="+mn-ea"/>
            </a:endParaRPr>
          </a:p>
        </p:txBody>
      </p:sp>
      <p:pic>
        <p:nvPicPr>
          <p:cNvPr id="15" name="图片 13" descr="Screenshot from 2022-10-13 15-08-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085" y="3011170"/>
            <a:ext cx="3205480" cy="173164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47790" y="5621655"/>
            <a:ext cx="3009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Sarsa-lamda是Sarsa 的一种提速方法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65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Sarsa</a:t>
            </a:r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与Sarsa-lamda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3535" y="1699260"/>
            <a:ext cx="3211195" cy="1894840"/>
            <a:chOff x="1414" y="3062"/>
            <a:chExt cx="6039" cy="3854"/>
          </a:xfrm>
        </p:grpSpPr>
        <p:pic>
          <p:nvPicPr>
            <p:cNvPr id="4" name="图片 3" descr="Screenshot from 2022-10-21 13-17-36"/>
            <p:cNvPicPr>
              <a:picLocks noChangeAspect="1"/>
            </p:cNvPicPr>
            <p:nvPr/>
          </p:nvPicPr>
          <p:blipFill>
            <a:blip r:embed="rId1"/>
            <a:srcRect l="687" r="601" b="1876"/>
            <a:stretch>
              <a:fillRect/>
            </a:stretch>
          </p:blipFill>
          <p:spPr>
            <a:xfrm>
              <a:off x="1414" y="3062"/>
              <a:ext cx="3090" cy="3854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4741" y="3062"/>
              <a:ext cx="2713" cy="2484"/>
              <a:chOff x="1497" y="7121"/>
              <a:chExt cx="2713" cy="2484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497" y="7121"/>
                <a:ext cx="1210" cy="1097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右箭头 11"/>
              <p:cNvSpPr/>
              <p:nvPr/>
            </p:nvSpPr>
            <p:spPr>
              <a:xfrm>
                <a:off x="2968" y="7201"/>
                <a:ext cx="1242" cy="101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13" name="下箭头 12"/>
              <p:cNvSpPr/>
              <p:nvPr/>
            </p:nvSpPr>
            <p:spPr>
              <a:xfrm>
                <a:off x="1513" y="8331"/>
                <a:ext cx="1194" cy="127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4578985" y="1837690"/>
            <a:ext cx="5819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每次</a:t>
            </a:r>
            <a:r>
              <a:rPr lang="en-US" altLang="en-US"/>
              <a:t>采取动作（action）</a:t>
            </a:r>
            <a:r>
              <a:rPr lang="en-US" altLang="zh-CN"/>
              <a:t>获得reward后，Sarsa只对前一步Q(s,a)进行更新，Sarsa(lambda) 则会对获得reward之前的步进行更新。</a:t>
            </a:r>
            <a:endParaRPr lang="en-US" altLang="zh-CN"/>
          </a:p>
        </p:txBody>
      </p:sp>
      <p:graphicFrame>
        <p:nvGraphicFramePr>
          <p:cNvPr id="18" name="表格 17"/>
          <p:cNvGraphicFramePr/>
          <p:nvPr/>
        </p:nvGraphicFramePr>
        <p:xfrm>
          <a:off x="343535" y="4345940"/>
          <a:ext cx="20193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  <a:gridCol w="504825"/>
              </a:tblGrid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889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2615565" y="4051935"/>
            <a:ext cx="8682355" cy="1954530"/>
            <a:chOff x="4119" y="6381"/>
            <a:chExt cx="13673" cy="3078"/>
          </a:xfrm>
        </p:grpSpPr>
        <p:grpSp>
          <p:nvGrpSpPr>
            <p:cNvPr id="17" name="组合 16"/>
            <p:cNvGrpSpPr/>
            <p:nvPr/>
          </p:nvGrpSpPr>
          <p:grpSpPr>
            <a:xfrm>
              <a:off x="4119" y="6381"/>
              <a:ext cx="9258" cy="2958"/>
              <a:chOff x="4119" y="6381"/>
              <a:chExt cx="9258" cy="2958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600" y="6381"/>
                <a:ext cx="8777" cy="1236"/>
                <a:chOff x="4131" y="4935"/>
                <a:chExt cx="8777" cy="1236"/>
              </a:xfrm>
            </p:grpSpPr>
            <p:sp>
              <p:nvSpPr>
                <p:cNvPr id="6" name="文本框 5"/>
                <p:cNvSpPr txBox="1"/>
                <p:nvPr/>
              </p:nvSpPr>
              <p:spPr>
                <a:xfrm>
                  <a:off x="4131" y="5591"/>
                  <a:ext cx="1459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en-US" dirty="0">
                      <a:solidFill>
                        <a:srgbClr val="FF0000"/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  <a:sym typeface="+mn-ea"/>
                    </a:rPr>
                    <a:t>Sarsa</a:t>
                  </a:r>
                  <a:endParaRPr lang="en-US" altLang="en-US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sym typeface="+mn-ea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10361" y="5398"/>
                  <a:ext cx="2547" cy="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pPr algn="l"/>
                  <a:r>
                    <a:rPr lang="en-US" altLang="en-US" dirty="0">
                      <a:solidFill>
                        <a:srgbClr val="FF0000"/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  <a:sym typeface="+mn-ea"/>
                    </a:rPr>
                    <a:t>Sarsa-lamda</a:t>
                  </a:r>
                  <a:endParaRPr lang="en-US" altLang="en-US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sym typeface="+mn-ea"/>
                  </a:endParaRP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6378" y="4935"/>
                  <a:ext cx="3623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>
                      <a:solidFill>
                        <a:srgbClr val="FF0000"/>
                      </a:solidFill>
                    </a:rPr>
                    <a:t>运行一个回合的q表</a:t>
                  </a:r>
                  <a:endParaRPr lang="en-US" altLang="zh-CN">
                    <a:solidFill>
                      <a:srgbClr val="FF0000"/>
                    </a:solidFill>
                  </a:endParaRPr>
                </a:p>
              </p:txBody>
            </p:sp>
          </p:grpSp>
          <p:pic>
            <p:nvPicPr>
              <p:cNvPr id="16" name="图片 15" descr="Screenshot from 2022-10-21 20-01-0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19" y="7617"/>
                <a:ext cx="5792" cy="1722"/>
              </a:xfrm>
              <a:prstGeom prst="rect">
                <a:avLst/>
              </a:prstGeom>
            </p:spPr>
          </p:pic>
        </p:grpSp>
        <p:pic>
          <p:nvPicPr>
            <p:cNvPr id="19" name="图片 18" descr="Screenshot from 2022-10-21 20-05-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8" y="7495"/>
              <a:ext cx="7454" cy="196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</a:t>
            </a:r>
            <a:r>
              <a:rPr lang="en-US" altLang="en-US" sz="4800"/>
              <a:t>0</a:t>
            </a:r>
            <a:r>
              <a:rPr lang="en-US" altLang="zh-CN" sz="4800"/>
              <a:t>.</a:t>
            </a:r>
            <a:r>
              <a:rPr lang="en-US" altLang="en-US" sz="4800"/>
              <a:t>27</a:t>
            </a:r>
            <a:endParaRPr lang="en-US" altLang="en-US"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0720"/>
          </a:xfrm>
        </p:spPr>
        <p:txBody>
          <a:bodyPr>
            <a:normAutofit fontScale="90000"/>
          </a:bodyPr>
          <a:p>
            <a:r>
              <a:rPr lang="en-US" altLang="zh-CN"/>
              <a:t>关于gym的 Cart Pole（推杆）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" y="1144905"/>
            <a:ext cx="2557780" cy="18141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78835" y="1127125"/>
            <a:ext cx="76841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智能体</a:t>
            </a:r>
            <a:r>
              <a:rPr lang="en-US" altLang="zh-CN"/>
              <a:t>（Agent）：黑色滑块</a:t>
            </a:r>
            <a:endParaRPr lang="en-US" altLang="zh-CN"/>
          </a:p>
          <a:p>
            <a:r>
              <a:rPr lang="en-US" altLang="zh-CN"/>
              <a:t>动作（Action）：向左1，向右0</a:t>
            </a:r>
            <a:endParaRPr lang="en-US" altLang="zh-CN"/>
          </a:p>
          <a:p>
            <a:r>
              <a:rPr lang="en-US" altLang="zh-CN"/>
              <a:t>观测值（observation）：位置（中心点左右各4.8之间），速度，极角（竖直左右极角各0.42之间），极角速度</a:t>
            </a:r>
            <a:endParaRPr lang="en-US" altLang="zh-CN"/>
          </a:p>
          <a:p>
            <a:r>
              <a:rPr lang="en-US" altLang="zh-CN"/>
              <a:t>奖励（reward）：依据极角和位置而定</a:t>
            </a:r>
            <a:endParaRPr lang="en-US" altLang="zh-CN"/>
          </a:p>
        </p:txBody>
      </p:sp>
      <p:pic>
        <p:nvPicPr>
          <p:cNvPr id="6" name="图片 5" descr="carpo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2531745"/>
            <a:ext cx="3813175" cy="433959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5277485" y="3384550"/>
            <a:ext cx="3266440" cy="2346325"/>
            <a:chOff x="6638" y="5643"/>
            <a:chExt cx="5144" cy="3695"/>
          </a:xfrm>
        </p:grpSpPr>
        <p:pic>
          <p:nvPicPr>
            <p:cNvPr id="3" name="图片 2" descr="loss优化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8" y="6248"/>
              <a:ext cx="5144" cy="309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7192" y="5643"/>
              <a:ext cx="398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RL.learn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0720"/>
          </a:xfrm>
        </p:spPr>
        <p:txBody>
          <a:bodyPr>
            <a:normAutofit fontScale="90000"/>
          </a:bodyPr>
          <a:p>
            <a:r>
              <a:rPr lang="en-US" altLang="en-US"/>
              <a:t>神经网络</a:t>
            </a:r>
            <a:endParaRPr lang="en-US" altLang="en-US"/>
          </a:p>
        </p:txBody>
      </p:sp>
      <p:pic>
        <p:nvPicPr>
          <p:cNvPr id="3" name="图片 2" descr="tfexample2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" y="1368425"/>
            <a:ext cx="4380865" cy="4780915"/>
          </a:xfrm>
          <a:prstGeom prst="rect">
            <a:avLst/>
          </a:prstGeom>
        </p:spPr>
      </p:pic>
      <p:pic>
        <p:nvPicPr>
          <p:cNvPr id="6" name="图片 5" descr="Screenshot from 2022-10-28 15-10-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20" y="1738630"/>
            <a:ext cx="6821805" cy="2273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2022.11.5</a:t>
            </a:r>
            <a:endParaRPr lang="en-US" altLang="zh-CN"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9"/>
          <p:cNvSpPr txBox="1"/>
          <p:nvPr/>
        </p:nvSpPr>
        <p:spPr>
          <a:xfrm>
            <a:off x="2615565" y="114165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DQN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1785" y="2144395"/>
            <a:ext cx="494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Q_learning:Q值在试验的同时反复更新。</a:t>
            </a:r>
            <a:endParaRPr lang="en-US" altLang="zh-CN"/>
          </a:p>
        </p:txBody>
      </p:sp>
      <p:sp>
        <p:nvSpPr>
          <p:cNvPr id="5" name="椭圆形标注 4"/>
          <p:cNvSpPr/>
          <p:nvPr/>
        </p:nvSpPr>
        <p:spPr>
          <a:xfrm>
            <a:off x="1274445" y="1141730"/>
            <a:ext cx="2051050" cy="79121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维度灾难</a:t>
            </a:r>
            <a:r>
              <a:rPr lang="en-US" altLang="zh-CN"/>
              <a:t>!</a:t>
            </a:r>
            <a:endParaRPr lang="en-US" altLang="zh-CN"/>
          </a:p>
        </p:txBody>
      </p:sp>
      <p:sp>
        <p:nvSpPr>
          <p:cNvPr id="11" name="下箭头 10"/>
          <p:cNvSpPr/>
          <p:nvPr/>
        </p:nvSpPr>
        <p:spPr>
          <a:xfrm>
            <a:off x="1925320" y="251269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17550" y="3143885"/>
            <a:ext cx="3165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函数（近似）表示</a:t>
            </a:r>
            <a:endParaRPr lang="en-US" altLang="zh-CN"/>
          </a:p>
          <a:p>
            <a:pPr algn="ctr"/>
            <a:r>
              <a:rPr lang="en-US" altLang="zh-CN"/>
              <a:t>Q（s,a)</a:t>
            </a:r>
            <a:r>
              <a:rPr lang="en-US" altLang="zh-CN">
                <a:latin typeface="Arial" panose="02080604020202020204" pitchFamily="34" charset="0"/>
                <a:cs typeface="Arial" panose="02080604020202020204" pitchFamily="34" charset="0"/>
              </a:rPr>
              <a:t>≈f(s,a,w)</a:t>
            </a:r>
            <a:endParaRPr lang="en-US" altLang="zh-CN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algn="ctr"/>
            <a:r>
              <a:rPr lang="en-US" altLang="zh-CN"/>
              <a:t>w是函数f的参数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29285" y="4726305"/>
            <a:ext cx="291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用神经网络来表示这个函数f。</a:t>
            </a:r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1925320" y="4038600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carpole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8840" y="1636395"/>
            <a:ext cx="6905625" cy="5070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</a:t>
            </a:r>
            <a:r>
              <a:rPr lang="en-US" altLang="en-US" sz="4800"/>
              <a:t>8</a:t>
            </a:r>
            <a:endParaRPr lang="en-US" altLang="en-US" sz="4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占位符 9"/>
          <p:cNvSpPr txBox="1"/>
          <p:nvPr/>
        </p:nvSpPr>
        <p:spPr>
          <a:xfrm>
            <a:off x="2557145" y="47998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Policy Gradients 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2" name="图片 1" descr="pg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1013460"/>
            <a:ext cx="5365750" cy="1188085"/>
          </a:xfrm>
          <a:prstGeom prst="rect">
            <a:avLst/>
          </a:prstGeom>
        </p:spPr>
      </p:pic>
      <p:pic>
        <p:nvPicPr>
          <p:cNvPr id="9" name="图片 8" descr="Screenshot from 2022-11-08 10-50-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" y="2954655"/>
            <a:ext cx="2258060" cy="632460"/>
          </a:xfrm>
          <a:prstGeom prst="rect">
            <a:avLst/>
          </a:prstGeom>
        </p:spPr>
      </p:pic>
      <p:pic>
        <p:nvPicPr>
          <p:cNvPr id="11" name="图片 10" descr="Screenshot from 2022-11-08 10-53-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255" y="2847340"/>
            <a:ext cx="3424555" cy="846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533130" y="645160"/>
            <a:ext cx="2560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回合更新</a:t>
            </a:r>
            <a:endParaRPr lang="en-US" altLang="zh-CN"/>
          </a:p>
        </p:txBody>
      </p:sp>
      <p:pic>
        <p:nvPicPr>
          <p:cNvPr id="14" name="图片 13" descr="policyg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705" y="938530"/>
            <a:ext cx="5037455" cy="57950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04495" y="3776345"/>
            <a:ext cx="59493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输入：N个蒙特卡罗完整序列,训练步长α</a:t>
            </a:r>
            <a:endParaRPr lang="zh-CN" altLang="en-US" sz="1400"/>
          </a:p>
          <a:p>
            <a:r>
              <a:rPr lang="zh-CN" altLang="en-US" sz="1400"/>
              <a:t>输出：策略函数的参数θ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1. for 每个蒙特卡罗序列:</a:t>
            </a:r>
            <a:endParaRPr lang="zh-CN" altLang="en-US" sz="1400"/>
          </a:p>
          <a:p>
            <a:r>
              <a:rPr lang="zh-CN" altLang="en-US" sz="1400"/>
              <a:t>    a. 用蒙特卡罗法计算序列每个时间位置t的状态价值vt</a:t>
            </a:r>
            <a:endParaRPr lang="zh-CN" altLang="en-US" sz="1400"/>
          </a:p>
          <a:p>
            <a:r>
              <a:rPr lang="zh-CN" altLang="en-US" sz="1400"/>
              <a:t>    b. 对序列每个时间位置t，使用梯度上升法，更新策略函数的参数θ：</a:t>
            </a:r>
            <a:endParaRPr lang="zh-CN" altLang="en-US" sz="1400"/>
          </a:p>
          <a:p>
            <a:r>
              <a:rPr lang="en-US" altLang="zh-CN" sz="1400"/>
              <a:t>	</a:t>
            </a:r>
            <a:r>
              <a:rPr lang="zh-CN" altLang="en-US" sz="1400"/>
              <a:t>θ=θ+α∇</a:t>
            </a:r>
            <a:r>
              <a:rPr lang="zh-CN" altLang="en-US" sz="1400" baseline="-25000"/>
              <a:t>θ</a:t>
            </a:r>
            <a:r>
              <a:rPr lang="zh-CN" altLang="en-US" sz="1400"/>
              <a:t>logπ</a:t>
            </a:r>
            <a:r>
              <a:rPr lang="zh-CN" altLang="en-US" sz="1400" baseline="-25000"/>
              <a:t>θ</a:t>
            </a:r>
            <a:r>
              <a:rPr lang="zh-CN" altLang="en-US" sz="1400"/>
              <a:t>(st,at)vt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2. 返回策略函数的参数θ</a:t>
            </a:r>
            <a:endParaRPr lang="zh-CN" altLang="en-US" sz="1400"/>
          </a:p>
        </p:txBody>
      </p:sp>
      <p:sp>
        <p:nvSpPr>
          <p:cNvPr id="16" name="椭圆形标注 15"/>
          <p:cNvSpPr/>
          <p:nvPr/>
        </p:nvSpPr>
        <p:spPr>
          <a:xfrm>
            <a:off x="5704840" y="2455545"/>
            <a:ext cx="1907540" cy="611505"/>
          </a:xfrm>
          <a:prstGeom prst="wedgeEllipseCallout">
            <a:avLst>
              <a:gd name="adj1" fmla="val 83808"/>
              <a:gd name="adj2" fmla="val -90888"/>
            </a:avLst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000"/>
              <a:t>不同于DQN的Q值，此处神经网络输出的是概率值</a:t>
            </a:r>
            <a:endParaRPr lang="en-US" altLang="zh-CN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</a:t>
            </a:r>
            <a:r>
              <a:rPr lang="en-US" altLang="en-US" sz="4800"/>
              <a:t>12</a:t>
            </a:r>
            <a:endParaRPr lang="en-US" altLang="en-US" sz="4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占位符 9"/>
          <p:cNvSpPr txBox="1"/>
          <p:nvPr/>
        </p:nvSpPr>
        <p:spPr>
          <a:xfrm>
            <a:off x="2557145" y="479986"/>
            <a:ext cx="6229350" cy="615951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80604020202020204" pitchFamily="34" charset="0"/>
              <a:buNone/>
              <a:defRPr sz="4000" b="1" kern="1200" spc="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8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latin typeface="KaiTi" panose="02010609060101010101" pitchFamily="49" charset="-122"/>
                <a:ea typeface="KaiTi" panose="02010609060101010101" pitchFamily="49" charset="-122"/>
              </a:rPr>
              <a:t>Actor-Critic 演员评论家 </a:t>
            </a:r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en-US" sz="3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11125" y="1096010"/>
            <a:ext cx="2582545" cy="494665"/>
          </a:xfrm>
          <a:prstGeom prst="wedgeRectCallout">
            <a:avLst>
              <a:gd name="adj1" fmla="val 72679"/>
              <a:gd name="adj2" fmla="val -70661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FF0000"/>
                </a:solidFill>
              </a:rPr>
              <a:t>Actor（演员）是策略函数π </a:t>
            </a:r>
            <a:r>
              <a:rPr lang="en-US" altLang="zh-CN" sz="1200" baseline="-25000">
                <a:solidFill>
                  <a:srgbClr val="FF0000"/>
                </a:solidFill>
              </a:rPr>
              <a:t>θ</a:t>
            </a:r>
            <a:r>
              <a:rPr lang="en-US" altLang="zh-CN" sz="1200">
                <a:solidFill>
                  <a:srgbClr val="FF0000"/>
                </a:solidFill>
              </a:rPr>
              <a:t> ( s ) </a:t>
            </a:r>
            <a:endParaRPr lang="en-US" altLang="zh-CN" sz="1200" baseline="-25000">
              <a:solidFill>
                <a:srgbClr val="FF0000"/>
              </a:solidFill>
            </a:endParaRPr>
          </a:p>
          <a:p>
            <a:pPr algn="ctr"/>
            <a:r>
              <a:rPr lang="en-US" altLang="zh-CN" sz="1200">
                <a:solidFill>
                  <a:srgbClr val="FF0000"/>
                </a:solidFill>
              </a:rPr>
              <a:t>Critic（评论家）是值函数V </a:t>
            </a:r>
            <a:r>
              <a:rPr lang="en-US" altLang="zh-CN" sz="1200" baseline="30000">
                <a:solidFill>
                  <a:srgbClr val="FF0000"/>
                </a:solidFill>
              </a:rPr>
              <a:t>π</a:t>
            </a:r>
            <a:r>
              <a:rPr lang="en-US" altLang="zh-CN" sz="1200">
                <a:solidFill>
                  <a:srgbClr val="FF0000"/>
                </a:solidFill>
              </a:rPr>
              <a:t> ( s )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6" name="图片 5" descr="pg0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6385" y="1004570"/>
            <a:ext cx="6640195" cy="36855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8615" y="4888230"/>
            <a:ext cx="3853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策略函数Actor</a:t>
            </a:r>
            <a:r>
              <a:rPr lang="en-US" altLang="en-US"/>
              <a:t>，类似于策略梯度</a:t>
            </a:r>
            <a:r>
              <a:rPr lang="en-US" altLang="en-US">
                <a:sym typeface="+mn-ea"/>
              </a:rPr>
              <a:t>算法</a:t>
            </a:r>
            <a:r>
              <a:rPr lang="en-US" altLang="zh-CN"/>
              <a:t>，但是没有Critic的（使用蒙特卡罗法来计算每一步的价值部分替代Critic的功能）。</a:t>
            </a:r>
            <a:endParaRPr lang="en-US" altLang="zh-CN"/>
          </a:p>
        </p:txBody>
      </p:sp>
      <p:grpSp>
        <p:nvGrpSpPr>
          <p:cNvPr id="19" name="组合 18"/>
          <p:cNvGrpSpPr/>
          <p:nvPr/>
        </p:nvGrpSpPr>
        <p:grpSpPr>
          <a:xfrm>
            <a:off x="5618480" y="4942840"/>
            <a:ext cx="3542030" cy="1703705"/>
            <a:chOff x="8848" y="7784"/>
            <a:chExt cx="5578" cy="2683"/>
          </a:xfrm>
        </p:grpSpPr>
        <p:sp>
          <p:nvSpPr>
            <p:cNvPr id="7" name="文本框 6"/>
            <p:cNvSpPr txBox="1"/>
            <p:nvPr/>
          </p:nvSpPr>
          <p:spPr>
            <a:xfrm>
              <a:off x="8848" y="7784"/>
              <a:ext cx="557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拟合值函数V区别于q表，可以近似做以下理解</a:t>
              </a:r>
              <a:endParaRPr lang="en-US" altLang="zh-CN"/>
            </a:p>
            <a:p>
              <a:endParaRPr lang="en-US" altLang="zh-CN"/>
            </a:p>
          </p:txBody>
        </p:sp>
        <p:pic>
          <p:nvPicPr>
            <p:cNvPr id="17" name="图片 16" descr="Screenshot from 2022-11-11 23-37-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8" y="8953"/>
              <a:ext cx="4919" cy="1515"/>
            </a:xfrm>
            <a:prstGeom prst="rect">
              <a:avLst/>
            </a:prstGeom>
          </p:spPr>
        </p:pic>
      </p:grpSp>
      <p:pic>
        <p:nvPicPr>
          <p:cNvPr id="18" name="图片 17" descr="A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5" y="1963420"/>
            <a:ext cx="3980815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</a:t>
            </a:r>
            <a:r>
              <a:rPr lang="en-US" altLang="en-US" sz="4800"/>
              <a:t>22</a:t>
            </a:r>
            <a:endParaRPr lang="en-US" altLang="en-US"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sarsa_lam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330" y="2686685"/>
            <a:ext cx="4273550" cy="4191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46935" y="463550"/>
            <a:ext cx="789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DDPG</a:t>
            </a:r>
            <a:r>
              <a:rPr lang="en-US" altLang="zh-CN">
                <a:latin typeface="aakar" panose="02000600040000000000" charset="0"/>
                <a:cs typeface="aakar" panose="02000600040000000000" charset="0"/>
              </a:rPr>
              <a:t>(D</a:t>
            </a:r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eep </a:t>
            </a:r>
            <a:r>
              <a:rPr lang="en-US" altLang="zh-CN">
                <a:latin typeface="aakar" panose="02000600040000000000" charset="0"/>
                <a:cs typeface="aakar" panose="02000600040000000000" charset="0"/>
              </a:rPr>
              <a:t>D</a:t>
            </a:r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eterministic </a:t>
            </a:r>
            <a:r>
              <a:rPr lang="en-US" altLang="zh-CN">
                <a:latin typeface="aakar" panose="02000600040000000000" charset="0"/>
                <a:cs typeface="aakar" panose="02000600040000000000" charset="0"/>
              </a:rPr>
              <a:t>P</a:t>
            </a:r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olicy </a:t>
            </a:r>
            <a:r>
              <a:rPr lang="en-US" altLang="zh-CN">
                <a:latin typeface="aakar" panose="02000600040000000000" charset="0"/>
                <a:cs typeface="aakar" panose="02000600040000000000" charset="0"/>
              </a:rPr>
              <a:t>G</a:t>
            </a:r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radient</a:t>
            </a:r>
            <a:r>
              <a:rPr lang="en-US" altLang="zh-CN">
                <a:latin typeface="aakar" panose="02000600040000000000" charset="0"/>
                <a:cs typeface="aakar" panose="02000600040000000000" charset="0"/>
              </a:rPr>
              <a:t>)</a:t>
            </a:r>
            <a:r>
              <a:rPr lang="zh-CN" altLang="en-US">
                <a:latin typeface="aakar" panose="02000600040000000000" charset="0"/>
                <a:cs typeface="aakar" panose="02000600040000000000" charset="0"/>
              </a:rPr>
              <a:t>深度确定性策略梯度算法</a:t>
            </a:r>
            <a:endParaRPr lang="zh-CN" altLang="en-US">
              <a:latin typeface="aakar" panose="02000600040000000000" charset="0"/>
              <a:cs typeface="aakar" panose="02000600040000000000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8485" y="1310005"/>
            <a:ext cx="5036185" cy="836930"/>
            <a:chOff x="9163" y="2321"/>
            <a:chExt cx="7931" cy="1318"/>
          </a:xfrm>
        </p:grpSpPr>
        <p:sp>
          <p:nvSpPr>
            <p:cNvPr id="6" name="椭圆 5"/>
            <p:cNvSpPr/>
            <p:nvPr/>
          </p:nvSpPr>
          <p:spPr>
            <a:xfrm>
              <a:off x="9163" y="2321"/>
              <a:ext cx="3729" cy="131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CriticNet </a:t>
              </a:r>
              <a:endParaRPr lang="zh-CN" altLang="en-US" sz="14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输入观测值&amp;扭矩</a:t>
              </a:r>
              <a:endParaRPr lang="zh-CN" altLang="en-US" sz="14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输出价值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3366" y="2321"/>
              <a:ext cx="3729" cy="131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ActorNet</a:t>
              </a:r>
              <a:endParaRPr lang="zh-CN" altLang="en-US" sz="12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输入为观测值</a:t>
              </a:r>
              <a:endParaRPr lang="zh-CN" altLang="en-US" sz="12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输出扭矩（动作）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 descr="tfexample2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770" y="2515870"/>
            <a:ext cx="7952105" cy="3985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</a:t>
            </a:r>
            <a:r>
              <a:rPr lang="en-US" altLang="en-US" sz="4800"/>
              <a:t>26</a:t>
            </a:r>
            <a:endParaRPr lang="en-US" altLang="en-US" sz="4800"/>
          </a:p>
          <a:p>
            <a:pPr algn="ctr"/>
            <a:r>
              <a:rPr lang="en-US" altLang="en-US" sz="2000"/>
              <a:t>配色</a:t>
            </a:r>
            <a:endParaRPr lang="en-US" altLang="en-US" sz="2000"/>
          </a:p>
          <a:p>
            <a:pPr algn="ctr"/>
            <a:r>
              <a:rPr lang="en-US" altLang="en-US" sz="2000"/>
              <a:t>流程名字</a:t>
            </a:r>
            <a:endParaRPr lang="en-US" altLang="en-US" sz="2000"/>
          </a:p>
          <a:p>
            <a:pPr algn="ctr"/>
            <a:r>
              <a:rPr lang="en-US" altLang="en-US" sz="2000"/>
              <a:t>保存模型</a:t>
            </a:r>
            <a:endParaRPr lang="en-US" altLang="en-US" sz="2000"/>
          </a:p>
          <a:p>
            <a:pPr algn="ctr"/>
            <a:r>
              <a:rPr lang="en-US" altLang="en-US" sz="2000"/>
              <a:t>paper with code</a:t>
            </a:r>
            <a:endParaRPr lang="en-US" altLang="en-US" sz="2000"/>
          </a:p>
          <a:p>
            <a:pPr algn="ctr"/>
            <a:endParaRPr lang="en-US" altLang="en-US" sz="2000"/>
          </a:p>
          <a:p>
            <a:pPr algn="ctr"/>
            <a:r>
              <a:rPr lang="en-US" altLang="en-US" sz="2000"/>
              <a:t>RLN</a:t>
            </a:r>
            <a:endParaRPr lang="en-US" alt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46935" y="463550"/>
            <a:ext cx="7898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>
                <a:latin typeface="aakar" panose="02000600040000000000" charset="0"/>
                <a:cs typeface="aakar" panose="02000600040000000000" charset="0"/>
              </a:rPr>
              <a:t>Multi-Agent Actor-Critic for Mixed Cooperative-Competitive Environments</a:t>
            </a:r>
            <a:endParaRPr>
              <a:latin typeface="aakar" panose="02000600040000000000" charset="0"/>
              <a:cs typeface="aakar" panose="02000600040000000000" charset="0"/>
            </a:endParaRPr>
          </a:p>
          <a:p>
            <a:pPr algn="ctr"/>
            <a:r>
              <a:rPr lang="en-US">
                <a:latin typeface="aakar" panose="02000600040000000000" charset="0"/>
                <a:cs typeface="aakar" panose="02000600040000000000" charset="0"/>
                <a:sym typeface="+mn-ea"/>
              </a:rPr>
              <a:t>混合合作竞争环境</a:t>
            </a:r>
            <a:r>
              <a:rPr lang="en-US" altLang="en-US">
                <a:latin typeface="aakar" panose="02000600040000000000" charset="0"/>
                <a:cs typeface="aakar" panose="02000600040000000000" charset="0"/>
                <a:sym typeface="+mn-ea"/>
              </a:rPr>
              <a:t>中</a:t>
            </a:r>
            <a:r>
              <a:rPr lang="en-US">
                <a:latin typeface="aakar" panose="02000600040000000000" charset="0"/>
                <a:cs typeface="aakar" panose="02000600040000000000" charset="0"/>
              </a:rPr>
              <a:t>多智能体</a:t>
            </a:r>
            <a:r>
              <a:rPr>
                <a:latin typeface="aakar" panose="02000600040000000000" charset="0"/>
                <a:cs typeface="aakar" panose="02000600040000000000" charset="0"/>
                <a:sym typeface="+mn-ea"/>
              </a:rPr>
              <a:t>Actor-Critic</a:t>
            </a:r>
            <a:r>
              <a:rPr lang="en-US">
                <a:latin typeface="aakar" panose="02000600040000000000" charset="0"/>
                <a:cs typeface="aakar" panose="02000600040000000000" charset="0"/>
                <a:sym typeface="+mn-ea"/>
              </a:rPr>
              <a:t>算法</a:t>
            </a:r>
            <a:endParaRPr lang="en-US">
              <a:latin typeface="aakar" panose="02000600040000000000" charset="0"/>
              <a:cs typeface="aakar" panose="02000600040000000000" charset="0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19125" y="1273810"/>
            <a:ext cx="2008505" cy="9290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Q_</a:t>
            </a:r>
            <a:r>
              <a:rPr lang="zh-CN" altLang="en-US">
                <a:solidFill>
                  <a:schemeClr val="tx1"/>
                </a:solidFill>
              </a:rPr>
              <a:t>learning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52545" y="1273810"/>
            <a:ext cx="2008505" cy="9290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P</a:t>
            </a:r>
            <a:r>
              <a:rPr>
                <a:solidFill>
                  <a:schemeClr val="tx1"/>
                </a:solidFill>
              </a:rPr>
              <a:t>olicy </a:t>
            </a:r>
            <a:r>
              <a:rPr lang="en-US">
                <a:solidFill>
                  <a:schemeClr val="tx1"/>
                </a:solidFill>
              </a:rPr>
              <a:t>G</a:t>
            </a:r>
            <a:r>
              <a:rPr>
                <a:solidFill>
                  <a:schemeClr val="tx1"/>
                </a:solidFill>
              </a:rPr>
              <a:t>radient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3275" y="2561590"/>
            <a:ext cx="1640205" cy="10128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>
                <a:solidFill>
                  <a:schemeClr val="tx1"/>
                </a:solidFill>
                <a:sym typeface="+mn-ea"/>
              </a:rPr>
              <a:t>训练</a:t>
            </a:r>
            <a:r>
              <a:rPr lang="en-US">
                <a:solidFill>
                  <a:schemeClr val="tx1"/>
                </a:solidFill>
                <a:sym typeface="+mn-ea"/>
              </a:rPr>
              <a:t>中</a:t>
            </a:r>
            <a:r>
              <a:rPr>
                <a:solidFill>
                  <a:schemeClr val="tx1"/>
                </a:solidFill>
                <a:sym typeface="+mn-ea"/>
              </a:rPr>
              <a:t>，每个Agent的策略都在变化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爆炸形 1 8"/>
          <p:cNvSpPr/>
          <p:nvPr/>
        </p:nvSpPr>
        <p:spPr>
          <a:xfrm>
            <a:off x="221615" y="5111115"/>
            <a:ext cx="2493645" cy="1431290"/>
          </a:xfrm>
          <a:prstGeom prst="irregularSeal1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单个Agent策略</a:t>
            </a:r>
            <a:r>
              <a:rPr lang="en-US" altLang="en-US" sz="1600">
                <a:solidFill>
                  <a:schemeClr val="tx1"/>
                </a:solidFill>
                <a:sym typeface="+mn-ea"/>
              </a:rPr>
              <a:t>无法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解释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3275" y="3869690"/>
            <a:ext cx="1640205" cy="10128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>
                <a:solidFill>
                  <a:schemeClr val="tx1"/>
                </a:solidFill>
                <a:sym typeface="+mn-ea"/>
              </a:rPr>
              <a:t>单个Agent的角度来看，环境变得不稳定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14185" y="1663700"/>
            <a:ext cx="3211195" cy="1894840"/>
            <a:chOff x="1414" y="3062"/>
            <a:chExt cx="6039" cy="3854"/>
          </a:xfrm>
        </p:grpSpPr>
        <p:pic>
          <p:nvPicPr>
            <p:cNvPr id="12" name="图片 11" descr="Screenshot from 2022-10-21 13-17-36"/>
            <p:cNvPicPr>
              <a:picLocks noChangeAspect="1"/>
            </p:cNvPicPr>
            <p:nvPr/>
          </p:nvPicPr>
          <p:blipFill>
            <a:blip r:embed="rId1"/>
            <a:srcRect l="687" r="601" b="1876"/>
            <a:stretch>
              <a:fillRect/>
            </a:stretch>
          </p:blipFill>
          <p:spPr>
            <a:xfrm>
              <a:off x="1414" y="3062"/>
              <a:ext cx="3090" cy="3854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4741" y="3062"/>
              <a:ext cx="2713" cy="2484"/>
              <a:chOff x="1497" y="7121"/>
              <a:chExt cx="2713" cy="2484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497" y="7121"/>
                <a:ext cx="1210" cy="1097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右箭头 13"/>
              <p:cNvSpPr/>
              <p:nvPr/>
            </p:nvSpPr>
            <p:spPr>
              <a:xfrm>
                <a:off x="2968" y="7201"/>
                <a:ext cx="1242" cy="101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15" name="下箭头 14"/>
              <p:cNvSpPr/>
              <p:nvPr/>
            </p:nvSpPr>
            <p:spPr>
              <a:xfrm>
                <a:off x="1513" y="8331"/>
                <a:ext cx="1194" cy="127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4036695" y="2545715"/>
            <a:ext cx="1640205" cy="10128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Agent数量增加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方差</a:t>
            </a:r>
            <a:r>
              <a:rPr lang="en-US" altLang="en-US">
                <a:solidFill>
                  <a:schemeClr val="tx1"/>
                </a:solidFill>
              </a:rPr>
              <a:t>变大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575050" y="4251960"/>
            <a:ext cx="2008505" cy="9290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600">
                <a:solidFill>
                  <a:srgbClr val="FF0000"/>
                </a:solidFill>
              </a:rPr>
              <a:t>MADDPG</a:t>
            </a:r>
            <a:endParaRPr sz="1600">
              <a:solidFill>
                <a:srgbClr val="FF0000"/>
              </a:solidFill>
            </a:endParaRPr>
          </a:p>
          <a:p>
            <a:pPr algn="ctr"/>
            <a:r>
              <a:rPr lang="en-US" sz="1000">
                <a:solidFill>
                  <a:srgbClr val="FF0000"/>
                </a:solidFill>
              </a:rPr>
              <a:t>（改进Actor_Critic）</a:t>
            </a:r>
            <a:endParaRPr lang="en-US" sz="1000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>
            <a:stCxn id="9" idx="3"/>
            <a:endCxn id="18" idx="2"/>
          </p:cNvCxnSpPr>
          <p:nvPr/>
        </p:nvCxnSpPr>
        <p:spPr>
          <a:xfrm flipV="1">
            <a:off x="2723515" y="4716780"/>
            <a:ext cx="859790" cy="1275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下箭头 19"/>
          <p:cNvSpPr/>
          <p:nvPr/>
        </p:nvSpPr>
        <p:spPr>
          <a:xfrm>
            <a:off x="1445260" y="2263140"/>
            <a:ext cx="172085" cy="283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1445260" y="4930140"/>
            <a:ext cx="172085" cy="283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1445260" y="3585845"/>
            <a:ext cx="172085" cy="283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4770755" y="2261870"/>
            <a:ext cx="172085" cy="2838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16" idx="2"/>
            <a:endCxn id="18" idx="0"/>
          </p:cNvCxnSpPr>
          <p:nvPr/>
        </p:nvCxnSpPr>
        <p:spPr>
          <a:xfrm flipH="1">
            <a:off x="4579620" y="3558540"/>
            <a:ext cx="277495" cy="693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云形标注 28"/>
          <p:cNvSpPr/>
          <p:nvPr/>
        </p:nvSpPr>
        <p:spPr>
          <a:xfrm>
            <a:off x="10045065" y="2545715"/>
            <a:ext cx="2063750" cy="857885"/>
          </a:xfrm>
          <a:prstGeom prst="cloudCallout">
            <a:avLst>
              <a:gd name="adj1" fmla="val -95630"/>
              <a:gd name="adj2" fmla="val 433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假如多个探索者不可重合</a:t>
            </a:r>
            <a:endParaRPr lang="zh-CN" altLang="en-US"/>
          </a:p>
        </p:txBody>
      </p:sp>
      <p:sp>
        <p:nvSpPr>
          <p:cNvPr id="30" name="云形标注 29"/>
          <p:cNvSpPr/>
          <p:nvPr/>
        </p:nvSpPr>
        <p:spPr>
          <a:xfrm>
            <a:off x="2583815" y="2905125"/>
            <a:ext cx="1130935" cy="653415"/>
          </a:xfrm>
          <a:prstGeom prst="cloudCallout">
            <a:avLst>
              <a:gd name="adj1" fmla="val -73702"/>
              <a:gd name="adj2" fmla="val -2926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无人驾驶车队？</a:t>
            </a:r>
            <a:endParaRPr 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5676900" y="3558540"/>
            <a:ext cx="2990850" cy="2461260"/>
            <a:chOff x="8940" y="6616"/>
            <a:chExt cx="4710" cy="3876"/>
          </a:xfrm>
        </p:grpSpPr>
        <p:sp>
          <p:nvSpPr>
            <p:cNvPr id="26" name="矩形 25"/>
            <p:cNvSpPr/>
            <p:nvPr/>
          </p:nvSpPr>
          <p:spPr>
            <a:xfrm>
              <a:off x="10002" y="6616"/>
              <a:ext cx="3649" cy="1073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sym typeface="+mn-ea"/>
                </a:rPr>
                <a:t>执行时只使用自己观察</a:t>
              </a:r>
              <a:r>
                <a:rPr lang="en-US" altLang="en-US">
                  <a:solidFill>
                    <a:schemeClr val="tx1"/>
                  </a:solidFill>
                  <a:sym typeface="+mn-ea"/>
                </a:rPr>
                <a:t>到的信息</a:t>
              </a:r>
              <a:r>
                <a:rPr lang="en-US" altLang="zh-CN">
                  <a:solidFill>
                    <a:schemeClr val="tx1"/>
                  </a:solidFill>
                  <a:sym typeface="+mn-ea"/>
                </a:rPr>
                <a:t>的策略。</a:t>
              </a: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002" y="7988"/>
              <a:ext cx="3649" cy="1073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  <a:sym typeface="+mn-ea"/>
                </a:rPr>
                <a:t>Agent之间</a:t>
              </a:r>
              <a:endParaRPr lang="en-US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en-US" altLang="en-US">
                  <a:solidFill>
                    <a:schemeClr val="tx1"/>
                  </a:solidFill>
                  <a:sym typeface="+mn-ea"/>
                </a:rPr>
                <a:t>无</a:t>
              </a:r>
              <a:r>
                <a:rPr lang="en-US">
                  <a:solidFill>
                    <a:schemeClr val="tx1"/>
                  </a:solidFill>
                  <a:sym typeface="+mn-ea"/>
                </a:rPr>
                <a:t>通信</a:t>
              </a:r>
              <a:r>
                <a:rPr lang="en-US" altLang="en-US">
                  <a:solidFill>
                    <a:schemeClr val="tx1"/>
                  </a:solidFill>
                  <a:sym typeface="+mn-ea"/>
                </a:rPr>
                <a:t>方法</a:t>
              </a:r>
              <a:endParaRPr lang="en-US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0002" y="9420"/>
              <a:ext cx="3649" cy="1073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  <a:sym typeface="+mn-ea"/>
                </a:rPr>
                <a:t>合作or竞争or混合</a:t>
              </a:r>
              <a:endParaRPr lang="en-US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5" name="左大括号 34"/>
            <p:cNvSpPr/>
            <p:nvPr/>
          </p:nvSpPr>
          <p:spPr>
            <a:xfrm>
              <a:off x="8940" y="6696"/>
              <a:ext cx="673" cy="3657"/>
            </a:xfrm>
            <a:prstGeom prst="leftBrace">
              <a:avLst>
                <a:gd name="adj1" fmla="val 8333"/>
                <a:gd name="adj2" fmla="val 4957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026015" y="3714750"/>
            <a:ext cx="1995170" cy="2396490"/>
            <a:chOff x="14739" y="5817"/>
            <a:chExt cx="3142" cy="3774"/>
          </a:xfrm>
        </p:grpSpPr>
        <p:sp>
          <p:nvSpPr>
            <p:cNvPr id="37" name="圆角矩形 36"/>
            <p:cNvSpPr/>
            <p:nvPr/>
          </p:nvSpPr>
          <p:spPr>
            <a:xfrm>
              <a:off x="14739" y="5817"/>
              <a:ext cx="3132" cy="1558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Actor只能访问局部信息(即自身观察的)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4749" y="8033"/>
              <a:ext cx="3132" cy="1558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Critic</a:t>
              </a:r>
              <a:r>
                <a:rPr lang="en-US" altLang="zh-CN">
                  <a:solidFill>
                    <a:schemeClr val="tx1"/>
                  </a:solidFill>
                </a:rPr>
                <a:t>包含</a:t>
              </a:r>
              <a:r>
                <a:rPr lang="zh-CN" altLang="en-US">
                  <a:solidFill>
                    <a:schemeClr val="tx1"/>
                  </a:solidFill>
                </a:rPr>
                <a:t>其他Agent的策略信息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0" name="肘形连接符 39"/>
            <p:cNvCxnSpPr>
              <a:stCxn id="37" idx="1"/>
              <a:endCxn id="39" idx="1"/>
            </p:cNvCxnSpPr>
            <p:nvPr/>
          </p:nvCxnSpPr>
          <p:spPr>
            <a:xfrm rot="10800000" flipH="1" flipV="1">
              <a:off x="14739" y="6596"/>
              <a:ext cx="10" cy="2216"/>
            </a:xfrm>
            <a:prstGeom prst="bentConnector3">
              <a:avLst>
                <a:gd name="adj1" fmla="val -3750000"/>
              </a:avLst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曲线连接符 42"/>
          <p:cNvCxnSpPr/>
          <p:nvPr/>
        </p:nvCxnSpPr>
        <p:spPr>
          <a:xfrm rot="5400000" flipH="1" flipV="1">
            <a:off x="7079615" y="2484755"/>
            <a:ext cx="196215" cy="5196205"/>
          </a:xfrm>
          <a:prstGeom prst="curvedConnector4">
            <a:avLst>
              <a:gd name="adj1" fmla="val -36245"/>
              <a:gd name="adj2" fmla="val 82304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" name="组合 48"/>
          <p:cNvGrpSpPr/>
          <p:nvPr/>
        </p:nvGrpSpPr>
        <p:grpSpPr>
          <a:xfrm>
            <a:off x="450850" y="300990"/>
            <a:ext cx="5624830" cy="6285230"/>
            <a:chOff x="884" y="1096"/>
            <a:chExt cx="8858" cy="9898"/>
          </a:xfrm>
        </p:grpSpPr>
        <p:sp>
          <p:nvSpPr>
            <p:cNvPr id="2" name="文本框 1"/>
            <p:cNvSpPr txBox="1"/>
            <p:nvPr/>
          </p:nvSpPr>
          <p:spPr>
            <a:xfrm>
              <a:off x="2595" y="1096"/>
              <a:ext cx="47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多智能体</a:t>
              </a:r>
              <a:r>
                <a:rPr lang="zh-CN" altLang="en-US"/>
                <a:t>马尔可夫博弈</a:t>
              </a:r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150" y="3784"/>
              <a:ext cx="2199" cy="4191"/>
              <a:chOff x="2424" y="3758"/>
              <a:chExt cx="2199" cy="4191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2424" y="3758"/>
                <a:ext cx="909" cy="857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200">
                    <a:solidFill>
                      <a:schemeClr val="tx1"/>
                    </a:solidFill>
                    <a:sym typeface="+mn-ea"/>
                  </a:rPr>
                  <a:t>O</a:t>
                </a:r>
                <a:r>
                  <a:rPr lang="en-US" altLang="zh-CN" sz="12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12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715" y="3759"/>
                <a:ext cx="909" cy="856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A</a:t>
                </a:r>
                <a:r>
                  <a:rPr lang="en-US" altLang="zh-CN" sz="14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14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424" y="5209"/>
                <a:ext cx="909" cy="857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200">
                    <a:solidFill>
                      <a:schemeClr val="tx1"/>
                    </a:solidFill>
                  </a:rPr>
                  <a:t>O</a:t>
                </a:r>
                <a:r>
                  <a:rPr lang="en-US" altLang="en-US" sz="1200" baseline="-25000">
                    <a:solidFill>
                      <a:schemeClr val="tx1"/>
                    </a:solidFill>
                  </a:rPr>
                  <a:t>2</a:t>
                </a:r>
                <a:endParaRPr lang="en-US" altLang="en-US" sz="12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715" y="5210"/>
                <a:ext cx="909" cy="856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  <a:sym typeface="+mn-ea"/>
                  </a:rPr>
                  <a:t>A</a:t>
                </a:r>
                <a:r>
                  <a:rPr lang="en-US" altLang="en-US" sz="1400" baseline="-25000">
                    <a:solidFill>
                      <a:schemeClr val="tx1"/>
                    </a:solidFill>
                  </a:rPr>
                  <a:t>2</a:t>
                </a:r>
                <a:endParaRPr lang="en-US" altLang="en-US" sz="1400" baseline="-25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2424" y="7093"/>
                <a:ext cx="2199" cy="857"/>
                <a:chOff x="1159" y="5645"/>
                <a:chExt cx="2199" cy="857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1159" y="5645"/>
                  <a:ext cx="909" cy="857"/>
                </a:xfrm>
                <a:prstGeom prst="ellipse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200">
                      <a:solidFill>
                        <a:schemeClr val="tx1"/>
                      </a:solidFill>
                      <a:sym typeface="+mn-ea"/>
                    </a:rPr>
                    <a:t>O</a:t>
                  </a:r>
                  <a:r>
                    <a:rPr lang="en-US" altLang="en-US" sz="1200" baseline="-25000">
                      <a:solidFill>
                        <a:schemeClr val="tx1"/>
                      </a:solidFill>
                    </a:rPr>
                    <a:t>n</a:t>
                  </a:r>
                  <a:endParaRPr lang="en-US" altLang="en-US" sz="120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2450" y="5646"/>
                  <a:ext cx="909" cy="856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  <a:sym typeface="+mn-ea"/>
                    </a:rPr>
                    <a:t>A</a:t>
                  </a:r>
                  <a:r>
                    <a:rPr lang="en-US" altLang="en-US" sz="1400" baseline="-25000">
                      <a:solidFill>
                        <a:schemeClr val="tx1"/>
                      </a:solidFill>
                    </a:rPr>
                    <a:t>n</a:t>
                  </a:r>
                  <a:endParaRPr lang="en-US" altLang="en-US" sz="1400" baseline="-25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2819" y="6210"/>
                <a:ext cx="118" cy="702"/>
                <a:chOff x="1554" y="5196"/>
                <a:chExt cx="118" cy="702"/>
              </a:xfrm>
            </p:grpSpPr>
            <p:sp>
              <p:nvSpPr>
                <p:cNvPr id="10" name="流程图: 联系 9"/>
                <p:cNvSpPr/>
                <p:nvPr/>
              </p:nvSpPr>
              <p:spPr>
                <a:xfrm>
                  <a:off x="1554" y="5196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流程图: 联系 11"/>
                <p:cNvSpPr/>
                <p:nvPr/>
              </p:nvSpPr>
              <p:spPr>
                <a:xfrm>
                  <a:off x="1554" y="5488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" name="流程图: 联系 12"/>
                <p:cNvSpPr/>
                <p:nvPr/>
              </p:nvSpPr>
              <p:spPr>
                <a:xfrm>
                  <a:off x="1554" y="5780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4110" y="6210"/>
                <a:ext cx="118" cy="702"/>
                <a:chOff x="1554" y="5196"/>
                <a:chExt cx="118" cy="702"/>
              </a:xfrm>
            </p:grpSpPr>
            <p:sp>
              <p:nvSpPr>
                <p:cNvPr id="16" name="流程图: 联系 15"/>
                <p:cNvSpPr/>
                <p:nvPr/>
              </p:nvSpPr>
              <p:spPr>
                <a:xfrm>
                  <a:off x="1554" y="5196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联系 16"/>
                <p:cNvSpPr/>
                <p:nvPr/>
              </p:nvSpPr>
              <p:spPr>
                <a:xfrm>
                  <a:off x="1554" y="5488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流程图: 联系 17"/>
                <p:cNvSpPr/>
                <p:nvPr/>
              </p:nvSpPr>
              <p:spPr>
                <a:xfrm>
                  <a:off x="1554" y="5780"/>
                  <a:ext cx="119" cy="1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0" name="圆角矩形 19"/>
            <p:cNvSpPr/>
            <p:nvPr/>
          </p:nvSpPr>
          <p:spPr>
            <a:xfrm>
              <a:off x="6672" y="2831"/>
              <a:ext cx="2740" cy="539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23" y="2647"/>
              <a:ext cx="67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solidFill>
                    <a:srgbClr val="FF0000"/>
                  </a:solidFill>
                </a:rPr>
                <a:t>S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84" y="3948"/>
              <a:ext cx="1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agent</a:t>
              </a:r>
              <a:r>
                <a:rPr lang="en-US" altLang="zh-CN" sz="1600" baseline="-25000"/>
                <a:t>1</a:t>
              </a:r>
              <a:endParaRPr lang="en-US" altLang="zh-CN" sz="1600" baseline="-2500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84" y="5373"/>
              <a:ext cx="1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agent</a:t>
              </a:r>
              <a:r>
                <a:rPr lang="en-US" altLang="en-US" sz="1600" baseline="-25000"/>
                <a:t>2</a:t>
              </a:r>
              <a:endParaRPr lang="en-US" altLang="en-US" sz="1600" baseline="-250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84" y="7256"/>
              <a:ext cx="1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agen</a:t>
              </a:r>
              <a:r>
                <a:rPr lang="en-US" altLang="en-US" sz="1600"/>
                <a:t>t</a:t>
              </a:r>
              <a:r>
                <a:rPr lang="en-US" altLang="en-US" sz="1600" baseline="-25000"/>
                <a:t>n</a:t>
              </a:r>
              <a:endParaRPr lang="en-US" altLang="en-US" sz="1600" baseline="-25000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529" y="6210"/>
              <a:ext cx="118" cy="702"/>
              <a:chOff x="1554" y="5196"/>
              <a:chExt cx="118" cy="702"/>
            </a:xfrm>
          </p:grpSpPr>
          <p:sp>
            <p:nvSpPr>
              <p:cNvPr id="26" name="流程图: 联系 25"/>
              <p:cNvSpPr/>
              <p:nvPr/>
            </p:nvSpPr>
            <p:spPr>
              <a:xfrm>
                <a:off x="1554" y="5196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流程图: 联系 26"/>
              <p:cNvSpPr/>
              <p:nvPr/>
            </p:nvSpPr>
            <p:spPr>
              <a:xfrm>
                <a:off x="1554" y="5488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流程图: 联系 27"/>
              <p:cNvSpPr/>
              <p:nvPr/>
            </p:nvSpPr>
            <p:spPr>
              <a:xfrm>
                <a:off x="1554" y="5780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2352" y="3898"/>
              <a:ext cx="140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>
                  <a:latin typeface="+mj-lt"/>
                  <a:ea typeface="AR PL UKai CN" panose="02000503000000000000" charset="-122"/>
                  <a:cs typeface="+mj-lt"/>
                </a:rPr>
                <a:t>π</a:t>
              </a:r>
              <a:r>
                <a:rPr lang="en-US" altLang="zh-CN" sz="1000">
                  <a:latin typeface="+mj-lt"/>
                  <a:ea typeface="AR PL UKai CN" panose="02000503000000000000" charset="-122"/>
                  <a:cs typeface="+mj-lt"/>
                </a:rPr>
                <a:t>θ</a:t>
              </a:r>
              <a:r>
                <a:rPr lang="en-US" altLang="en-US" sz="1200" baseline="-25000">
                  <a:latin typeface="AR PL UKai CN" panose="02000503000000000000" charset="-122"/>
                  <a:ea typeface="AR PL UKai CN" panose="02000503000000000000" charset="-122"/>
                </a:rPr>
                <a:t>1</a:t>
              </a:r>
              <a:endParaRPr lang="en-US" altLang="en-US" sz="1200" baseline="-25000">
                <a:latin typeface="AR PL UKai CN" panose="02000503000000000000" charset="-122"/>
                <a:ea typeface="AR PL UKai CN" panose="02000503000000000000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292" y="5350"/>
              <a:ext cx="140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>
                  <a:latin typeface="+mj-lt"/>
                  <a:ea typeface="AR PL UKai CN" panose="02000503000000000000" charset="-122"/>
                  <a:cs typeface="+mj-lt"/>
                </a:rPr>
                <a:t>π</a:t>
              </a:r>
              <a:r>
                <a:rPr lang="en-US" altLang="zh-CN" sz="1000">
                  <a:latin typeface="+mj-lt"/>
                  <a:ea typeface="AR PL UKai CN" panose="02000503000000000000" charset="-122"/>
                  <a:cs typeface="+mj-lt"/>
                </a:rPr>
                <a:t>θ</a:t>
              </a:r>
              <a:r>
                <a:rPr lang="en-US" altLang="en-US" sz="1000" baseline="-25000">
                  <a:latin typeface="+mj-lt"/>
                  <a:ea typeface="AR PL UKai CN" panose="02000503000000000000" charset="-122"/>
                  <a:cs typeface="+mj-lt"/>
                </a:rPr>
                <a:t>2</a:t>
              </a:r>
              <a:endParaRPr lang="en-US" altLang="en-US" sz="1000" baseline="-25000">
                <a:latin typeface="+mj-lt"/>
                <a:ea typeface="AR PL UKai CN" panose="02000503000000000000" charset="-122"/>
                <a:cs typeface="+mj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352" y="7256"/>
              <a:ext cx="140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000">
                  <a:latin typeface="+mj-lt"/>
                  <a:ea typeface="AR PL UKai CN" panose="02000503000000000000" charset="-122"/>
                  <a:cs typeface="+mj-lt"/>
                </a:rPr>
                <a:t>π</a:t>
              </a:r>
              <a:r>
                <a:rPr lang="en-US" altLang="zh-CN" sz="1000">
                  <a:latin typeface="+mj-lt"/>
                  <a:ea typeface="AR PL UKai CN" panose="02000503000000000000" charset="-122"/>
                  <a:cs typeface="+mj-lt"/>
                </a:rPr>
                <a:t>θ</a:t>
              </a:r>
              <a:r>
                <a:rPr lang="en-US" altLang="en-US" sz="1200" baseline="-25000">
                  <a:latin typeface="AR PL UKai CN" panose="02000503000000000000" charset="-122"/>
                  <a:ea typeface="AR PL UKai CN" panose="02000503000000000000" charset="-122"/>
                </a:rPr>
                <a:t>n</a:t>
              </a:r>
              <a:endParaRPr lang="en-US" altLang="en-US" sz="1200" baseline="-25000">
                <a:latin typeface="AR PL UKai CN" panose="02000503000000000000" charset="-122"/>
                <a:ea typeface="AR PL UKai CN" panose="02000503000000000000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982" y="1962"/>
              <a:ext cx="39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+mj-lt"/>
                  <a:cs typeface="+mj-lt"/>
                </a:rPr>
                <a:t>S×A</a:t>
              </a:r>
              <a:r>
                <a:rPr lang="zh-CN" altLang="en-US" baseline="-25000">
                  <a:latin typeface="+mj-lt"/>
                  <a:cs typeface="+mj-lt"/>
                </a:rPr>
                <a:t>1</a:t>
              </a:r>
              <a:r>
                <a:rPr lang="zh-CN" altLang="en-US">
                  <a:latin typeface="+mj-lt"/>
                  <a:cs typeface="+mj-lt"/>
                </a:rPr>
                <a:t>×...×A</a:t>
              </a:r>
              <a:r>
                <a:rPr lang="zh-CN" altLang="en-US" baseline="-25000">
                  <a:latin typeface="+mj-lt"/>
                  <a:cs typeface="+mj-lt"/>
                </a:rPr>
                <a:t>N</a:t>
              </a:r>
              <a:r>
                <a:rPr lang="zh-CN" altLang="en-US">
                  <a:latin typeface="+mj-lt"/>
                  <a:cs typeface="+mj-lt"/>
                </a:rPr>
                <a:t>→ S</a:t>
              </a:r>
              <a:r>
                <a:rPr lang="zh-CN" altLang="en-US" baseline="30000">
                  <a:latin typeface="+mj-lt"/>
                  <a:cs typeface="+mj-lt"/>
                </a:rPr>
                <a:t>2</a:t>
              </a:r>
              <a:endParaRPr lang="zh-CN" altLang="en-US" baseline="30000">
                <a:latin typeface="+mj-lt"/>
                <a:cs typeface="+mj-lt"/>
              </a:endParaRPr>
            </a:p>
          </p:txBody>
        </p:sp>
        <p:sp>
          <p:nvSpPr>
            <p:cNvPr id="35" name="燕尾形 34"/>
            <p:cNvSpPr/>
            <p:nvPr/>
          </p:nvSpPr>
          <p:spPr>
            <a:xfrm>
              <a:off x="6971" y="3784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S×A</a:t>
              </a:r>
              <a:r>
                <a:rPr lang="zh-CN" altLang="en-US" baseline="-250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1</a:t>
              </a:r>
              <a:endParaRPr lang="zh-CN" altLang="en-US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sp>
          <p:nvSpPr>
            <p:cNvPr id="36" name="燕尾形 35"/>
            <p:cNvSpPr/>
            <p:nvPr/>
          </p:nvSpPr>
          <p:spPr>
            <a:xfrm>
              <a:off x="6971" y="5217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S×A</a:t>
              </a:r>
              <a:r>
                <a:rPr lang="en-US" altLang="zh-CN" baseline="-250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2</a:t>
              </a:r>
              <a:endParaRPr lang="en-US" altLang="zh-CN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6971" y="7100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S×A</a:t>
              </a:r>
              <a:r>
                <a:rPr lang="en-US" altLang="zh-CN" baseline="-250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n</a:t>
              </a:r>
              <a:endParaRPr lang="en-US" altLang="zh-CN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2936" y="6210"/>
              <a:ext cx="118" cy="702"/>
              <a:chOff x="1554" y="5196"/>
              <a:chExt cx="118" cy="702"/>
            </a:xfrm>
          </p:grpSpPr>
          <p:sp>
            <p:nvSpPr>
              <p:cNvPr id="39" name="流程图: 联系 38"/>
              <p:cNvSpPr/>
              <p:nvPr/>
            </p:nvSpPr>
            <p:spPr>
              <a:xfrm>
                <a:off x="1554" y="5196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流程图: 联系 39"/>
              <p:cNvSpPr/>
              <p:nvPr/>
            </p:nvSpPr>
            <p:spPr>
              <a:xfrm>
                <a:off x="1554" y="5488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" name="流程图: 联系 40"/>
              <p:cNvSpPr/>
              <p:nvPr/>
            </p:nvSpPr>
            <p:spPr>
              <a:xfrm>
                <a:off x="1554" y="5780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8058" y="6210"/>
              <a:ext cx="118" cy="702"/>
              <a:chOff x="1554" y="5196"/>
              <a:chExt cx="118" cy="702"/>
            </a:xfrm>
          </p:grpSpPr>
          <p:sp>
            <p:nvSpPr>
              <p:cNvPr id="43" name="流程图: 联系 42"/>
              <p:cNvSpPr/>
              <p:nvPr/>
            </p:nvSpPr>
            <p:spPr>
              <a:xfrm>
                <a:off x="1554" y="5196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" name="流程图: 联系 43"/>
              <p:cNvSpPr/>
              <p:nvPr/>
            </p:nvSpPr>
            <p:spPr>
              <a:xfrm>
                <a:off x="1554" y="5488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流程图: 联系 44"/>
              <p:cNvSpPr/>
              <p:nvPr/>
            </p:nvSpPr>
            <p:spPr>
              <a:xfrm>
                <a:off x="1554" y="5780"/>
                <a:ext cx="119" cy="1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7432" y="3061"/>
              <a:ext cx="11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r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83" y="9978"/>
              <a:ext cx="8459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agent</a:t>
              </a:r>
              <a:r>
                <a:rPr lang="en-US" altLang="zh-CN" baseline="-25000"/>
                <a:t>i</a:t>
              </a:r>
              <a:r>
                <a:rPr lang="zh-CN" altLang="en-US"/>
                <a:t>的目标是最大化其自身的总预期收益</a:t>
              </a:r>
              <a:endParaRPr lang="zh-CN" altLang="en-US"/>
            </a:p>
            <a:p>
              <a:r>
                <a:rPr lang="zh-CN" altLang="en-US"/>
                <a:t>R</a:t>
              </a:r>
              <a:r>
                <a:rPr lang="en-US" altLang="zh-CN" baseline="-25000"/>
                <a:t>i</a:t>
              </a:r>
              <a:r>
                <a:rPr lang="zh-CN" altLang="en-US"/>
                <a:t>，其中γ是折扣系数，T是时间</a:t>
              </a:r>
              <a:r>
                <a:rPr lang="en-US" altLang="zh-CN"/>
                <a:t>步骤</a:t>
              </a:r>
              <a:r>
                <a:rPr lang="zh-CN" altLang="en-US"/>
                <a:t>。</a:t>
              </a:r>
              <a:endParaRPr lang="zh-CN" altLang="en-US"/>
            </a:p>
          </p:txBody>
        </p:sp>
        <p:pic>
          <p:nvPicPr>
            <p:cNvPr id="48" name="图片 47" descr="Screenshot from 2022-11-24 16-31-4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36" y="8574"/>
              <a:ext cx="2790" cy="945"/>
            </a:xfrm>
            <a:prstGeom prst="rect">
              <a:avLst/>
            </a:prstGeom>
          </p:spPr>
        </p:pic>
      </p:grpSp>
      <p:sp>
        <p:nvSpPr>
          <p:cNvPr id="50" name="文本框 49"/>
          <p:cNvSpPr txBox="1"/>
          <p:nvPr/>
        </p:nvSpPr>
        <p:spPr>
          <a:xfrm>
            <a:off x="7259320" y="299085"/>
            <a:ext cx="299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Q_learning&amp;</a:t>
            </a:r>
            <a:r>
              <a:rPr lang="en-US" altLang="en-US" dirty="0"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DQN</a:t>
            </a:r>
            <a:endParaRPr lang="en-US"/>
          </a:p>
        </p:txBody>
      </p:sp>
      <p:sp>
        <p:nvSpPr>
          <p:cNvPr id="51" name="文本框 50"/>
          <p:cNvSpPr txBox="1"/>
          <p:nvPr/>
        </p:nvSpPr>
        <p:spPr>
          <a:xfrm>
            <a:off x="6739255" y="969645"/>
            <a:ext cx="4502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动作价值公式：</a:t>
            </a:r>
            <a:r>
              <a:rPr lang="zh-CN" altLang="en-US"/>
              <a:t>Q</a:t>
            </a:r>
            <a:r>
              <a:rPr lang="zh-CN" altLang="en-US" baseline="30000"/>
              <a:t>π</a:t>
            </a:r>
            <a:r>
              <a:rPr lang="zh-CN" altLang="en-US"/>
              <a:t>(s,a)=E[R|s</a:t>
            </a:r>
            <a:r>
              <a:rPr lang="zh-CN" altLang="en-US" baseline="30000"/>
              <a:t>t</a:t>
            </a:r>
            <a:r>
              <a:rPr lang="zh-CN" altLang="en-US"/>
              <a:t>=s,a</a:t>
            </a:r>
            <a:r>
              <a:rPr lang="zh-CN" altLang="en-US" baseline="30000"/>
              <a:t>t</a:t>
            </a:r>
            <a:r>
              <a:rPr lang="zh-CN" altLang="en-US"/>
              <a:t>=a]</a:t>
            </a:r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6739255" y="1443355"/>
            <a:ext cx="4502150" cy="1658620"/>
            <a:chOff x="11016" y="3455"/>
            <a:chExt cx="7090" cy="2612"/>
          </a:xfrm>
        </p:grpSpPr>
        <p:sp>
          <p:nvSpPr>
            <p:cNvPr id="54" name="文本框 53"/>
            <p:cNvSpPr txBox="1"/>
            <p:nvPr/>
          </p:nvSpPr>
          <p:spPr>
            <a:xfrm>
              <a:off x="11016" y="3455"/>
              <a:ext cx="7090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/>
                <a:t>递归</a:t>
              </a:r>
              <a:r>
                <a:rPr lang="en-US" altLang="zh-CN"/>
                <a:t>公式：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r>
                <a:rPr lang="zh-CN" altLang="en-US"/>
                <a:t>Q</a:t>
              </a:r>
              <a:r>
                <a:rPr lang="zh-CN" altLang="en-US" baseline="30000"/>
                <a:t>π</a:t>
              </a:r>
              <a:r>
                <a:rPr lang="zh-CN" altLang="en-US"/>
                <a:t>(s,a)=E</a:t>
              </a:r>
              <a:r>
                <a:rPr lang="en-US" altLang="zh-CN" baseline="-25000"/>
                <a:t>s’</a:t>
              </a:r>
              <a:r>
                <a:rPr lang="zh-CN" altLang="en-US"/>
                <a:t>[</a:t>
              </a:r>
              <a:r>
                <a:rPr lang="en-US" altLang="zh-CN"/>
                <a:t>r(s,a)+</a:t>
              </a:r>
              <a:r>
                <a:rPr lang="en-US" altLang="zh-CN">
                  <a:latin typeface="+mj-lt"/>
                  <a:ea typeface="AR PL UKai CN" panose="02000503000000000000" charset="-122"/>
                  <a:cs typeface="+mj-lt"/>
                </a:rPr>
                <a:t>γE</a:t>
              </a:r>
              <a:r>
                <a:rPr lang="en-US" altLang="zh-CN" baseline="-25000">
                  <a:latin typeface="+mj-lt"/>
                  <a:ea typeface="AR PL UKai CN" panose="02000503000000000000" charset="-122"/>
                  <a:cs typeface="+mj-lt"/>
                </a:rPr>
                <a:t>a’～</a:t>
              </a:r>
              <a:r>
                <a:rPr lang="zh-CN" altLang="en-US" baseline="-25000">
                  <a:sym typeface="+mn-ea"/>
                </a:rPr>
                <a:t>π</a:t>
              </a:r>
              <a:r>
                <a:rPr lang="en-US" altLang="zh-CN">
                  <a:sym typeface="+mn-ea"/>
                </a:rPr>
                <a:t>[</a:t>
              </a:r>
              <a:r>
                <a:rPr lang="zh-CN" altLang="en-US">
                  <a:sym typeface="+mn-ea"/>
                </a:rPr>
                <a:t>Q</a:t>
              </a:r>
              <a:r>
                <a:rPr lang="zh-CN" altLang="en-US" baseline="30000">
                  <a:sym typeface="+mn-ea"/>
                </a:rPr>
                <a:t>π</a:t>
              </a:r>
              <a:r>
                <a:rPr lang="zh-CN" altLang="en-US">
                  <a:sym typeface="+mn-ea"/>
                </a:rPr>
                <a:t>(s</a:t>
              </a:r>
              <a:r>
                <a:rPr lang="en-US" altLang="zh-CN">
                  <a:sym typeface="+mn-ea"/>
                </a:rPr>
                <a:t>’</a:t>
              </a:r>
              <a:r>
                <a:rPr lang="zh-CN" altLang="en-US">
                  <a:sym typeface="+mn-ea"/>
                </a:rPr>
                <a:t>,a</a:t>
              </a:r>
              <a:r>
                <a:rPr lang="en-US" altLang="zh-CN">
                  <a:sym typeface="+mn-ea"/>
                </a:rPr>
                <a:t>’</a:t>
              </a:r>
              <a:r>
                <a:rPr lang="zh-CN" altLang="en-US">
                  <a:sym typeface="+mn-ea"/>
                </a:rPr>
                <a:t>)</a:t>
              </a:r>
              <a:r>
                <a:rPr lang="en-US" altLang="zh-CN">
                  <a:sym typeface="+mn-ea"/>
                </a:rPr>
                <a:t>]</a:t>
              </a:r>
              <a:r>
                <a:rPr lang="zh-CN" altLang="en-US"/>
                <a:t>]</a:t>
              </a:r>
              <a:endParaRPr lang="zh-CN" altLang="en-US"/>
            </a:p>
          </p:txBody>
        </p:sp>
        <p:sp>
          <p:nvSpPr>
            <p:cNvPr id="55" name="燕尾形 54"/>
            <p:cNvSpPr/>
            <p:nvPr/>
          </p:nvSpPr>
          <p:spPr>
            <a:xfrm>
              <a:off x="11835" y="5225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 a</a:t>
              </a:r>
              <a:endParaRPr lang="en-US" altLang="zh-CN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sp>
          <p:nvSpPr>
            <p:cNvPr id="56" name="燕尾形 55"/>
            <p:cNvSpPr/>
            <p:nvPr/>
          </p:nvSpPr>
          <p:spPr>
            <a:xfrm>
              <a:off x="15092" y="5225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aseline="-250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s’ a’</a:t>
              </a:r>
              <a:endParaRPr lang="en-US" altLang="zh-CN" sz="2400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434580" y="3595370"/>
            <a:ext cx="3498215" cy="1922780"/>
            <a:chOff x="12320" y="6869"/>
            <a:chExt cx="5509" cy="3028"/>
          </a:xfrm>
        </p:grpSpPr>
        <p:grpSp>
          <p:nvGrpSpPr>
            <p:cNvPr id="59" name="组合 58"/>
            <p:cNvGrpSpPr/>
            <p:nvPr/>
          </p:nvGrpSpPr>
          <p:grpSpPr>
            <a:xfrm>
              <a:off x="12320" y="7685"/>
              <a:ext cx="5509" cy="1524"/>
              <a:chOff x="12438" y="6740"/>
              <a:chExt cx="5509" cy="1524"/>
            </a:xfrm>
          </p:grpSpPr>
          <p:pic>
            <p:nvPicPr>
              <p:cNvPr id="57" name="图片 56" descr="Screenshot from 2022-11-24 16-58-59"/>
              <p:cNvPicPr>
                <a:picLocks noChangeAspect="1"/>
              </p:cNvPicPr>
              <p:nvPr/>
            </p:nvPicPr>
            <p:blipFill>
              <a:blip r:embed="rId2"/>
              <a:srcRect l="64689" r="2867" b="12641"/>
              <a:stretch>
                <a:fillRect/>
              </a:stretch>
            </p:blipFill>
            <p:spPr>
              <a:xfrm>
                <a:off x="13229" y="7255"/>
                <a:ext cx="4243" cy="1009"/>
              </a:xfrm>
              <a:prstGeom prst="rect">
                <a:avLst/>
              </a:prstGeom>
            </p:spPr>
          </p:pic>
          <p:sp>
            <p:nvSpPr>
              <p:cNvPr id="58" name="文本框 57"/>
              <p:cNvSpPr txBox="1"/>
              <p:nvPr/>
            </p:nvSpPr>
            <p:spPr>
              <a:xfrm>
                <a:off x="12438" y="6740"/>
                <a:ext cx="5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loss(</a:t>
                </a:r>
                <a:r>
                  <a:rPr lang="en-US" altLang="zh-CN">
                    <a:latin typeface="+mj-lt"/>
                    <a:ea typeface="AR PL UKai CN" panose="02000503000000000000" charset="-122"/>
                    <a:cs typeface="+mj-lt"/>
                    <a:sym typeface="+mn-ea"/>
                  </a:rPr>
                  <a:t>θ</a:t>
                </a:r>
                <a:r>
                  <a:rPr lang="en-US" altLang="zh-CN"/>
                  <a:t>)=</a:t>
                </a:r>
                <a:r>
                  <a:rPr lang="zh-CN" altLang="en-US">
                    <a:sym typeface="+mn-ea"/>
                  </a:rPr>
                  <a:t>E</a:t>
                </a:r>
                <a:r>
                  <a:rPr lang="en-US" altLang="zh-CN" baseline="-25000">
                    <a:sym typeface="+mn-ea"/>
                  </a:rPr>
                  <a:t>s,a,r,s’</a:t>
                </a:r>
                <a:r>
                  <a:rPr lang="zh-CN" altLang="en-US">
                    <a:sym typeface="+mn-ea"/>
                  </a:rPr>
                  <a:t>[</a:t>
                </a:r>
                <a:r>
                  <a:rPr lang="en-US" altLang="zh-CN">
                    <a:sym typeface="+mn-ea"/>
                  </a:rPr>
                  <a:t>(</a:t>
                </a:r>
                <a:r>
                  <a:rPr lang="zh-CN" altLang="en-US">
                    <a:sym typeface="+mn-ea"/>
                  </a:rPr>
                  <a:t>Q</a:t>
                </a:r>
                <a:r>
                  <a:rPr lang="en-US" altLang="zh-CN" baseline="30000">
                    <a:sym typeface="+mn-ea"/>
                  </a:rPr>
                  <a:t>*</a:t>
                </a:r>
                <a:r>
                  <a:rPr lang="en-US" altLang="zh-CN">
                    <a:sym typeface="+mn-ea"/>
                  </a:rPr>
                  <a:t>(s,a</a:t>
                </a:r>
                <a:r>
                  <a:rPr lang="en-US" altLang="en-US">
                    <a:sym typeface="+mn-ea"/>
                  </a:rPr>
                  <a:t>|</a:t>
                </a:r>
                <a:r>
                  <a:rPr lang="en-US" altLang="zh-CN">
                    <a:latin typeface="+mj-lt"/>
                    <a:ea typeface="AR PL UKai CN" panose="02000503000000000000" charset="-122"/>
                    <a:cs typeface="+mj-lt"/>
                    <a:sym typeface="+mn-ea"/>
                  </a:rPr>
                  <a:t>θ</a:t>
                </a:r>
                <a:r>
                  <a:rPr lang="en-US" altLang="zh-CN">
                    <a:sym typeface="+mn-ea"/>
                  </a:rPr>
                  <a:t>) </a:t>
                </a:r>
                <a:r>
                  <a:rPr lang="en-US">
                    <a:sym typeface="+mn-ea"/>
                  </a:rPr>
                  <a:t>- y)</a:t>
                </a:r>
                <a:r>
                  <a:rPr lang="en-US" baseline="30000">
                    <a:sym typeface="+mn-ea"/>
                  </a:rPr>
                  <a:t>2</a:t>
                </a:r>
                <a:r>
                  <a:rPr lang="zh-CN" altLang="en-US">
                    <a:sym typeface="+mn-ea"/>
                  </a:rPr>
                  <a:t>]</a:t>
                </a:r>
                <a:endParaRPr lang="en-US" altLang="zh-CN"/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13111" y="6869"/>
              <a:ext cx="34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DQN优化方法</a:t>
              </a:r>
              <a:endParaRPr lang="en-US" altLang="zh-CN"/>
            </a:p>
          </p:txBody>
        </p:sp>
        <p:sp>
          <p:nvSpPr>
            <p:cNvPr id="61" name="椭圆形标注 60"/>
            <p:cNvSpPr/>
            <p:nvPr/>
          </p:nvSpPr>
          <p:spPr>
            <a:xfrm>
              <a:off x="14082" y="9126"/>
              <a:ext cx="1984" cy="771"/>
            </a:xfrm>
            <a:prstGeom prst="wedgeEllipseCallout">
              <a:avLst>
                <a:gd name="adj1" fmla="val 39811"/>
                <a:gd name="adj2" fmla="val -65175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目标Q函数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</p:grpSp>
      <p:pic>
        <p:nvPicPr>
          <p:cNvPr id="64" name="图片 63" descr="Screenshot from 2022-11-24 21-46-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85" y="5576570"/>
            <a:ext cx="4888865" cy="40576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6644005" y="6120130"/>
            <a:ext cx="5591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多智能体策略集合不同时，对于单智能体违反了Q_learning收敛所需的马尔可夫假设。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文本框 49"/>
          <p:cNvSpPr txBox="1"/>
          <p:nvPr/>
        </p:nvSpPr>
        <p:spPr>
          <a:xfrm>
            <a:off x="1320165" y="624205"/>
            <a:ext cx="299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策略梯度（PG）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0725" y="1295400"/>
            <a:ext cx="41941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+mj-ea"/>
                <a:cs typeface="+mj-ea"/>
              </a:rPr>
              <a:t>J</a:t>
            </a:r>
            <a:r>
              <a:rPr lang="zh-CN" altLang="en-US"/>
              <a:t>(θ) = E</a:t>
            </a:r>
            <a:r>
              <a:rPr lang="zh-CN" altLang="en-US" sz="1200"/>
              <a:t>s∼p</a:t>
            </a:r>
            <a:r>
              <a:rPr lang="zh-CN" altLang="en-US" sz="1200" baseline="30000"/>
              <a:t>π</a:t>
            </a:r>
            <a:r>
              <a:rPr lang="zh-CN" altLang="en-US" sz="1200"/>
              <a:t> ,a∼π</a:t>
            </a:r>
            <a:r>
              <a:rPr lang="zh-CN" altLang="en-US" sz="1200" baseline="-25000"/>
              <a:t>θ</a:t>
            </a:r>
            <a:r>
              <a:rPr lang="zh-CN" altLang="en-US"/>
              <a:t> [R]</a:t>
            </a:r>
            <a:endParaRPr lang="zh-CN" altLang="en-US"/>
          </a:p>
          <a:p>
            <a:pPr algn="ctr"/>
            <a:r>
              <a:rPr lang="en-US" altLang="zh-CN"/>
              <a:t>策略</a:t>
            </a:r>
            <a:r>
              <a:rPr lang="zh-CN" altLang="en-US">
                <a:sym typeface="+mn-ea"/>
              </a:rPr>
              <a:t>π</a:t>
            </a:r>
            <a:r>
              <a:rPr lang="en-US" altLang="zh-CN">
                <a:sym typeface="+mn-ea"/>
              </a:rPr>
              <a:t>（参数θ）某一回合期望奖励为J(θ) 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4690" y="2152650"/>
            <a:ext cx="424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根据</a:t>
            </a:r>
            <a:r>
              <a:rPr lang="zh-CN" altLang="en-US"/>
              <a:t>定义的Q函数，策略的梯度</a:t>
            </a:r>
            <a:r>
              <a:rPr lang="en-US" altLang="zh-CN"/>
              <a:t>推导出</a:t>
            </a:r>
            <a:endParaRPr lang="en-US" altLang="zh-CN"/>
          </a:p>
        </p:txBody>
      </p:sp>
      <p:pic>
        <p:nvPicPr>
          <p:cNvPr id="9" name="图片 8" descr="Screenshot from 2022-11-24 22-09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15" y="2752090"/>
            <a:ext cx="4914265" cy="4381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58115" y="3655060"/>
            <a:ext cx="2611755" cy="1384300"/>
            <a:chOff x="1135" y="5263"/>
            <a:chExt cx="4113" cy="2180"/>
          </a:xfrm>
        </p:grpSpPr>
        <p:sp>
          <p:nvSpPr>
            <p:cNvPr id="24" name="文本框 23"/>
            <p:cNvSpPr txBox="1"/>
            <p:nvPr/>
          </p:nvSpPr>
          <p:spPr>
            <a:xfrm>
              <a:off x="1135" y="6757"/>
              <a:ext cx="140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agen</a:t>
              </a:r>
              <a:r>
                <a:rPr lang="en-US" altLang="en-US" sz="1600"/>
                <a:t>t</a:t>
              </a:r>
              <a:r>
                <a:rPr lang="en-US" altLang="en-US" sz="1600" baseline="-25000"/>
                <a:t>i</a:t>
              </a:r>
              <a:endParaRPr lang="en-US" altLang="en-US" sz="1600" baseline="-25000"/>
            </a:p>
          </p:txBody>
        </p:sp>
        <p:sp>
          <p:nvSpPr>
            <p:cNvPr id="37" name="燕尾形 36"/>
            <p:cNvSpPr/>
            <p:nvPr/>
          </p:nvSpPr>
          <p:spPr>
            <a:xfrm>
              <a:off x="2956" y="6601"/>
              <a:ext cx="2293" cy="843"/>
            </a:xfrm>
            <a:prstGeom prst="chevron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rgbClr val="FF0000"/>
                  </a:solidFill>
                  <a:latin typeface="+mj-lt"/>
                  <a:cs typeface="+mj-lt"/>
                  <a:sym typeface="+mn-ea"/>
                </a:rPr>
                <a:t>r</a:t>
              </a:r>
              <a:endParaRPr lang="zh-CN" altLang="en-US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S×A</a:t>
              </a:r>
              <a:r>
                <a:rPr lang="en-US" altLang="zh-CN" baseline="-250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n</a:t>
              </a:r>
              <a:endParaRPr lang="en-US" altLang="zh-CN" baseline="-250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sp>
          <p:nvSpPr>
            <p:cNvPr id="61" name="椭圆形标注 60"/>
            <p:cNvSpPr/>
            <p:nvPr/>
          </p:nvSpPr>
          <p:spPr>
            <a:xfrm>
              <a:off x="2348" y="5263"/>
              <a:ext cx="1983" cy="1099"/>
            </a:xfrm>
            <a:prstGeom prst="wedgeEllipseCallout">
              <a:avLst>
                <a:gd name="adj1" fmla="val 24936"/>
                <a:gd name="adj2" fmla="val 82484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</a:rPr>
                <a:t>取决于</a:t>
              </a: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多Agent</a:t>
              </a:r>
              <a:endParaRPr lang="zh-CN" altLang="en-US" sz="1200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11" name="爆炸形 1 10"/>
          <p:cNvSpPr/>
          <p:nvPr/>
        </p:nvSpPr>
        <p:spPr>
          <a:xfrm>
            <a:off x="3519805" y="5476875"/>
            <a:ext cx="2399665" cy="1436370"/>
          </a:xfrm>
          <a:prstGeom prst="irregularSeal1">
            <a:avLst/>
          </a:prstGeom>
          <a:solidFill>
            <a:srgbClr val="000000">
              <a:alpha val="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震荡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局部最优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829560" y="3655060"/>
            <a:ext cx="2112010" cy="18218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仅以Agent自己的Action为条件的奖励表现出更大的可变性，增加了其梯度的方差。</a:t>
            </a:r>
            <a:endParaRPr lang="zh-CN" altLang="en-US"/>
          </a:p>
        </p:txBody>
      </p:sp>
      <p:sp>
        <p:nvSpPr>
          <p:cNvPr id="29" name="云形标注 28"/>
          <p:cNvSpPr/>
          <p:nvPr/>
        </p:nvSpPr>
        <p:spPr>
          <a:xfrm>
            <a:off x="6141085" y="551180"/>
            <a:ext cx="3074035" cy="1057275"/>
          </a:xfrm>
          <a:prstGeom prst="cloudCallout">
            <a:avLst>
              <a:gd name="adj1" fmla="val -108328"/>
              <a:gd name="adj2" fmla="val -1814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策略梯度定理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与不同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Q</a:t>
            </a:r>
            <a:r>
              <a:rPr lang="zh-CN" altLang="en-US" sz="1400" baseline="30000">
                <a:solidFill>
                  <a:schemeClr val="tx1"/>
                </a:solidFill>
                <a:sym typeface="+mn-ea"/>
              </a:rPr>
              <a:t>π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估计方法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产生了几种实用的算法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392420" y="2059940"/>
            <a:ext cx="748665" cy="5308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5392420" y="4072890"/>
            <a:ext cx="748665" cy="5308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120130" y="2053590"/>
            <a:ext cx="4817110" cy="2887345"/>
            <a:chOff x="10580" y="3244"/>
            <a:chExt cx="7586" cy="4547"/>
          </a:xfrm>
        </p:grpSpPr>
        <p:pic>
          <p:nvPicPr>
            <p:cNvPr id="15" name="图片 14" descr="Screenshot from 2022-11-24 22-37-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80" y="3970"/>
              <a:ext cx="3773" cy="806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0687" y="3244"/>
              <a:ext cx="35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简单地使用样本返回</a:t>
              </a:r>
              <a:endParaRPr lang="zh-CN" altLang="en-US"/>
            </a:p>
          </p:txBody>
        </p:sp>
        <p:sp>
          <p:nvSpPr>
            <p:cNvPr id="19" name="六边形 18"/>
            <p:cNvSpPr/>
            <p:nvPr/>
          </p:nvSpPr>
          <p:spPr>
            <a:xfrm>
              <a:off x="14840" y="3244"/>
              <a:ext cx="3327" cy="1532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REINFORCE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算法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0580" y="6517"/>
              <a:ext cx="3773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indent="0" algn="l"/>
              <a:r>
                <a:rPr lang="zh-CN" b="0">
                  <a:cs typeface="宋体" charset="0"/>
                </a:rPr>
                <a:t>学习真实作用值函数Q</a:t>
              </a:r>
              <a:r>
                <a:rPr lang="zh-CN" b="0" baseline="30000">
                  <a:cs typeface="宋体" charset="0"/>
                </a:rPr>
                <a:t>π</a:t>
              </a:r>
              <a:r>
                <a:rPr lang="zh-CN" b="0">
                  <a:cs typeface="宋体" charset="0"/>
                </a:rPr>
                <a:t>（s，a）的近似值</a:t>
              </a:r>
              <a:endParaRPr lang="zh-CN" altLang="en-US" b="0">
                <a:cs typeface="宋体" charset="0"/>
              </a:endParaRPr>
            </a:p>
          </p:txBody>
        </p:sp>
        <p:sp>
          <p:nvSpPr>
            <p:cNvPr id="22" name="六边形 21"/>
            <p:cNvSpPr/>
            <p:nvPr/>
          </p:nvSpPr>
          <p:spPr>
            <a:xfrm>
              <a:off x="14840" y="6259"/>
              <a:ext cx="3327" cy="1532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actor-critic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25" name="右箭头 24"/>
          <p:cNvSpPr/>
          <p:nvPr/>
        </p:nvSpPr>
        <p:spPr>
          <a:xfrm>
            <a:off x="11004550" y="4309110"/>
            <a:ext cx="624840" cy="291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 rot="19620000">
            <a:off x="10691495" y="3529965"/>
            <a:ext cx="624840" cy="291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 rot="2160000">
            <a:off x="10551160" y="5195570"/>
            <a:ext cx="624840" cy="291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2022.11.</a:t>
            </a:r>
            <a:r>
              <a:rPr lang="en-US" altLang="en-US" sz="4800"/>
              <a:t>29</a:t>
            </a:r>
            <a:endParaRPr lang="en-US" altLang="en-US" sz="4800"/>
          </a:p>
          <a:p>
            <a:pPr algn="ctr"/>
            <a:endParaRPr lang="en-US" altLang="en-US" sz="2000"/>
          </a:p>
          <a:p>
            <a:pPr algn="ctr"/>
            <a:r>
              <a:rPr lang="en-US" altLang="en-US" sz="2000"/>
              <a:t>RLN</a:t>
            </a:r>
            <a:endParaRPr lang="en-US" altLang="en-US" sz="2000"/>
          </a:p>
          <a:p>
            <a:pPr algn="ctr"/>
            <a:r>
              <a:rPr lang="en-US" altLang="en-US" sz="2000"/>
              <a:t>多智能体具体应用以及场景</a:t>
            </a:r>
            <a:endParaRPr lang="en-US" altLang="en-US" sz="2000"/>
          </a:p>
          <a:p>
            <a:pPr algn="ctr"/>
            <a:r>
              <a:rPr lang="en-US" altLang="en-US" sz="2000"/>
              <a:t>具体模型场景</a:t>
            </a:r>
            <a:endParaRPr lang="en-US" altLang="en-US" sz="2000"/>
          </a:p>
          <a:p>
            <a:pPr algn="ctr"/>
            <a:r>
              <a:rPr lang="en-US" altLang="en-US" sz="2000"/>
              <a:t>gym模型能否改进为多智能体</a:t>
            </a:r>
            <a:endParaRPr lang="en-US" altLang="en-US" sz="2000"/>
          </a:p>
          <a:p>
            <a:pPr algn="ctr"/>
            <a:r>
              <a:rPr lang="en-US" altLang="en-US" sz="2000"/>
              <a:t>多智能体国内知网研究</a:t>
            </a:r>
            <a:endParaRPr lang="en-US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46935" y="463550"/>
            <a:ext cx="789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多智能体具体应用以及场景</a:t>
            </a:r>
            <a:endParaRPr lang="en-US">
              <a:latin typeface="aakar" panose="02000600040000000000" charset="0"/>
              <a:cs typeface="aakar" panose="02000600040000000000" charset="0"/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0330" y="1560830"/>
            <a:ext cx="5640705" cy="3307080"/>
            <a:chOff x="5771" y="2023"/>
            <a:chExt cx="8883" cy="5208"/>
          </a:xfrm>
        </p:grpSpPr>
        <p:grpSp>
          <p:nvGrpSpPr>
            <p:cNvPr id="41" name="组合 40"/>
            <p:cNvGrpSpPr/>
            <p:nvPr/>
          </p:nvGrpSpPr>
          <p:grpSpPr>
            <a:xfrm>
              <a:off x="5771" y="3378"/>
              <a:ext cx="8883" cy="2574"/>
              <a:chOff x="92" y="2244"/>
              <a:chExt cx="8883" cy="257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1686" y="2244"/>
                <a:ext cx="4283" cy="91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400">
                    <a:solidFill>
                      <a:schemeClr val="tx1"/>
                    </a:solidFill>
                    <a:sym typeface="+mn-ea"/>
                  </a:rPr>
                  <a:t>成果：电脑游戏、人机博弈 (包括小型机器人体系)</a:t>
                </a:r>
                <a:endParaRPr lang="en-US" altLang="en-US" sz="14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6" name="圆角矩形 5"/>
              <p:cNvSpPr/>
              <p:nvPr/>
            </p:nvSpPr>
            <p:spPr>
              <a:xfrm>
                <a:off x="1686" y="3829"/>
                <a:ext cx="4283" cy="98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400">
                    <a:solidFill>
                      <a:schemeClr val="tx1"/>
                    </a:solidFill>
                    <a:sym typeface="+mn-ea"/>
                  </a:rPr>
                  <a:t>未来：自动驾驶、船舶制造、商业交易、资源配置等大型机器人体系</a:t>
                </a:r>
                <a:endParaRPr lang="en-US" altLang="en-US" sz="14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6588" y="2732"/>
                <a:ext cx="2387" cy="144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400">
                    <a:solidFill>
                      <a:schemeClr val="tx1"/>
                    </a:solidFill>
                    <a:sym typeface="+mn-ea"/>
                  </a:rPr>
                  <a:t>方向：将MARL应用到海量智能体以及更复杂的环境</a:t>
                </a:r>
                <a:endParaRPr lang="en-US" altLang="en-US" sz="14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92" y="2876"/>
                <a:ext cx="1265" cy="11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400">
                    <a:solidFill>
                      <a:schemeClr val="tx1"/>
                    </a:solidFill>
                    <a:sym typeface="+mn-ea"/>
                  </a:rPr>
                  <a:t>场景</a:t>
                </a:r>
                <a:endParaRPr lang="en-US" altLang="en-US" sz="1400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28" name="曲线连接符 27"/>
              <p:cNvCxnSpPr>
                <a:stCxn id="17" idx="0"/>
                <a:endCxn id="2" idx="1"/>
              </p:cNvCxnSpPr>
              <p:nvPr/>
            </p:nvCxnSpPr>
            <p:spPr>
              <a:xfrm rot="16200000">
                <a:off x="1117" y="2307"/>
                <a:ext cx="177" cy="961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曲线连接符 30"/>
              <p:cNvCxnSpPr>
                <a:stCxn id="17" idx="4"/>
                <a:endCxn id="6" idx="1"/>
              </p:cNvCxnSpPr>
              <p:nvPr/>
            </p:nvCxnSpPr>
            <p:spPr>
              <a:xfrm rot="5400000" flipV="1">
                <a:off x="1061" y="3699"/>
                <a:ext cx="289" cy="961"/>
              </a:xfrm>
              <a:prstGeom prst="curved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曲线连接符 33"/>
              <p:cNvCxnSpPr>
                <a:stCxn id="2" idx="3"/>
                <a:endCxn id="7" idx="1"/>
              </p:cNvCxnSpPr>
              <p:nvPr/>
            </p:nvCxnSpPr>
            <p:spPr>
              <a:xfrm>
                <a:off x="5969" y="2699"/>
                <a:ext cx="619" cy="757"/>
              </a:xfrm>
              <a:prstGeom prst="curvedConnector3">
                <a:avLst>
                  <a:gd name="adj1" fmla="val 50081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曲线连接符 37"/>
              <p:cNvCxnSpPr>
                <a:stCxn id="6" idx="3"/>
                <a:endCxn id="7" idx="1"/>
              </p:cNvCxnSpPr>
              <p:nvPr/>
            </p:nvCxnSpPr>
            <p:spPr>
              <a:xfrm flipV="1">
                <a:off x="5969" y="3456"/>
                <a:ext cx="619" cy="868"/>
              </a:xfrm>
              <a:prstGeom prst="curvedConnector3">
                <a:avLst>
                  <a:gd name="adj1" fmla="val 50081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圆角矩形 43"/>
            <p:cNvSpPr/>
            <p:nvPr/>
          </p:nvSpPr>
          <p:spPr>
            <a:xfrm>
              <a:off x="7365" y="2023"/>
              <a:ext cx="4283" cy="91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当前：算法基于马尔科夫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7459" y="6321"/>
              <a:ext cx="4283" cy="91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现实场景多为非马尔科夫。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迁移学习+强化学习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46" name="曲线连接符 45"/>
            <p:cNvCxnSpPr>
              <a:stCxn id="17" idx="4"/>
              <a:endCxn id="45" idx="1"/>
            </p:cNvCxnSpPr>
            <p:nvPr/>
          </p:nvCxnSpPr>
          <p:spPr>
            <a:xfrm rot="5400000" flipV="1">
              <a:off x="6128" y="5444"/>
              <a:ext cx="1607" cy="1055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曲线连接符 46"/>
            <p:cNvCxnSpPr>
              <a:endCxn id="44" idx="1"/>
            </p:cNvCxnSpPr>
            <p:nvPr/>
          </p:nvCxnSpPr>
          <p:spPr>
            <a:xfrm rot="16200000">
              <a:off x="6132" y="2763"/>
              <a:ext cx="1518" cy="948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六边形 48"/>
          <p:cNvSpPr/>
          <p:nvPr/>
        </p:nvSpPr>
        <p:spPr>
          <a:xfrm>
            <a:off x="6149975" y="2776220"/>
            <a:ext cx="1087755" cy="874395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多智能体国内知网研究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730490" y="1849755"/>
            <a:ext cx="2719705" cy="5778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多智能体路径规划（Q）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7730490" y="2613025"/>
            <a:ext cx="2719705" cy="5778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电力分配，能耗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730490" y="3361690"/>
            <a:ext cx="2719705" cy="5778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混合DDPG(Mi-DDPG)算法（合作）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730490" y="4116705"/>
            <a:ext cx="2719705" cy="5778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"领航者-跟随者"多智能体编队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6" name="曲线连接符 55"/>
          <p:cNvCxnSpPr>
            <a:stCxn id="49" idx="0"/>
            <a:endCxn id="50" idx="1"/>
          </p:cNvCxnSpPr>
          <p:nvPr/>
        </p:nvCxnSpPr>
        <p:spPr>
          <a:xfrm flipV="1">
            <a:off x="7237730" y="2138680"/>
            <a:ext cx="492760" cy="107505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stCxn id="49" idx="0"/>
            <a:endCxn id="52" idx="1"/>
          </p:cNvCxnSpPr>
          <p:nvPr/>
        </p:nvCxnSpPr>
        <p:spPr>
          <a:xfrm flipV="1">
            <a:off x="7237730" y="2901950"/>
            <a:ext cx="492760" cy="31178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线连接符 57"/>
          <p:cNvCxnSpPr>
            <a:endCxn id="53" idx="1"/>
          </p:cNvCxnSpPr>
          <p:nvPr/>
        </p:nvCxnSpPr>
        <p:spPr>
          <a:xfrm>
            <a:off x="7252970" y="3235325"/>
            <a:ext cx="477520" cy="415290"/>
          </a:xfrm>
          <a:prstGeom prst="curvedConnector3">
            <a:avLst>
              <a:gd name="adj1" fmla="val 501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曲线连接符 58"/>
          <p:cNvCxnSpPr>
            <a:endCxn id="55" idx="1"/>
          </p:cNvCxnSpPr>
          <p:nvPr/>
        </p:nvCxnSpPr>
        <p:spPr>
          <a:xfrm rot="5400000" flipV="1">
            <a:off x="6898005" y="3573145"/>
            <a:ext cx="1187450" cy="47752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爆炸形 1 59"/>
          <p:cNvSpPr/>
          <p:nvPr/>
        </p:nvSpPr>
        <p:spPr>
          <a:xfrm>
            <a:off x="10625455" y="2506980"/>
            <a:ext cx="1454150" cy="9207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无人机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</a:t>
            </a:r>
            <a:r>
              <a:rPr lang="en-US" altLang="en-US" sz="4800"/>
              <a:t>2.3</a:t>
            </a:r>
            <a:endParaRPr lang="en-US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46935" y="463550"/>
            <a:ext cx="789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MADDPG论文场景</a:t>
            </a:r>
            <a:endParaRPr lang="en-US" altLang="en-US">
              <a:latin typeface="aakar" panose="02000600040000000000" charset="0"/>
              <a:cs typeface="aakar" panose="02000600040000000000" charset="0"/>
              <a:sym typeface="+mn-ea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1066800" y="3375660"/>
          <a:ext cx="9939020" cy="205359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84755"/>
                <a:gridCol w="2484755"/>
                <a:gridCol w="2484755"/>
                <a:gridCol w="2484755"/>
              </a:tblGrid>
              <a:tr h="7086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35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  <a:sym typeface="+mn-ea"/>
                        </a:rPr>
                        <a:t>Cooperative communication</a:t>
                      </a:r>
                      <a:endParaRPr lang="en-US" sz="135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（合作沟通）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Predator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-Prey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（猎手-猎物）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Cooperative navigation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（协同导航）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Physical deception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（</a:t>
                      </a: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物理欺骗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）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757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speaker：</a:t>
                      </a:r>
                      <a:r>
                        <a:rPr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观察正确的地标颜色</a:t>
                      </a:r>
                      <a:endParaRPr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Predator</a:t>
                      </a: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：抓到猎物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agent</a:t>
                      </a: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通过物理行动进行合作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并编队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87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listener：依据speaker发布信息</a:t>
                      </a: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导航到特定颜色的地标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Prey：逃脱猎手</a:t>
                      </a:r>
                      <a:endParaRPr lang="en-US" altLang="en-US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逃脱猎手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 descr="Screenshot from 2022-12-03 14-15-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831850"/>
            <a:ext cx="10058400" cy="24295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46935" y="463550"/>
            <a:ext cx="789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MADDPG论文场景</a:t>
            </a:r>
            <a:endParaRPr lang="en-US" altLang="en-US">
              <a:latin typeface="aakar" panose="02000600040000000000" charset="0"/>
              <a:cs typeface="aakar" panose="02000600040000000000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7330" y="1321435"/>
            <a:ext cx="3489820" cy="3488055"/>
            <a:chOff x="1486" y="1944"/>
            <a:chExt cx="7188" cy="6713"/>
          </a:xfrm>
        </p:grpSpPr>
        <p:pic>
          <p:nvPicPr>
            <p:cNvPr id="4" name="图片 3" descr="Screenshot from 2022-12-03 13-23-0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6" y="1944"/>
              <a:ext cx="5835" cy="5790"/>
            </a:xfrm>
            <a:prstGeom prst="rect">
              <a:avLst/>
            </a:prstGeo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61" name="椭圆形标注 60"/>
            <p:cNvSpPr/>
            <p:nvPr/>
          </p:nvSpPr>
          <p:spPr>
            <a:xfrm>
              <a:off x="2505" y="7965"/>
              <a:ext cx="2274" cy="692"/>
            </a:xfrm>
            <a:prstGeom prst="wedgeEllipseCallout">
              <a:avLst>
                <a:gd name="adj1" fmla="val 21507"/>
                <a:gd name="adj2" fmla="val -93858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200">
                  <a:solidFill>
                    <a:schemeClr val="tx1"/>
                  </a:solidFill>
                </a:rPr>
                <a:t>红色为猎手</a:t>
              </a:r>
              <a:endParaRPr 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" name="椭圆形标注 4"/>
            <p:cNvSpPr/>
            <p:nvPr/>
          </p:nvSpPr>
          <p:spPr>
            <a:xfrm>
              <a:off x="2862" y="2270"/>
              <a:ext cx="2531" cy="692"/>
            </a:xfrm>
            <a:prstGeom prst="wedgeEllipseCallout">
              <a:avLst>
                <a:gd name="adj1" fmla="val 13714"/>
                <a:gd name="adj2" fmla="val 72687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</a:rPr>
                <a:t>黑色为地标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8" name="椭圆形标注 7"/>
            <p:cNvSpPr/>
            <p:nvPr/>
          </p:nvSpPr>
          <p:spPr>
            <a:xfrm>
              <a:off x="6462" y="4134"/>
              <a:ext cx="2212" cy="692"/>
            </a:xfrm>
            <a:prstGeom prst="wedgeEllipseCallout">
              <a:avLst>
                <a:gd name="adj1" fmla="val -36889"/>
                <a:gd name="adj2" fmla="val -76156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</a:rPr>
                <a:t>绿色</a:t>
              </a:r>
              <a:r>
                <a:rPr lang="en-US" sz="1200">
                  <a:solidFill>
                    <a:schemeClr val="tx1"/>
                  </a:solidFill>
                </a:rPr>
                <a:t>为猎</a:t>
              </a:r>
              <a:r>
                <a:rPr lang="en-US" altLang="en-US" sz="1200">
                  <a:solidFill>
                    <a:schemeClr val="tx1"/>
                  </a:solidFill>
                </a:rPr>
                <a:t>物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</p:grpSp>
      <p:graphicFrame>
        <p:nvGraphicFramePr>
          <p:cNvPr id="12" name="表格 11"/>
          <p:cNvGraphicFramePr/>
          <p:nvPr/>
        </p:nvGraphicFramePr>
        <p:xfrm>
          <a:off x="3728085" y="1040765"/>
          <a:ext cx="6096000" cy="2057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物体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颜色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数量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速度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目的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奖励机制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Predator</a:t>
                      </a: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（猎手）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红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3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慢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碰到猎物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任一猎手碰到猎物，所有猎手均+10分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P</a:t>
                      </a:r>
                      <a:r>
                        <a:rPr lang="zh-CN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rey</a:t>
                      </a: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（猎物）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绿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1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快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逃脱猎手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被任意猎手碰到-10分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Landmarks（地标）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黑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2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固定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路障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无</a:t>
                      </a: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</a:t>
            </a:r>
            <a:r>
              <a:rPr lang="en-US" altLang="en-US" sz="4800"/>
              <a:t>2.6</a:t>
            </a:r>
            <a:endParaRPr lang="en-US" altLang="en-US" sz="4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437380" y="1191895"/>
          <a:ext cx="4791075" cy="186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025"/>
                <a:gridCol w="1597025"/>
                <a:gridCol w="1597025"/>
              </a:tblGrid>
              <a:tr h="34163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rgbClr val="FF0000"/>
                          </a:solidFill>
                        </a:rPr>
                        <a:t>猎手2记忆单元</a:t>
                      </a:r>
                      <a:endParaRPr lang="en-US" altLang="zh-CN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41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猎手2当前观测值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猎手</a:t>
                      </a:r>
                      <a:r>
                        <a:rPr lang="en-US" altLang="en-US" sz="1350" b="0">
                          <a:solidFill>
                            <a:schemeClr val="tx1"/>
                          </a:solidFill>
                          <a:sym typeface="+mn-ea"/>
                        </a:rPr>
                        <a:t>3当前</a:t>
                      </a: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观测值</a:t>
                      </a:r>
                      <a:endParaRPr lang="en-US" altLang="zh-CN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猎手</a:t>
                      </a:r>
                      <a:r>
                        <a:rPr lang="en-US" altLang="en-US" sz="1350" b="0">
                          <a:solidFill>
                            <a:schemeClr val="tx1"/>
                          </a:solidFill>
                          <a:sym typeface="+mn-ea"/>
                        </a:rPr>
                        <a:t>1当前</a:t>
                      </a: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观测值</a:t>
                      </a:r>
                      <a:endParaRPr lang="en-US" altLang="zh-CN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41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2动作</a:t>
                      </a:r>
                      <a:endParaRPr lang="en-US" altLang="en-US" sz="1350">
                        <a:sym typeface="+mn-ea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3动作</a:t>
                      </a: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1动作</a:t>
                      </a:r>
                      <a:endParaRPr lang="zh-CN" altLang="en-US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403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单个猎手2奖励</a:t>
                      </a:r>
                      <a:endParaRPr lang="en-US" altLang="zh-CN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2下一步</a:t>
                      </a:r>
                      <a:r>
                        <a:rPr lang="en-US" altLang="zh-CN" sz="1350">
                          <a:sym typeface="+mn-ea"/>
                        </a:rPr>
                        <a:t>观测值</a:t>
                      </a:r>
                      <a:endParaRPr lang="en-US" altLang="zh-CN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3下一步</a:t>
                      </a:r>
                      <a:r>
                        <a:rPr lang="en-US" altLang="zh-CN" sz="1350">
                          <a:sym typeface="+mn-ea"/>
                        </a:rPr>
                        <a:t>观测值</a:t>
                      </a:r>
                      <a:endParaRPr lang="en-US" altLang="zh-CN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猎手</a:t>
                      </a:r>
                      <a:r>
                        <a:rPr lang="en-US" altLang="en-US" sz="1350">
                          <a:sym typeface="+mn-ea"/>
                        </a:rPr>
                        <a:t>1下一步</a:t>
                      </a:r>
                      <a:r>
                        <a:rPr lang="en-US" altLang="zh-CN" sz="1350">
                          <a:sym typeface="+mn-ea"/>
                        </a:rPr>
                        <a:t>观测值</a:t>
                      </a:r>
                      <a:endParaRPr lang="en-US" altLang="zh-CN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pic>
        <p:nvPicPr>
          <p:cNvPr id="6" name="图片 5" descr="madd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" y="827405"/>
            <a:ext cx="4076065" cy="5619115"/>
          </a:xfrm>
          <a:prstGeom prst="rect">
            <a:avLst/>
          </a:prstGeom>
        </p:spPr>
      </p:pic>
      <p:pic>
        <p:nvPicPr>
          <p:cNvPr id="7" name="图片 6" descr="multi-ag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80" y="3231515"/>
            <a:ext cx="4719320" cy="34270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multi-ag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625" y="-130810"/>
            <a:ext cx="7382510" cy="2812415"/>
          </a:xfrm>
          <a:prstGeom prst="rect">
            <a:avLst/>
          </a:prstGeom>
        </p:spPr>
      </p:pic>
      <p:pic>
        <p:nvPicPr>
          <p:cNvPr id="4" name="图片 3" descr="multi-agent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40" y="1859915"/>
            <a:ext cx="7727950" cy="4714240"/>
          </a:xfrm>
          <a:prstGeom prst="rect">
            <a:avLst/>
          </a:prstGeom>
        </p:spPr>
      </p:pic>
      <p:pic>
        <p:nvPicPr>
          <p:cNvPr id="5" name="图片 4" descr="202007190951349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" y="3517265"/>
            <a:ext cx="3595370" cy="22174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0. </a:t>
            </a:r>
            <a:r>
              <a:rPr lang="zh-CN" altLang="en-US">
                <a:ea typeface="宋体" charset="0"/>
              </a:rPr>
              <a:t>开题</a:t>
            </a:r>
            <a:r>
              <a:rPr lang="en-US" altLang="zh-CN">
                <a:ea typeface="宋体" charset="0"/>
              </a:rPr>
              <a:t>-- </a:t>
            </a:r>
            <a:r>
              <a:rPr lang="zh-CN" altLang="en-US">
                <a:ea typeface="宋体" charset="0"/>
              </a:rPr>
              <a:t>基于多智能体的强化学习算法（有待细化，限制场景）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>
                <a:ea typeface="宋体" charset="0"/>
              </a:rPr>
              <a:t>开题时间</a:t>
            </a:r>
            <a:r>
              <a:rPr lang="en-US" altLang="zh-CN">
                <a:ea typeface="宋体" charset="0"/>
              </a:rPr>
              <a:t> --</a:t>
            </a:r>
            <a:r>
              <a:rPr lang="zh-CN" altLang="en-US">
                <a:ea typeface="宋体" charset="0"/>
              </a:rPr>
              <a:t>安排多智能体学习</a:t>
            </a:r>
            <a:endParaRPr lang="zh-CN" altLang="en-US">
              <a:ea typeface="宋体" charset="0"/>
            </a:endParaRPr>
          </a:p>
          <a:p>
            <a:r>
              <a:rPr lang="en-US" altLang="zh-CN">
                <a:ea typeface="宋体" charset="0"/>
              </a:rPr>
              <a:t>2. </a:t>
            </a:r>
            <a:r>
              <a:rPr lang="zh-CN" altLang="en-US">
                <a:ea typeface="宋体" charset="0"/>
              </a:rPr>
              <a:t>代码</a:t>
            </a:r>
            <a:r>
              <a:rPr lang="en-US" altLang="zh-CN">
                <a:ea typeface="宋体" charset="0"/>
              </a:rPr>
              <a:t> -- </a:t>
            </a:r>
            <a:r>
              <a:rPr lang="zh-CN" altLang="en-US">
                <a:ea typeface="宋体" charset="0"/>
              </a:rPr>
              <a:t>流程图</a:t>
            </a:r>
            <a:endParaRPr lang="zh-CN" altLang="en-US">
              <a:ea typeface="宋体" charset="0"/>
            </a:endParaRPr>
          </a:p>
          <a:p>
            <a:r>
              <a:rPr lang="en-US" altLang="zh-CN">
                <a:ea typeface="宋体" charset="0"/>
              </a:rPr>
              <a:t>3. </a:t>
            </a:r>
            <a:r>
              <a:rPr lang="zh-CN" altLang="en-US">
                <a:ea typeface="宋体" charset="0"/>
              </a:rPr>
              <a:t>猎物</a:t>
            </a:r>
            <a:r>
              <a:rPr lang="en-US" altLang="zh-CN">
                <a:ea typeface="宋体" charset="0"/>
              </a:rPr>
              <a:t> </a:t>
            </a:r>
            <a:r>
              <a:rPr lang="zh-CN" altLang="en-US">
                <a:ea typeface="宋体" charset="0"/>
              </a:rPr>
              <a:t>不随机行动（简单，简单，再简单）</a:t>
            </a:r>
            <a:endParaRPr lang="zh-CN" altLang="en-US">
              <a:ea typeface="宋体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2022.1</a:t>
            </a:r>
            <a:r>
              <a:rPr lang="en-US" altLang="en-US" sz="4800"/>
              <a:t>2.10</a:t>
            </a:r>
            <a:endParaRPr lang="en-US" altLang="en-US" sz="4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761105" y="287020"/>
            <a:ext cx="4669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基础知识与博弈</a:t>
            </a:r>
            <a:r>
              <a:rPr lang="en-US" altLang="zh-CN"/>
              <a:t>：多智能体博弈</a:t>
            </a:r>
            <a:endParaRPr lang="en-US" altLang="zh-CN"/>
          </a:p>
        </p:txBody>
      </p:sp>
      <p:grpSp>
        <p:nvGrpSpPr>
          <p:cNvPr id="20" name="组合 19"/>
          <p:cNvGrpSpPr/>
          <p:nvPr/>
        </p:nvGrpSpPr>
        <p:grpSpPr>
          <a:xfrm>
            <a:off x="234315" y="540385"/>
            <a:ext cx="2996565" cy="2412365"/>
            <a:chOff x="369" y="851"/>
            <a:chExt cx="4719" cy="3799"/>
          </a:xfrm>
        </p:grpSpPr>
        <p:sp>
          <p:nvSpPr>
            <p:cNvPr id="7" name="圆角矩形 6"/>
            <p:cNvSpPr/>
            <p:nvPr/>
          </p:nvSpPr>
          <p:spPr>
            <a:xfrm>
              <a:off x="2426" y="2930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目标奖励确定困难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69" y="2226"/>
              <a:ext cx="1582" cy="11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  <a:sym typeface="+mn-ea"/>
                </a:rPr>
                <a:t>MARL理论难点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426" y="1889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维度爆炸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426" y="851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 探索 利用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426" y="3978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不稳定性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4" name="曲线连接符 13"/>
            <p:cNvCxnSpPr>
              <a:stCxn id="17" idx="0"/>
              <a:endCxn id="12" idx="1"/>
            </p:cNvCxnSpPr>
            <p:nvPr/>
          </p:nvCxnSpPr>
          <p:spPr>
            <a:xfrm rot="16200000">
              <a:off x="1274" y="1074"/>
              <a:ext cx="1038" cy="1266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曲线连接符 15"/>
            <p:cNvCxnSpPr>
              <a:stCxn id="17" idx="4"/>
              <a:endCxn id="13" idx="1"/>
            </p:cNvCxnSpPr>
            <p:nvPr/>
          </p:nvCxnSpPr>
          <p:spPr>
            <a:xfrm rot="5400000" flipV="1">
              <a:off x="1347" y="3236"/>
              <a:ext cx="893" cy="1266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曲线连接符 17"/>
            <p:cNvCxnSpPr>
              <a:stCxn id="17" idx="5"/>
              <a:endCxn id="7" idx="1"/>
            </p:cNvCxnSpPr>
            <p:nvPr/>
          </p:nvCxnSpPr>
          <p:spPr>
            <a:xfrm rot="5400000" flipV="1">
              <a:off x="2063" y="2904"/>
              <a:ext cx="20" cy="707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曲线连接符 18"/>
            <p:cNvCxnSpPr>
              <a:stCxn id="17" idx="7"/>
              <a:endCxn id="11" idx="1"/>
            </p:cNvCxnSpPr>
            <p:nvPr/>
          </p:nvCxnSpPr>
          <p:spPr>
            <a:xfrm rot="16200000">
              <a:off x="1985" y="1960"/>
              <a:ext cx="175" cy="707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/>
        </p:nvSpPr>
        <p:spPr>
          <a:xfrm>
            <a:off x="3614420" y="967740"/>
            <a:ext cx="32512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联结动作</a:t>
            </a:r>
            <a:r>
              <a:rPr lang="en-US" altLang="zh-CN"/>
              <a:t>：</a:t>
            </a:r>
            <a:r>
              <a:rPr lang="zh-CN" altLang="en-US">
                <a:sym typeface="+mn-ea"/>
              </a:rPr>
              <a:t>A</a:t>
            </a:r>
            <a:r>
              <a:rPr lang="zh-CN" altLang="en-US" baseline="-25000">
                <a:sym typeface="+mn-ea"/>
              </a:rPr>
              <a:t>t</a:t>
            </a:r>
            <a:r>
              <a:rPr lang="zh-CN" altLang="en-US">
                <a:sym typeface="+mn-ea"/>
              </a:rPr>
              <a:t>=[a</a:t>
            </a:r>
            <a:r>
              <a:rPr lang="zh-CN" altLang="en-US" baseline="-25000">
                <a:sym typeface="+mn-ea"/>
              </a:rPr>
              <a:t>1,t</a:t>
            </a:r>
            <a:r>
              <a:rPr lang="zh-CN" altLang="en-US">
                <a:sym typeface="+mn-ea"/>
              </a:rPr>
              <a:t>,a</a:t>
            </a:r>
            <a:r>
              <a:rPr lang="zh-CN" altLang="en-US" baseline="-25000">
                <a:sym typeface="+mn-ea"/>
              </a:rPr>
              <a:t>2,t</a:t>
            </a:r>
            <a:r>
              <a:rPr lang="zh-CN" altLang="en-US">
                <a:sym typeface="+mn-ea"/>
              </a:rPr>
              <a:t>,...a</a:t>
            </a:r>
            <a:r>
              <a:rPr lang="zh-CN" altLang="en-US" baseline="-25000">
                <a:sym typeface="+mn-ea"/>
              </a:rPr>
              <a:t>n,t</a:t>
            </a:r>
            <a:r>
              <a:rPr lang="zh-CN" altLang="en-US">
                <a:sym typeface="+mn-ea"/>
              </a:rPr>
              <a:t>]</a:t>
            </a:r>
            <a:r>
              <a:rPr lang="zh-CN" altLang="en-US" baseline="30000">
                <a:sym typeface="+mn-ea"/>
              </a:rPr>
              <a:t>T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联结策略</a:t>
            </a:r>
            <a:r>
              <a:rPr lang="en-US" altLang="zh-CN"/>
              <a:t>：</a:t>
            </a:r>
            <a:r>
              <a:rPr lang="zh-CN" altLang="en-US"/>
              <a:t>(π</a:t>
            </a:r>
            <a:r>
              <a:rPr lang="zh-CN" altLang="en-US" baseline="-25000"/>
              <a:t>1</a:t>
            </a:r>
            <a:r>
              <a:rPr lang="zh-CN" altLang="en-US"/>
              <a:t>,..,π</a:t>
            </a:r>
            <a:r>
              <a:rPr lang="zh-CN" altLang="en-US" baseline="-25000"/>
              <a:t>n</a:t>
            </a:r>
            <a:r>
              <a:rPr lang="zh-CN" altLang="en-US"/>
              <a:t>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纳什均衡：在纳什均衡处，</a:t>
            </a:r>
            <a:r>
              <a:rPr lang="en-US" altLang="zh-CN">
                <a:solidFill>
                  <a:srgbClr val="FF0000"/>
                </a:solidFill>
              </a:rPr>
              <a:t>对于所有智能体而言都不能在仅改变自身策略的情况下，来获得更大的奖励。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30" name="表格 29"/>
          <p:cNvGraphicFramePr/>
          <p:nvPr/>
        </p:nvGraphicFramePr>
        <p:xfrm>
          <a:off x="7332980" y="754380"/>
          <a:ext cx="3057525" cy="92837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19175"/>
                <a:gridCol w="1019175"/>
                <a:gridCol w="1019175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srgbClr val="92D050"/>
                          </a:solidFill>
                          <a:sym typeface="+mn-ea"/>
                        </a:rPr>
                        <a:t>X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srgbClr val="92D05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92D050"/>
                          </a:solidFill>
                        </a:rPr>
                        <a:t>Y</a:t>
                      </a:r>
                      <a:endParaRPr lang="en-US" altLang="en-US">
                        <a:ln>
                          <a:noFill/>
                        </a:ln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srgbClr val="FF0000"/>
                          </a:solidFill>
                          <a:sym typeface="+mn-ea"/>
                        </a:rPr>
                        <a:t>A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,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92D050"/>
                          </a:solidFill>
                        </a:rPr>
                        <a:t>15</a:t>
                      </a:r>
                      <a:endParaRPr lang="en-US" altLang="en-US">
                        <a:ln>
                          <a:noFill/>
                        </a:ln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,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92D050"/>
                          </a:solidFill>
                        </a:rPr>
                        <a:t>0</a:t>
                      </a:r>
                      <a:endParaRPr lang="en-US" altLang="en-US">
                        <a:ln>
                          <a:noFill/>
                        </a:ln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srgbClr val="FF0000"/>
                          </a:solidFill>
                          <a:sym typeface="+mn-ea"/>
                        </a:rPr>
                        <a:t>B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,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92D050"/>
                          </a:solidFill>
                        </a:rPr>
                        <a:t>0</a:t>
                      </a:r>
                      <a:endParaRPr lang="en-US" altLang="en-US">
                        <a:ln>
                          <a:noFill/>
                        </a:ln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,</a:t>
                      </a:r>
                      <a:r>
                        <a:rPr lang="en-US" altLang="en-US">
                          <a:ln>
                            <a:noFill/>
                          </a:ln>
                          <a:solidFill>
                            <a:srgbClr val="92D050"/>
                          </a:solidFill>
                        </a:rPr>
                        <a:t>5</a:t>
                      </a:r>
                      <a:endParaRPr lang="en-US" altLang="en-US">
                        <a:ln>
                          <a:noFill/>
                        </a:ln>
                        <a:solidFill>
                          <a:srgbClr val="92D05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5" name="椭圆形标注 34"/>
          <p:cNvSpPr/>
          <p:nvPr/>
        </p:nvSpPr>
        <p:spPr>
          <a:xfrm>
            <a:off x="10476267" y="754224"/>
            <a:ext cx="1228817" cy="359561"/>
          </a:xfrm>
          <a:prstGeom prst="wedgeEllipseCallout">
            <a:avLst>
              <a:gd name="adj1" fmla="val -73722"/>
              <a:gd name="adj2" fmla="val 16179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200">
                <a:solidFill>
                  <a:schemeClr val="tx1"/>
                </a:solidFill>
              </a:rPr>
              <a:t>纳什均衡</a:t>
            </a:r>
            <a:endParaRPr lang="en-US" altLang="en-US" sz="1200">
              <a:solidFill>
                <a:schemeClr val="tx1"/>
              </a:solidFill>
            </a:endParaRPr>
          </a:p>
        </p:txBody>
      </p:sp>
      <p:pic>
        <p:nvPicPr>
          <p:cNvPr id="40" name="图片 39" descr="Screenshot from 2022-12-10 19-17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2980" y="2740025"/>
            <a:ext cx="3324225" cy="2447925"/>
          </a:xfrm>
          <a:prstGeom prst="rect">
            <a:avLst/>
          </a:prstGeom>
        </p:spPr>
      </p:pic>
      <p:sp>
        <p:nvSpPr>
          <p:cNvPr id="42" name="下箭头 41"/>
          <p:cNvSpPr/>
          <p:nvPr/>
        </p:nvSpPr>
        <p:spPr>
          <a:xfrm>
            <a:off x="8827135" y="1841500"/>
            <a:ext cx="249555" cy="851535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43" name="椭圆形标注 42"/>
          <p:cNvSpPr/>
          <p:nvPr/>
        </p:nvSpPr>
        <p:spPr>
          <a:xfrm>
            <a:off x="9894570" y="2331720"/>
            <a:ext cx="1652270" cy="972185"/>
          </a:xfrm>
          <a:prstGeom prst="wedgeEllipseCallout">
            <a:avLst>
              <a:gd name="adj1" fmla="val -84982"/>
              <a:gd name="adj2" fmla="val -4936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9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000">
                <a:solidFill>
                  <a:schemeClr val="tx1"/>
                </a:solidFill>
                <a:sym typeface="+mn-ea"/>
              </a:rPr>
              <a:t>玩家的行动有先后次序</a:t>
            </a:r>
            <a:endParaRPr lang="en-US" altLang="zh-CN" sz="10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  <a:sym typeface="+mn-ea"/>
              </a:rPr>
              <a:t>任何玩家都</a:t>
            </a:r>
            <a:r>
              <a:rPr lang="en-US" altLang="zh-CN" sz="1000">
                <a:solidFill>
                  <a:srgbClr val="FF0000"/>
                </a:solidFill>
                <a:sym typeface="+mn-ea"/>
              </a:rPr>
              <a:t>不能通过独自改变策略</a:t>
            </a:r>
            <a:r>
              <a:rPr lang="en-US" altLang="zh-CN" sz="1000">
                <a:solidFill>
                  <a:schemeClr val="tx1"/>
                </a:solidFill>
                <a:sym typeface="+mn-ea"/>
              </a:rPr>
              <a:t>而获益</a:t>
            </a:r>
            <a:endParaRPr lang="en-US" altLang="zh-CN" sz="1000">
              <a:solidFill>
                <a:schemeClr val="tx1"/>
              </a:solidFill>
              <a:sym typeface="+mn-ea"/>
            </a:endParaRPr>
          </a:p>
        </p:txBody>
      </p:sp>
      <p:sp>
        <p:nvSpPr>
          <p:cNvPr id="49" name="云形标注 48"/>
          <p:cNvSpPr/>
          <p:nvPr/>
        </p:nvSpPr>
        <p:spPr>
          <a:xfrm>
            <a:off x="8316595" y="5607050"/>
            <a:ext cx="3074035" cy="1057275"/>
          </a:xfrm>
          <a:prstGeom prst="cloudCallout">
            <a:avLst>
              <a:gd name="adj1" fmla="val -41613"/>
              <a:gd name="adj2" fmla="val -8807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引入通讯机制可改变均衡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86605" y="3865245"/>
            <a:ext cx="2978150" cy="1867535"/>
            <a:chOff x="5923" y="5456"/>
            <a:chExt cx="4690" cy="2941"/>
          </a:xfrm>
        </p:grpSpPr>
        <p:sp>
          <p:nvSpPr>
            <p:cNvPr id="50" name="文本框 49"/>
            <p:cNvSpPr txBox="1"/>
            <p:nvPr/>
          </p:nvSpPr>
          <p:spPr>
            <a:xfrm>
              <a:off x="5923" y="5456"/>
              <a:ext cx="469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现实：状态、动作空间大</a:t>
              </a:r>
              <a:endParaRPr lang="en-US" altLang="zh-CN" sz="1400"/>
            </a:p>
            <a:p>
              <a:r>
                <a:rPr lang="en-US" altLang="zh-CN" sz="1400"/>
                <a:t>博弈元素不完全可知</a:t>
              </a:r>
              <a:endParaRPr lang="en-US" altLang="zh-CN" sz="1400"/>
            </a:p>
          </p:txBody>
        </p:sp>
        <p:sp>
          <p:nvSpPr>
            <p:cNvPr id="60" name="爆炸形 1 59"/>
            <p:cNvSpPr/>
            <p:nvPr/>
          </p:nvSpPr>
          <p:spPr>
            <a:xfrm>
              <a:off x="6223" y="6587"/>
              <a:ext cx="3289" cy="1810"/>
            </a:xfrm>
            <a:prstGeom prst="irregularSeal1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obs</a:t>
              </a:r>
              <a:r>
                <a:rPr lang="en-US" altLang="en-US" sz="1400">
                  <a:solidFill>
                    <a:schemeClr val="tx1"/>
                  </a:solidFill>
                  <a:latin typeface="AR PL UKai CN" panose="02000503000000000000" charset="-122"/>
                  <a:ea typeface="AR PL UKai CN" panose="02000503000000000000" charset="-122"/>
                  <a:sym typeface="+mn-ea"/>
                </a:rPr>
                <a:t>≠state</a:t>
              </a:r>
              <a:endParaRPr lang="en-US" altLang="en-US" sz="1400">
                <a:solidFill>
                  <a:schemeClr val="tx1"/>
                </a:solidFill>
                <a:latin typeface="AR PL UKai CN" panose="02000503000000000000" charset="-122"/>
                <a:ea typeface="AR PL UKai CN" panose="02000503000000000000" charset="-122"/>
                <a:sym typeface="+mn-ea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478790" y="3654425"/>
            <a:ext cx="275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MARL目标：均衡</a:t>
            </a:r>
            <a:endParaRPr lang="en-US" altLang="zh-CN"/>
          </a:p>
        </p:txBody>
      </p:sp>
      <p:grpSp>
        <p:nvGrpSpPr>
          <p:cNvPr id="53" name="组合 52"/>
          <p:cNvGrpSpPr/>
          <p:nvPr/>
        </p:nvGrpSpPr>
        <p:grpSpPr>
          <a:xfrm>
            <a:off x="151130" y="4417695"/>
            <a:ext cx="2996565" cy="2012950"/>
            <a:chOff x="369" y="1188"/>
            <a:chExt cx="4719" cy="3170"/>
          </a:xfrm>
        </p:grpSpPr>
        <p:sp>
          <p:nvSpPr>
            <p:cNvPr id="54" name="圆角矩形 53"/>
            <p:cNvSpPr/>
            <p:nvPr/>
          </p:nvSpPr>
          <p:spPr>
            <a:xfrm>
              <a:off x="2426" y="3685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团块化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369" y="2226"/>
              <a:ext cx="1582" cy="119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  <a:sym typeface="+mn-ea"/>
                </a:rPr>
                <a:t>社会组织形式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2426" y="2488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垂直化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2426" y="1188"/>
              <a:ext cx="2662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 扁平化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59" name="曲线连接符 58"/>
            <p:cNvCxnSpPr>
              <a:stCxn id="55" idx="0"/>
              <a:endCxn id="57" idx="1"/>
            </p:cNvCxnSpPr>
            <p:nvPr/>
          </p:nvCxnSpPr>
          <p:spPr>
            <a:xfrm rot="16200000">
              <a:off x="1443" y="1243"/>
              <a:ext cx="701" cy="1266"/>
            </a:xfrm>
            <a:prstGeom prst="curved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接箭头连接符 63"/>
          <p:cNvCxnSpPr/>
          <p:nvPr/>
        </p:nvCxnSpPr>
        <p:spPr>
          <a:xfrm>
            <a:off x="1072515" y="5353050"/>
            <a:ext cx="30162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曲线连接符 64"/>
          <p:cNvCxnSpPr/>
          <p:nvPr/>
        </p:nvCxnSpPr>
        <p:spPr>
          <a:xfrm rot="5400000" flipV="1">
            <a:off x="781685" y="5521325"/>
            <a:ext cx="381000" cy="80391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云形标注 65"/>
          <p:cNvSpPr/>
          <p:nvPr/>
        </p:nvSpPr>
        <p:spPr>
          <a:xfrm>
            <a:off x="3404235" y="5732780"/>
            <a:ext cx="2663190" cy="995045"/>
          </a:xfrm>
          <a:prstGeom prst="cloudCallout">
            <a:avLst>
              <a:gd name="adj1" fmla="val -41613"/>
              <a:gd name="adj2" fmla="val -8807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如何自动学习出使智能体群体利益最大化的社会结构?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</a:t>
            </a:r>
            <a:r>
              <a:rPr lang="en-US" altLang="en-US" sz="4800"/>
              <a:t>2.11</a:t>
            </a:r>
            <a:endParaRPr lang="en-US" altLang="en-US" sz="4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51816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自然语言处理（Natural Language Processing，NLP）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690" y="1268095"/>
            <a:ext cx="370649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研究对象：人与计算机之间用自然语言进行有效通信的理论和方法。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研究目的：从文本数据中提取信息。让计算机处理或“理解”自然语言，执行自动翻译、文本分类和情感分析等。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技术范畴：问答系统（Question Answering, QA）、语音识别（Speech Recognition）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793615" y="1519555"/>
            <a:ext cx="3332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数据收集</a:t>
            </a:r>
            <a:endParaRPr lang="en-US" altLang="zh-CN"/>
          </a:p>
        </p:txBody>
      </p:sp>
      <p:sp>
        <p:nvSpPr>
          <p:cNvPr id="11" name="下箭头 10"/>
          <p:cNvSpPr/>
          <p:nvPr/>
        </p:nvSpPr>
        <p:spPr>
          <a:xfrm>
            <a:off x="6298565" y="188785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876800" y="2514600"/>
            <a:ext cx="3165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数据标注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002530" y="3684905"/>
            <a:ext cx="291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文本标准化（Normalization）</a:t>
            </a:r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6298565" y="2994660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02530" y="4882515"/>
            <a:ext cx="3176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文本向量化/特征化（Vectorization/Featuring）</a:t>
            </a:r>
            <a:endParaRPr lang="zh-CN" altLang="en-US"/>
          </a:p>
        </p:txBody>
      </p:sp>
      <p:sp>
        <p:nvSpPr>
          <p:cNvPr id="5" name="下箭头 4"/>
          <p:cNvSpPr/>
          <p:nvPr/>
        </p:nvSpPr>
        <p:spPr>
          <a:xfrm>
            <a:off x="6298565" y="433006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89220" y="61315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建模</a:t>
            </a:r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6298565" y="545655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4298950" y="3735705"/>
            <a:ext cx="812165" cy="27070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164205" y="4807585"/>
            <a:ext cx="1051560" cy="7080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不断迭代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椭圆形标注 12"/>
          <p:cNvSpPr/>
          <p:nvPr/>
        </p:nvSpPr>
        <p:spPr>
          <a:xfrm>
            <a:off x="7564120" y="4471035"/>
            <a:ext cx="1551940" cy="489585"/>
          </a:xfrm>
          <a:prstGeom prst="wedgeEllipseCallout">
            <a:avLst>
              <a:gd name="adj1" fmla="val -41369"/>
              <a:gd name="adj2" fmla="val 7119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读取信息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4" name="图片 13" descr="Screenshot from 2022-12-31 14-41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815" y="1273175"/>
            <a:ext cx="3818890" cy="30568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1160145" y="1361440"/>
            <a:ext cx="9734550" cy="4314825"/>
            <a:chOff x="106" y="391"/>
            <a:chExt cx="12856" cy="4484"/>
          </a:xfrm>
        </p:grpSpPr>
        <p:grpSp>
          <p:nvGrpSpPr>
            <p:cNvPr id="9" name="组合 8"/>
            <p:cNvGrpSpPr/>
            <p:nvPr/>
          </p:nvGrpSpPr>
          <p:grpSpPr>
            <a:xfrm>
              <a:off x="106" y="391"/>
              <a:ext cx="12856" cy="4485"/>
              <a:chOff x="450" y="2424"/>
              <a:chExt cx="12856" cy="4485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450" y="2424"/>
                <a:ext cx="5327" cy="3800"/>
                <a:chOff x="369" y="851"/>
                <a:chExt cx="5327" cy="3800"/>
              </a:xfrm>
            </p:grpSpPr>
            <p:sp>
              <p:nvSpPr>
                <p:cNvPr id="17" name="椭圆 16"/>
                <p:cNvSpPr/>
                <p:nvPr/>
              </p:nvSpPr>
              <p:spPr>
                <a:xfrm>
                  <a:off x="369" y="2226"/>
                  <a:ext cx="1582" cy="119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sym typeface="+mn-ea"/>
                    </a:rPr>
                    <a:t>数据标注</a:t>
                  </a:r>
                  <a:endParaRPr lang="en-US" altLang="zh-CN" sz="12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1" name="圆角矩形 10"/>
                <p:cNvSpPr/>
                <p:nvPr/>
              </p:nvSpPr>
              <p:spPr>
                <a:xfrm>
                  <a:off x="2427" y="2167"/>
                  <a:ext cx="3269" cy="67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去停用词（the、a、an...)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2" name="圆角矩形 11"/>
                <p:cNvSpPr/>
                <p:nvPr/>
              </p:nvSpPr>
              <p:spPr>
                <a:xfrm>
                  <a:off x="2426" y="851"/>
                  <a:ext cx="3269" cy="90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 基本函数（strip去字符，split分割合并...）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3" name="圆角矩形 12"/>
                <p:cNvSpPr/>
                <p:nvPr/>
              </p:nvSpPr>
              <p:spPr>
                <a:xfrm>
                  <a:off x="2426" y="3978"/>
                  <a:ext cx="3270" cy="67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命名实体识别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cxnSp>
              <p:nvCxnSpPr>
                <p:cNvPr id="14" name="曲线连接符 13"/>
                <p:cNvCxnSpPr>
                  <a:stCxn id="17" idx="0"/>
                  <a:endCxn id="12" idx="1"/>
                </p:cNvCxnSpPr>
                <p:nvPr/>
              </p:nvCxnSpPr>
              <p:spPr>
                <a:xfrm rot="16200000">
                  <a:off x="1331" y="1131"/>
                  <a:ext cx="924" cy="1266"/>
                </a:xfrm>
                <a:prstGeom prst="curvedConnector2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曲线连接符 15"/>
                <p:cNvCxnSpPr>
                  <a:stCxn id="17" idx="4"/>
                  <a:endCxn id="13" idx="1"/>
                </p:cNvCxnSpPr>
                <p:nvPr/>
              </p:nvCxnSpPr>
              <p:spPr>
                <a:xfrm rot="5400000" flipV="1">
                  <a:off x="1347" y="3236"/>
                  <a:ext cx="893" cy="1266"/>
                </a:xfrm>
                <a:prstGeom prst="curvedConnector2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" name="图片 5" descr="Screenshot from 2023-02-11 16-56-2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090" y="5329"/>
                <a:ext cx="4773" cy="1580"/>
              </a:xfrm>
              <a:prstGeom prst="rect">
                <a:avLst/>
              </a:prstGeom>
            </p:spPr>
          </p:pic>
          <p:pic>
            <p:nvPicPr>
              <p:cNvPr id="8" name="图片 7" descr="Screenshot from 2023-02-11 17-03-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0" y="3960"/>
                <a:ext cx="7217" cy="869"/>
              </a:xfrm>
              <a:prstGeom prst="rect">
                <a:avLst/>
              </a:prstGeom>
            </p:spPr>
          </p:pic>
        </p:grpSp>
        <p:sp>
          <p:nvSpPr>
            <p:cNvPr id="10" name="圆角矩形 9"/>
            <p:cNvSpPr/>
            <p:nvPr/>
          </p:nvSpPr>
          <p:spPr>
            <a:xfrm>
              <a:off x="2164" y="2623"/>
              <a:ext cx="3270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词性标注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TF-IDF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1320" y="1616710"/>
            <a:ext cx="4445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TF</a:t>
            </a:r>
            <a:r>
              <a:rPr lang="en-US" altLang="zh-CN"/>
              <a:t>(</a:t>
            </a:r>
            <a:r>
              <a:rPr lang="zh-CN" altLang="en-US"/>
              <a:t>词频</a:t>
            </a:r>
            <a:r>
              <a:rPr lang="en-US" altLang="zh-CN"/>
              <a:t>,</a:t>
            </a:r>
            <a:r>
              <a:rPr lang="zh-CN" altLang="en-US"/>
              <a:t>Term Frequency)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表示词条（关键字）在文本中出现的频率。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334010" y="2407920"/>
            <a:ext cx="3873500" cy="803910"/>
            <a:chOff x="458" y="4424"/>
            <a:chExt cx="6100" cy="1266"/>
          </a:xfrm>
        </p:grpSpPr>
        <p:sp>
          <p:nvSpPr>
            <p:cNvPr id="11" name="文本框 10"/>
            <p:cNvSpPr txBox="1"/>
            <p:nvPr/>
          </p:nvSpPr>
          <p:spPr>
            <a:xfrm>
              <a:off x="458" y="4841"/>
              <a:ext cx="116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TF</a:t>
              </a:r>
              <a:r>
                <a:rPr lang="en-US" altLang="zh-CN" baseline="-25000"/>
                <a:t>w</a:t>
              </a:r>
              <a:r>
                <a:rPr lang="en-US" altLang="zh-CN"/>
                <a:t>=</a:t>
              </a:r>
              <a:endParaRPr lang="en-US" altLang="zh-CN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626" y="4424"/>
              <a:ext cx="49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在某一类中词条</a:t>
              </a:r>
              <a:r>
                <a:rPr lang="en-US" altLang="en-US"/>
                <a:t>w</a:t>
              </a:r>
              <a:r>
                <a:rPr lang="en-US" altLang="zh-CN"/>
                <a:t>出现的次数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71" y="5110"/>
              <a:ext cx="39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/>
                <a:t>该类中所有的词条数目</a:t>
              </a:r>
              <a:endParaRPr 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1754" y="5004"/>
              <a:ext cx="45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5513070" y="1616710"/>
            <a:ext cx="5851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IDF</a:t>
            </a:r>
            <a:r>
              <a:rPr lang="en-US" altLang="zh-CN"/>
              <a:t>:</a:t>
            </a:r>
            <a:r>
              <a:rPr lang="zh-CN" altLang="en-US"/>
              <a:t>逆向文件频率(Inverse Document Frequency)</a:t>
            </a:r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266055" y="2407920"/>
            <a:ext cx="6776720" cy="906780"/>
            <a:chOff x="8054" y="4526"/>
            <a:chExt cx="10672" cy="1428"/>
          </a:xfrm>
        </p:grpSpPr>
        <p:grpSp>
          <p:nvGrpSpPr>
            <p:cNvPr id="19" name="组合 18"/>
            <p:cNvGrpSpPr/>
            <p:nvPr/>
          </p:nvGrpSpPr>
          <p:grpSpPr>
            <a:xfrm>
              <a:off x="8054" y="4526"/>
              <a:ext cx="5905" cy="1429"/>
              <a:chOff x="654" y="4424"/>
              <a:chExt cx="5905" cy="1429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654" y="4837"/>
                <a:ext cx="1694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/>
                  <a:t>IDF</a:t>
                </a:r>
                <a:r>
                  <a:rPr lang="en-US" altLang="zh-CN"/>
                  <a:t>=</a:t>
                </a:r>
                <a:r>
                  <a:rPr lang="en-US" altLang="en-US"/>
                  <a:t>log</a:t>
                </a:r>
                <a:endParaRPr lang="en-US" altLang="en-US"/>
              </a:p>
              <a:p>
                <a:endParaRPr lang="en-US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626" y="4424"/>
                <a:ext cx="493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/>
                  <a:t>语料库的文档总数</a:t>
                </a:r>
                <a:endParaRPr 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153" y="5110"/>
                <a:ext cx="394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/>
                  <a:t>包含词条</a:t>
                </a:r>
                <a:r>
                  <a:rPr lang="en-US" altLang="en-US"/>
                  <a:t>w</a:t>
                </a:r>
                <a:r>
                  <a:rPr lang="en-US"/>
                  <a:t>的文档数</a:t>
                </a:r>
                <a:r>
                  <a:rPr lang="en-US" altLang="en-US"/>
                  <a:t>+1</a:t>
                </a:r>
                <a:endParaRPr lang="en-US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 flipV="1">
                <a:off x="2234" y="5004"/>
                <a:ext cx="3778" cy="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3606" y="4873"/>
              <a:ext cx="5120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altLang="zh-CN" sz="1400">
                  <a:sym typeface="+mn-ea"/>
                </a:rPr>
                <a:t>(</a:t>
              </a:r>
              <a:r>
                <a:rPr lang="zh-CN" altLang="en-US" sz="1400">
                  <a:sym typeface="+mn-ea"/>
                </a:rPr>
                <a:t>分母之所以要加1,是为了避免分母为0</a:t>
              </a:r>
              <a:r>
                <a:rPr lang="en-US" altLang="zh-CN" sz="1400">
                  <a:sym typeface="+mn-ea"/>
                </a:rPr>
                <a:t>)</a:t>
              </a:r>
              <a:endParaRPr lang="en-US" altLang="zh-CN" sz="1400">
                <a:sym typeface="+mn-ea"/>
              </a:endParaRPr>
            </a:p>
          </p:txBody>
        </p:sp>
      </p:grpSp>
      <p:sp>
        <p:nvSpPr>
          <p:cNvPr id="26" name="椭圆形标注 25"/>
          <p:cNvSpPr/>
          <p:nvPr/>
        </p:nvSpPr>
        <p:spPr>
          <a:xfrm>
            <a:off x="7835265" y="782955"/>
            <a:ext cx="3134360" cy="687070"/>
          </a:xfrm>
          <a:prstGeom prst="wedgeEllipseCallout">
            <a:avLst>
              <a:gd name="adj1" fmla="val -41369"/>
              <a:gd name="adj2" fmla="val 7119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IDF越大，说明词条越具有很好的类别区分能力。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" name="左大括号 26"/>
          <p:cNvSpPr/>
          <p:nvPr/>
        </p:nvSpPr>
        <p:spPr>
          <a:xfrm rot="16200000">
            <a:off x="5147310" y="186690"/>
            <a:ext cx="312420" cy="65690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384425" y="372745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TF-IDF</a:t>
            </a:r>
            <a:endParaRPr lang="zh-CN" altLang="en-US"/>
          </a:p>
        </p:txBody>
      </p:sp>
      <p:sp>
        <p:nvSpPr>
          <p:cNvPr id="55" name="燕尾形 54"/>
          <p:cNvSpPr/>
          <p:nvPr/>
        </p:nvSpPr>
        <p:spPr>
          <a:xfrm>
            <a:off x="561975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某一特定文件内的高词语频率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3811270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该词语在整个文件集合中的低文件频率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60" name="爆炸形 1 59"/>
          <p:cNvSpPr/>
          <p:nvPr/>
        </p:nvSpPr>
        <p:spPr>
          <a:xfrm>
            <a:off x="6927215" y="3905250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高权重的TF-IDF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燕尾形 30"/>
          <p:cNvSpPr/>
          <p:nvPr/>
        </p:nvSpPr>
        <p:spPr>
          <a:xfrm>
            <a:off x="9015730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过滤掉常见的词语，保留重要的词语。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</a:t>
            </a:r>
            <a:r>
              <a:rPr lang="en-US" altLang="en-US" sz="4800"/>
              <a:t>2.14</a:t>
            </a:r>
            <a:endParaRPr lang="en-US" altLang="en-US" sz="4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词向量</a:t>
            </a:r>
            <a:endParaRPr lang="en-US" altLang="zh-CN"/>
          </a:p>
        </p:txBody>
      </p:sp>
      <p:pic>
        <p:nvPicPr>
          <p:cNvPr id="8" name="图片 8" descr="Figure_1"/>
          <p:cNvPicPr>
            <a:picLocks noChangeAspect="1"/>
          </p:cNvPicPr>
          <p:nvPr/>
        </p:nvPicPr>
        <p:blipFill>
          <a:blip r:embed="rId1"/>
          <a:srcRect t="27710" r="645" b="16208"/>
          <a:stretch>
            <a:fillRect/>
          </a:stretch>
        </p:blipFill>
        <p:spPr>
          <a:xfrm>
            <a:off x="4640580" y="3100070"/>
            <a:ext cx="6369685" cy="25863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83145" y="1630045"/>
            <a:ext cx="3508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TF-IDF算法是通过统计学的方式来</a:t>
            </a:r>
            <a:r>
              <a:rPr lang="en-US" altLang="zh-CN"/>
              <a:t>将</a:t>
            </a:r>
            <a:r>
              <a:rPr lang="zh-CN" altLang="en-US"/>
              <a:t>文章中的词的重要程度，转化成向量来表示一篇文章。</a:t>
            </a:r>
            <a:endParaRPr lang="zh-CN" altLang="en-US"/>
          </a:p>
        </p:txBody>
      </p:sp>
      <p:sp>
        <p:nvSpPr>
          <p:cNvPr id="5" name="爆炸形 1 4"/>
          <p:cNvSpPr/>
          <p:nvPr/>
        </p:nvSpPr>
        <p:spPr>
          <a:xfrm>
            <a:off x="4394835" y="163004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9、10两句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8000" y="1786890"/>
            <a:ext cx="3477260" cy="3982085"/>
            <a:chOff x="4717" y="1997"/>
            <a:chExt cx="4146" cy="4084"/>
          </a:xfrm>
        </p:grpSpPr>
        <p:pic>
          <p:nvPicPr>
            <p:cNvPr id="2" name="图片 1" descr="Screenshot from 2023-02-13 14-46-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7" y="1997"/>
              <a:ext cx="4147" cy="4084"/>
            </a:xfrm>
            <a:prstGeom prst="rect">
              <a:avLst/>
            </a:prstGeom>
          </p:spPr>
        </p:pic>
        <p:sp>
          <p:nvSpPr>
            <p:cNvPr id="10" name="圆角矩形 9"/>
            <p:cNvSpPr/>
            <p:nvPr/>
          </p:nvSpPr>
          <p:spPr>
            <a:xfrm>
              <a:off x="5094" y="4270"/>
              <a:ext cx="2607" cy="45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66" name="云形标注 65"/>
          <p:cNvSpPr/>
          <p:nvPr/>
        </p:nvSpPr>
        <p:spPr>
          <a:xfrm>
            <a:off x="7837805" y="162560"/>
            <a:ext cx="2205355" cy="817880"/>
          </a:xfrm>
          <a:prstGeom prst="cloudCallout">
            <a:avLst>
              <a:gd name="adj1" fmla="val -29355"/>
              <a:gd name="adj2" fmla="val 12267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一篇文章是一个向量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</a:t>
            </a:r>
            <a:r>
              <a:rPr lang="en-US" altLang="en-US" sz="4800"/>
              <a:t>2.16</a:t>
            </a:r>
            <a:endParaRPr lang="en-US" altLang="en-US" sz="4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creenshot from 2023-02-14 20-56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123950"/>
            <a:ext cx="4297045" cy="5513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Continuous Bag of Words (CBOW)</a:t>
            </a:r>
            <a:endParaRPr lang="en-US" altLang="zh-CN"/>
          </a:p>
        </p:txBody>
      </p:sp>
      <p:sp>
        <p:nvSpPr>
          <p:cNvPr id="66" name="云形标注 65"/>
          <p:cNvSpPr/>
          <p:nvPr/>
        </p:nvSpPr>
        <p:spPr>
          <a:xfrm>
            <a:off x="9076055" y="229870"/>
            <a:ext cx="2447925" cy="1219835"/>
          </a:xfrm>
          <a:prstGeom prst="cloudCallout">
            <a:avLst>
              <a:gd name="adj1" fmla="val -82062"/>
              <a:gd name="adj2" fmla="val 460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挑一个要预测的词，来学习这个词前后文中词语和预测词的关系。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3002915" y="1213485"/>
          <a:ext cx="3091180" cy="182816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45590"/>
                <a:gridCol w="1545590"/>
              </a:tblGrid>
              <a:tr h="34988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数据集（向量化）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cPr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[前2索引，前1索引，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后1索引，后2索引]  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......</a:t>
                      </a:r>
                      <a:endParaRPr lang="en-US" altLang="en-US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49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  <a:sym typeface="+mn-ea"/>
                        </a:rPr>
                        <a:t>本身索引</a:t>
                      </a:r>
                      <a:endParaRPr lang="en-US" sz="120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  <a:sym typeface="+mn-ea"/>
                        </a:rPr>
                        <a:t>......</a:t>
                      </a:r>
                      <a:endParaRPr lang="en-US" altLang="en-US" sz="135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{去重元素：索引}</a:t>
                      </a:r>
                      <a:endParaRPr sz="120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......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{索引：去重元素}</a:t>
                      </a:r>
                      <a:endParaRPr lang="en-US" altLang="zh-CN" sz="120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......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下箭头 10"/>
          <p:cNvSpPr/>
          <p:nvPr/>
        </p:nvSpPr>
        <p:spPr>
          <a:xfrm rot="16200000">
            <a:off x="2300605" y="1772285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4386580" y="328422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爆炸形 1 59"/>
          <p:cNvSpPr/>
          <p:nvPr/>
        </p:nvSpPr>
        <p:spPr>
          <a:xfrm>
            <a:off x="3504565" y="431101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68745" y="1449705"/>
            <a:ext cx="5419090" cy="1577975"/>
            <a:chOff x="1286" y="2042"/>
            <a:chExt cx="8534" cy="2485"/>
          </a:xfrm>
        </p:grpSpPr>
        <p:sp>
          <p:nvSpPr>
            <p:cNvPr id="21" name="椭圆 20"/>
            <p:cNvSpPr/>
            <p:nvPr/>
          </p:nvSpPr>
          <p:spPr>
            <a:xfrm>
              <a:off x="4159" y="2042"/>
              <a:ext cx="2188" cy="1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  <a:sym typeface="+mn-ea"/>
                </a:rPr>
                <a:t>目标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286" y="3358"/>
              <a:ext cx="3898" cy="116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用前后文的词向量来预测句中的某个词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5922" y="3358"/>
              <a:ext cx="3898" cy="116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一起出现的向量在向量图上相距较近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29" name="肘形连接符 28"/>
          <p:cNvCxnSpPr>
            <a:stCxn id="21" idx="2"/>
            <a:endCxn id="22" idx="0"/>
          </p:cNvCxnSpPr>
          <p:nvPr/>
        </p:nvCxnSpPr>
        <p:spPr>
          <a:xfrm rot="10800000" flipV="1">
            <a:off x="7706360" y="1802765"/>
            <a:ext cx="586740" cy="4826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21" idx="6"/>
            <a:endCxn id="23" idx="0"/>
          </p:cNvCxnSpPr>
          <p:nvPr/>
        </p:nvCxnSpPr>
        <p:spPr>
          <a:xfrm>
            <a:off x="9682480" y="1802765"/>
            <a:ext cx="967740" cy="4826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波形 30"/>
          <p:cNvSpPr/>
          <p:nvPr/>
        </p:nvSpPr>
        <p:spPr>
          <a:xfrm>
            <a:off x="9556115" y="3617595"/>
            <a:ext cx="2478405" cy="1530350"/>
          </a:xfrm>
          <a:prstGeom prst="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（V</a:t>
            </a:r>
            <a:r>
              <a:rPr lang="en-US" sz="1400">
                <a:solidFill>
                  <a:schemeClr val="tx1"/>
                </a:solidFill>
                <a:sym typeface="+mn-ea"/>
              </a:rPr>
              <a:t>5+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V2+V8+V6）/4==V4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2" name="图片 31" descr="multi-agent"/>
          <p:cNvPicPr>
            <a:picLocks noChangeAspect="1"/>
          </p:cNvPicPr>
          <p:nvPr/>
        </p:nvPicPr>
        <p:blipFill>
          <a:blip r:embed="rId2"/>
          <a:srcRect l="53250" t="31950" r="2583" b="1935"/>
          <a:stretch>
            <a:fillRect/>
          </a:stretch>
        </p:blipFill>
        <p:spPr>
          <a:xfrm>
            <a:off x="6333490" y="3063240"/>
            <a:ext cx="2910205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g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" y="370205"/>
            <a:ext cx="5582285" cy="5678170"/>
          </a:xfrm>
          <a:prstGeom prst="rect">
            <a:avLst/>
          </a:prstGeom>
        </p:spPr>
      </p:pic>
      <p:pic>
        <p:nvPicPr>
          <p:cNvPr id="15" name="图片 14" descr="Figure_2500"/>
          <p:cNvPicPr>
            <a:picLocks noChangeAspect="1"/>
          </p:cNvPicPr>
          <p:nvPr/>
        </p:nvPicPr>
        <p:blipFill>
          <a:blip r:embed="rId2"/>
          <a:srcRect l="7399" t="9801" r="4278" b="6362"/>
          <a:stretch>
            <a:fillRect/>
          </a:stretch>
        </p:blipFill>
        <p:spPr>
          <a:xfrm>
            <a:off x="6517005" y="3516630"/>
            <a:ext cx="4653915" cy="3313430"/>
          </a:xfrm>
          <a:prstGeom prst="rect">
            <a:avLst/>
          </a:prstGeom>
        </p:spPr>
      </p:pic>
      <p:sp>
        <p:nvSpPr>
          <p:cNvPr id="9" name="爆炸形 1 8"/>
          <p:cNvSpPr/>
          <p:nvPr/>
        </p:nvSpPr>
        <p:spPr>
          <a:xfrm>
            <a:off x="6742430" y="383730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训练2500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6" name="图片 15" descr="Figure_1"/>
          <p:cNvPicPr>
            <a:picLocks noChangeAspect="1"/>
          </p:cNvPicPr>
          <p:nvPr/>
        </p:nvPicPr>
        <p:blipFill>
          <a:blip r:embed="rId3"/>
          <a:srcRect l="8442" t="8116" r="8648" b="6250"/>
          <a:stretch>
            <a:fillRect/>
          </a:stretch>
        </p:blipFill>
        <p:spPr>
          <a:xfrm>
            <a:off x="6624955" y="78740"/>
            <a:ext cx="4438015" cy="3437890"/>
          </a:xfrm>
          <a:prstGeom prst="rect">
            <a:avLst/>
          </a:prstGeom>
        </p:spPr>
      </p:pic>
      <p:sp>
        <p:nvSpPr>
          <p:cNvPr id="60" name="爆炸形 1 59"/>
          <p:cNvSpPr/>
          <p:nvPr/>
        </p:nvSpPr>
        <p:spPr>
          <a:xfrm>
            <a:off x="7012940" y="37020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2022.</a:t>
            </a:r>
            <a:r>
              <a:rPr lang="en-US" altLang="en-US" sz="4800"/>
              <a:t>2.21</a:t>
            </a:r>
            <a:endParaRPr lang="en-US" altLang="en-US" sz="4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7119620" y="2595880"/>
            <a:ext cx="4372610" cy="1900555"/>
            <a:chOff x="12041" y="4457"/>
            <a:chExt cx="6886" cy="2993"/>
          </a:xfrm>
        </p:grpSpPr>
        <p:pic>
          <p:nvPicPr>
            <p:cNvPr id="12" name="图片 11" descr="v2-f28e9751177b9e1ab389edebe1f3261b_r"/>
            <p:cNvPicPr>
              <a:picLocks noChangeAspect="1"/>
            </p:cNvPicPr>
            <p:nvPr/>
          </p:nvPicPr>
          <p:blipFill>
            <a:blip r:embed="rId1"/>
            <a:srcRect r="361" b="19900"/>
            <a:stretch>
              <a:fillRect/>
            </a:stretch>
          </p:blipFill>
          <p:spPr>
            <a:xfrm>
              <a:off x="12041" y="4457"/>
              <a:ext cx="6886" cy="2132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2210" y="6870"/>
              <a:ext cx="65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/>
                <a:t>A*B=C</a:t>
              </a:r>
              <a:endParaRPr lang="en-US" altLang="zh-CN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176270" y="1040130"/>
            <a:ext cx="5839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Embedding</a:t>
            </a:r>
            <a:endParaRPr lang="en-US" altLang="zh-CN"/>
          </a:p>
          <a:p>
            <a:pPr algn="ctr"/>
            <a:r>
              <a:rPr lang="en-US" altLang="en-US"/>
              <a:t>（嵌入式、嵌入层）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6270" y="20650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one-hot</a:t>
            </a:r>
            <a:r>
              <a:rPr lang="en-US" altLang="zh-CN"/>
              <a:t>（独热）</a:t>
            </a:r>
            <a:r>
              <a:rPr lang="zh-CN" altLang="en-US"/>
              <a:t>编码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9700" y="2595880"/>
            <a:ext cx="38525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zh-CN" altLang="en-US"/>
              <a:t>小普喜欢星海湾的朋友</a:t>
            </a:r>
            <a:endParaRPr lang="zh-CN" altLang="en-US"/>
          </a:p>
          <a:p>
            <a:pPr algn="dist"/>
            <a:r>
              <a:rPr lang="zh-CN" altLang="en-US"/>
              <a:t>0123456789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260" y="3555365"/>
            <a:ext cx="192976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/>
              <a:t>小普喜欢星海湾的朋友</a:t>
            </a:r>
            <a:endParaRPr lang="zh-CN" altLang="en-US" sz="1200"/>
          </a:p>
          <a:p>
            <a:pPr algn="dist"/>
            <a:r>
              <a:rPr lang="en-US" altLang="zh-CN" sz="1200"/>
              <a:t>[</a:t>
            </a:r>
            <a:r>
              <a:rPr lang="zh-CN" altLang="en-US" sz="1200"/>
              <a:t>1000000000]</a:t>
            </a:r>
            <a:endParaRPr lang="zh-CN" altLang="en-US" sz="1200"/>
          </a:p>
          <a:p>
            <a:pPr algn="dist"/>
            <a:r>
              <a:rPr lang="zh-CN" altLang="en-US" sz="1200"/>
              <a:t>[0100000000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[0010000000]</a:t>
            </a:r>
            <a:endParaRPr lang="zh-CN" altLang="en-US" sz="1200"/>
          </a:p>
          <a:p>
            <a:pPr algn="dist"/>
            <a:r>
              <a:rPr lang="zh-CN" altLang="en-US" sz="1200"/>
              <a:t>[0001000000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[0000100000]</a:t>
            </a:r>
            <a:endParaRPr lang="zh-CN" altLang="en-US" sz="1200"/>
          </a:p>
          <a:p>
            <a:pPr algn="dist"/>
            <a:r>
              <a:rPr lang="zh-CN" altLang="en-US" sz="1200"/>
              <a:t>[0000010000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[0000001000]</a:t>
            </a:r>
            <a:endParaRPr lang="zh-CN" altLang="en-US" sz="1200"/>
          </a:p>
          <a:p>
            <a:pPr algn="dist"/>
            <a:r>
              <a:rPr lang="zh-CN" altLang="en-US" sz="1200"/>
              <a:t>[0000000100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[0000000010]</a:t>
            </a:r>
            <a:endParaRPr lang="zh-CN" altLang="en-US" sz="1200"/>
          </a:p>
          <a:p>
            <a:pPr algn="dist"/>
            <a:r>
              <a:rPr lang="zh-CN" altLang="en-US" sz="1200"/>
              <a:t>[0000000001</a:t>
            </a:r>
            <a:r>
              <a:rPr lang="en-US" altLang="zh-CN" sz="1200"/>
              <a:t>]</a:t>
            </a:r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2072640" y="3555365"/>
            <a:ext cx="191960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/>
              <a:t>星海湾的朋友喜欢小普</a:t>
            </a:r>
            <a:endParaRPr lang="en-US" altLang="zh-CN" sz="1200"/>
          </a:p>
          <a:p>
            <a:pPr algn="dist"/>
            <a:r>
              <a:rPr lang="zh-CN" altLang="en-US" sz="1200"/>
              <a:t>[0000000010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[0000000001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[0000001000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[0000000100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[1000000000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[0100000000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[0010000000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[0001000000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[0000100000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[0000010000</a:t>
            </a:r>
            <a:r>
              <a:rPr lang="en-US" altLang="zh-CN" sz="1200"/>
              <a:t>]</a:t>
            </a:r>
            <a:endParaRPr lang="en-US" altLang="zh-CN" sz="1200"/>
          </a:p>
        </p:txBody>
      </p:sp>
      <p:sp>
        <p:nvSpPr>
          <p:cNvPr id="31" name="波形 30"/>
          <p:cNvSpPr/>
          <p:nvPr/>
        </p:nvSpPr>
        <p:spPr>
          <a:xfrm>
            <a:off x="281305" y="5621655"/>
            <a:ext cx="2378710" cy="1195705"/>
          </a:xfrm>
          <a:prstGeom prst="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计算简单，维度爆炸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过于稀疏，占用资源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云形标注 9"/>
          <p:cNvSpPr/>
          <p:nvPr/>
        </p:nvSpPr>
        <p:spPr>
          <a:xfrm>
            <a:off x="4167505" y="1819910"/>
            <a:ext cx="2272665" cy="1084580"/>
          </a:xfrm>
          <a:prstGeom prst="cloudCallout">
            <a:avLst>
              <a:gd name="adj1" fmla="val 112307"/>
              <a:gd name="adj2" fmla="val 3302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我们的CBOW编码是将30维降为二维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56320" y="195580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Embedding层</a:t>
            </a:r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167505" y="3448685"/>
            <a:ext cx="2619375" cy="83312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此处本质是降维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6" name="图片 15" descr="nlp-w2v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05" y="4587875"/>
            <a:ext cx="4095750" cy="2229485"/>
          </a:xfrm>
          <a:prstGeom prst="rect">
            <a:avLst/>
          </a:prstGeom>
        </p:spPr>
      </p:pic>
      <p:sp>
        <p:nvSpPr>
          <p:cNvPr id="17" name="云形标注 16"/>
          <p:cNvSpPr/>
          <p:nvPr/>
        </p:nvSpPr>
        <p:spPr>
          <a:xfrm>
            <a:off x="3303270" y="5796280"/>
            <a:ext cx="2272665" cy="1084580"/>
          </a:xfrm>
          <a:prstGeom prst="cloudCallout">
            <a:avLst>
              <a:gd name="adj1" fmla="val -58158"/>
              <a:gd name="adj2" fmla="val -4484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词向量都是彼此正交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，体现不出相似关系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pg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9825" y="1156335"/>
            <a:ext cx="4457065" cy="59239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76270" y="1040130"/>
            <a:ext cx="5839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Embedding</a:t>
            </a:r>
            <a:endParaRPr lang="en-US" altLang="zh-CN"/>
          </a:p>
          <a:p>
            <a:pPr algn="ctr"/>
            <a:r>
              <a:rPr lang="en-US" altLang="en-US"/>
              <a:t>（嵌入式、嵌入层）</a:t>
            </a:r>
            <a:endParaRPr lang="en-US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9755" y="1685290"/>
            <a:ext cx="35852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keras.layers.Embedding</a:t>
            </a:r>
            <a:r>
              <a:rPr lang="en-US" altLang="zh-CN"/>
              <a:t>函数</a:t>
            </a:r>
            <a:endParaRPr lang="en-US" altLang="zh-CN"/>
          </a:p>
        </p:txBody>
      </p:sp>
      <p:graphicFrame>
        <p:nvGraphicFramePr>
          <p:cNvPr id="18" name="表格 17"/>
          <p:cNvGraphicFramePr/>
          <p:nvPr/>
        </p:nvGraphicFramePr>
        <p:xfrm>
          <a:off x="1899285" y="2239645"/>
          <a:ext cx="1214120" cy="4004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0"/>
                <a:gridCol w="607060"/>
              </a:tblGrid>
              <a:tr h="57213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latin typeface="Calibri" charset="0"/>
                          <a:ea typeface="Calibri" charset="0"/>
                          <a:cs typeface="Calibri" charset="0"/>
                        </a:rPr>
                        <a:t>Embedding Dim（2）</a:t>
                      </a:r>
                      <a:endParaRPr lang="en-US" altLang="en-US" sz="1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.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-635" y="2957195"/>
            <a:ext cx="183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元素9→索引0→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-635" y="3542030"/>
            <a:ext cx="183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3</a:t>
            </a:r>
            <a:r>
              <a:rPr lang="en-US" altLang="zh-CN"/>
              <a:t>→索引1→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-635" y="5220335"/>
            <a:ext cx="196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w</a:t>
            </a:r>
            <a:r>
              <a:rPr lang="en-US" altLang="zh-CN"/>
              <a:t>→索引</a:t>
            </a:r>
            <a:r>
              <a:rPr lang="en-US" altLang="en-US"/>
              <a:t>28</a:t>
            </a:r>
            <a:r>
              <a:rPr lang="en-US" altLang="zh-CN"/>
              <a:t>→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-635" y="5795010"/>
            <a:ext cx="209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n</a:t>
            </a:r>
            <a:r>
              <a:rPr lang="en-US" altLang="zh-CN"/>
              <a:t>→索引</a:t>
            </a:r>
            <a:r>
              <a:rPr lang="en-US" altLang="en-US"/>
              <a:t>29</a:t>
            </a:r>
            <a:r>
              <a:rPr lang="en-US" altLang="zh-CN"/>
              <a:t>→</a:t>
            </a:r>
            <a:endParaRPr lang="en-US" altLang="zh-CN"/>
          </a:p>
        </p:txBody>
      </p:sp>
      <p:sp>
        <p:nvSpPr>
          <p:cNvPr id="23" name="右大括号 22"/>
          <p:cNvSpPr/>
          <p:nvPr/>
        </p:nvSpPr>
        <p:spPr>
          <a:xfrm>
            <a:off x="3176270" y="2871470"/>
            <a:ext cx="343535" cy="33731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519805" y="4235450"/>
            <a:ext cx="13106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n_vocab</a:t>
            </a:r>
            <a:endParaRPr lang="zh-CN" altLang="en-US"/>
          </a:p>
          <a:p>
            <a:pPr algn="ctr"/>
            <a:r>
              <a:rPr lang="en-US" altLang="zh-CN"/>
              <a:t>（</a:t>
            </a:r>
            <a:r>
              <a:rPr lang="zh-CN" altLang="en-US"/>
              <a:t>30</a:t>
            </a:r>
            <a:r>
              <a:rPr lang="en-US" altLang="zh-CN"/>
              <a:t>）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124460" y="6365875"/>
            <a:ext cx="4867275" cy="448310"/>
            <a:chOff x="196" y="10025"/>
            <a:chExt cx="7665" cy="706"/>
          </a:xfrm>
        </p:grpSpPr>
        <p:sp>
          <p:nvSpPr>
            <p:cNvPr id="25" name="右箭头 24"/>
            <p:cNvSpPr/>
            <p:nvPr/>
          </p:nvSpPr>
          <p:spPr>
            <a:xfrm>
              <a:off x="1584" y="10132"/>
              <a:ext cx="1229" cy="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流程图: 终止 26"/>
            <p:cNvSpPr/>
            <p:nvPr/>
          </p:nvSpPr>
          <p:spPr>
            <a:xfrm>
              <a:off x="196" y="10027"/>
              <a:ext cx="1279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索引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0" name="右箭头 29"/>
            <p:cNvSpPr/>
            <p:nvPr/>
          </p:nvSpPr>
          <p:spPr>
            <a:xfrm>
              <a:off x="4986" y="10134"/>
              <a:ext cx="1229" cy="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流程图: 终止 31"/>
            <p:cNvSpPr/>
            <p:nvPr/>
          </p:nvSpPr>
          <p:spPr>
            <a:xfrm>
              <a:off x="2991" y="10026"/>
              <a:ext cx="1911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独热编码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流程图: 终止 32"/>
            <p:cNvSpPr/>
            <p:nvPr/>
          </p:nvSpPr>
          <p:spPr>
            <a:xfrm>
              <a:off x="6321" y="10025"/>
              <a:ext cx="1541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词向量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云形标注 35"/>
          <p:cNvSpPr/>
          <p:nvPr/>
        </p:nvSpPr>
        <p:spPr>
          <a:xfrm>
            <a:off x="3239770" y="1872615"/>
            <a:ext cx="2526030" cy="1084580"/>
          </a:xfrm>
          <a:prstGeom prst="cloudCallout">
            <a:avLst>
              <a:gd name="adj1" fmla="val -37985"/>
              <a:gd name="adj2" fmla="val 9625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此处</a:t>
            </a:r>
            <a:r>
              <a:rPr lang="en-US" sz="1400">
                <a:solidFill>
                  <a:schemeClr val="tx1"/>
                </a:solidFill>
                <a:sym typeface="+mn-ea"/>
              </a:rPr>
              <a:t>Embedding层是把向量中每一个标签值映射为一个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2</a:t>
            </a:r>
            <a:r>
              <a:rPr lang="en-US" sz="1400">
                <a:solidFill>
                  <a:schemeClr val="tx1"/>
                </a:solidFill>
                <a:sym typeface="+mn-ea"/>
              </a:rPr>
              <a:t>维向量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5916295" y="1935480"/>
            <a:ext cx="1715135" cy="1313815"/>
          </a:xfrm>
          <a:prstGeom prst="wedgeRoundRectCallout">
            <a:avLst>
              <a:gd name="adj1" fmla="val 84431"/>
              <a:gd name="adj2" fmla="val -3052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fc输入为4X2矩阵embeded，输出为4X30矩阵，与每个元素的预测概率正相关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6536690" y="5220335"/>
            <a:ext cx="1271905" cy="1253490"/>
          </a:xfrm>
          <a:prstGeom prst="wedgeRoundRectCallout">
            <a:avLst>
              <a:gd name="adj1" fmla="val 84431"/>
              <a:gd name="adj2" fmla="val -3052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one-hot矩阵相当于每个元素概率列表</a:t>
            </a:r>
            <a:endParaRPr lang="en-US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47117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Skin-Gram</a:t>
            </a:r>
            <a:endParaRPr lang="en-US" altLang="zh-CN"/>
          </a:p>
        </p:txBody>
      </p:sp>
      <p:graphicFrame>
        <p:nvGraphicFramePr>
          <p:cNvPr id="11" name="表格 10"/>
          <p:cNvGraphicFramePr/>
          <p:nvPr/>
        </p:nvGraphicFramePr>
        <p:xfrm>
          <a:off x="678180" y="1779905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78180" y="2174875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678180" y="2583180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678180" y="2984500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" name="图片 21" descr="pg0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770" y="1022985"/>
            <a:ext cx="4671060" cy="548513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751840" y="471170"/>
            <a:ext cx="5027930" cy="6347460"/>
            <a:chOff x="117" y="637"/>
            <a:chExt cx="7918" cy="9996"/>
          </a:xfrm>
        </p:grpSpPr>
        <p:sp>
          <p:nvSpPr>
            <p:cNvPr id="7" name="文本框 6"/>
            <p:cNvSpPr txBox="1"/>
            <p:nvPr/>
          </p:nvSpPr>
          <p:spPr>
            <a:xfrm>
              <a:off x="513" y="1506"/>
              <a:ext cx="75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目标：预测文本中某个字周围可能出现的词</a:t>
              </a:r>
              <a:endParaRPr lang="zh-CN" altLang="en-US"/>
            </a:p>
          </p:txBody>
        </p:sp>
        <p:sp>
          <p:nvSpPr>
            <p:cNvPr id="9" name="圆角矩形标注 8"/>
            <p:cNvSpPr/>
            <p:nvPr/>
          </p:nvSpPr>
          <p:spPr>
            <a:xfrm>
              <a:off x="3414" y="637"/>
              <a:ext cx="2596" cy="685"/>
            </a:xfrm>
            <a:prstGeom prst="wedgeRoundRectCallout">
              <a:avLst>
                <a:gd name="adj1" fmla="val -39676"/>
                <a:gd name="adj2" fmla="val 8211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对比CBOW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1" name="爆炸形 1 20"/>
            <p:cNvSpPr/>
            <p:nvPr/>
          </p:nvSpPr>
          <p:spPr>
            <a:xfrm>
              <a:off x="4081" y="2837"/>
              <a:ext cx="3289" cy="1810"/>
            </a:xfrm>
            <a:prstGeom prst="irregularSeal1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000">
                  <a:solidFill>
                    <a:schemeClr val="tx1"/>
                  </a:solidFill>
                  <a:sym typeface="+mn-ea"/>
                </a:rPr>
                <a:t>依据深褐色已知元素，预测浅褐色未知元素</a:t>
              </a:r>
              <a:endParaRPr lang="en-US" altLang="en-US" sz="1000">
                <a:solidFill>
                  <a:schemeClr val="tx1"/>
                </a:solidFill>
                <a:sym typeface="+mn-ea"/>
              </a:endParaRPr>
            </a:p>
          </p:txBody>
        </p:sp>
        <p:pic>
          <p:nvPicPr>
            <p:cNvPr id="24" name="图片 23" descr="Figure_1"/>
            <p:cNvPicPr>
              <a:picLocks noChangeAspect="1"/>
            </p:cNvPicPr>
            <p:nvPr/>
          </p:nvPicPr>
          <p:blipFill>
            <a:blip r:embed="rId2"/>
            <a:srcRect l="8594" t="10243" r="8757" b="7017"/>
            <a:stretch>
              <a:fillRect/>
            </a:stretch>
          </p:blipFill>
          <p:spPr>
            <a:xfrm>
              <a:off x="117" y="5401"/>
              <a:ext cx="6968" cy="5232"/>
            </a:xfrm>
            <a:prstGeom prst="rect">
              <a:avLst/>
            </a:prstGeom>
          </p:spPr>
        </p:pic>
      </p:grpSp>
      <p:sp>
        <p:nvSpPr>
          <p:cNvPr id="26" name="爆炸形 1 25"/>
          <p:cNvSpPr/>
          <p:nvPr/>
        </p:nvSpPr>
        <p:spPr>
          <a:xfrm>
            <a:off x="2767965" y="490029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训练2500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dfb714c1537176247a46450a89e77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370840"/>
            <a:ext cx="4987925" cy="623506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2.28</a:t>
            </a:r>
            <a:endParaRPr lang="en-US" altLang="en-US" sz="4800"/>
          </a:p>
        </p:txBody>
      </p:sp>
      <p:sp>
        <p:nvSpPr>
          <p:cNvPr id="4" name="文本框 3"/>
          <p:cNvSpPr txBox="1"/>
          <p:nvPr/>
        </p:nvSpPr>
        <p:spPr>
          <a:xfrm>
            <a:off x="3028950" y="3492500"/>
            <a:ext cx="455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loss曲线</a:t>
            </a:r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递归神经网络 </a:t>
            </a:r>
            <a:endParaRPr lang="zh-CN" altLang="en-US"/>
          </a:p>
          <a:p>
            <a:pPr algn="ctr"/>
            <a:r>
              <a:rPr lang="zh-CN" altLang="en-US"/>
              <a:t>(RNN, Recurssion Neural Network)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220" y="937260"/>
            <a:ext cx="49815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使用前馈神经网络时，神经网络会认为我们</a:t>
            </a:r>
            <a:r>
              <a:rPr lang="en-US" altLang="zh-CN"/>
              <a:t>（t+1）</a:t>
            </a:r>
            <a:r>
              <a:rPr lang="zh-CN" altLang="en-US"/>
              <a:t>时刻输入的内容与</a:t>
            </a:r>
            <a:r>
              <a:rPr lang="en-US" altLang="zh-CN"/>
              <a:t>t</a:t>
            </a:r>
            <a:r>
              <a:rPr lang="zh-CN" altLang="en-US"/>
              <a:t>时刻输入的内容完全无关</a:t>
            </a:r>
            <a:r>
              <a:rPr lang="en-US" altLang="zh-CN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NLP分析时，</a:t>
            </a:r>
            <a:r>
              <a:rPr lang="en-US" altLang="zh-CN"/>
              <a:t>需要</a:t>
            </a:r>
            <a:r>
              <a:rPr lang="zh-CN" altLang="en-US"/>
              <a:t>合理运用之前的输入。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9220" y="5792470"/>
            <a:ext cx="5132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/>
              <a:t> 想象设计了一个基于简单RNN的句子自动补全器</a:t>
            </a:r>
            <a:r>
              <a:rPr lang="en-US" altLang="zh-CN"/>
              <a:t>，显然第二步的预测值和第一步输入值（‘Sea’）有关。</a:t>
            </a:r>
            <a:endParaRPr lang="en-US" altLang="zh-CN"/>
          </a:p>
        </p:txBody>
      </p:sp>
      <p:pic>
        <p:nvPicPr>
          <p:cNvPr id="8" name="图片 7" descr="multi-agent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3795" y="1072515"/>
            <a:ext cx="3304540" cy="3837940"/>
          </a:xfrm>
          <a:prstGeom prst="rect">
            <a:avLst/>
          </a:prstGeom>
        </p:spPr>
      </p:pic>
      <p:pic>
        <p:nvPicPr>
          <p:cNvPr id="11" name="图片 10" descr="multi-agent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5" y="2070735"/>
            <a:ext cx="3999865" cy="31521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0259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Seq2Seq 模型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2435" y="962660"/>
            <a:ext cx="5370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Seq2Seq 是一种循环神经网络的变种，包括编码器 (Encoder) 和解码器 (Decoder) 两部分。</a:t>
            </a:r>
            <a:endParaRPr lang="zh-CN" altLang="en-US"/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499235"/>
            <a:ext cx="6343015" cy="2923540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1958975" y="5086985"/>
            <a:ext cx="4024630" cy="154432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Seq2Seq核心是训练Encoder和Decoder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283210" y="4277360"/>
            <a:ext cx="2109470" cy="809625"/>
          </a:xfrm>
          <a:prstGeom prst="cloudCallout">
            <a:avLst>
              <a:gd name="adj1" fmla="val 30072"/>
              <a:gd name="adj2" fmla="val -14286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编码器本质是压缩器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24701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例程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6580" y="615315"/>
            <a:ext cx="4006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目标：</a:t>
            </a:r>
            <a:r>
              <a:rPr lang="en-US" altLang="zh-CN"/>
              <a:t>训练转化日期格式的模型	</a:t>
            </a:r>
            <a:endParaRPr lang="en-US" altLang="zh-CN"/>
          </a:p>
          <a:p>
            <a:pPr algn="l"/>
            <a:r>
              <a:rPr lang="en-US" altLang="zh-CN">
                <a:solidFill>
                  <a:srgbClr val="FF0000"/>
                </a:solidFill>
              </a:rPr>
              <a:t>31-04-26</a:t>
            </a:r>
            <a:r>
              <a:rPr lang="en-US" altLang="zh-CN"/>
              <a:t>转化为</a:t>
            </a:r>
            <a:r>
              <a:rPr lang="en-US" altLang="zh-CN">
                <a:solidFill>
                  <a:srgbClr val="FF0000"/>
                </a:solidFill>
              </a:rPr>
              <a:t>26/Apr/2031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pg0 (2)"/>
          <p:cNvPicPr>
            <a:picLocks noChangeAspect="1"/>
          </p:cNvPicPr>
          <p:nvPr/>
        </p:nvPicPr>
        <p:blipFill>
          <a:blip r:embed="rId1"/>
          <a:srcRect l="4044" t="4102" r="3883" b="4113"/>
          <a:stretch>
            <a:fillRect/>
          </a:stretch>
        </p:blipFill>
        <p:spPr>
          <a:xfrm>
            <a:off x="158750" y="1260475"/>
            <a:ext cx="4841240" cy="536956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5065395" y="1334770"/>
          <a:ext cx="703770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55925" y="1863725"/>
            <a:ext cx="39985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DMP</a:t>
            </a:r>
            <a:endParaRPr lang="en-US" altLang="zh-CN"/>
          </a:p>
          <a:p>
            <a:r>
              <a:rPr lang="en-US" altLang="zh-CN"/>
              <a:t>code</a:t>
            </a:r>
            <a:endParaRPr lang="en-US" altLang="zh-CN"/>
          </a:p>
          <a:p>
            <a:r>
              <a:rPr lang="en-US" altLang="zh-CN"/>
              <a:t>			dmp文件夹（cs.py   dmp_dis.py</a:t>
            </a:r>
            <a:endParaRPr lang="en-US" altLang="zh-CN"/>
          </a:p>
          <a:p>
            <a:r>
              <a:rPr lang="en-US" altLang="zh-CN"/>
              <a:t>）</a:t>
            </a:r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65905" y="388620"/>
            <a:ext cx="4060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弹簧阻尼系统（PD控制器）</a:t>
            </a:r>
            <a:endParaRPr lang="zh-CN" altLang="en-US"/>
          </a:p>
        </p:txBody>
      </p:sp>
      <p:pic>
        <p:nvPicPr>
          <p:cNvPr id="5" name="图片 4" descr="Figure_1"/>
          <p:cNvPicPr>
            <a:picLocks noChangeAspect="1"/>
          </p:cNvPicPr>
          <p:nvPr/>
        </p:nvPicPr>
        <p:blipFill>
          <a:blip r:embed="rId1"/>
          <a:srcRect l="10196" t="10728" r="9173" b="8043"/>
          <a:stretch>
            <a:fillRect/>
          </a:stretch>
        </p:blipFill>
        <p:spPr>
          <a:xfrm>
            <a:off x="83185" y="915035"/>
            <a:ext cx="9392285" cy="50279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475470" y="987425"/>
            <a:ext cx="231902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latin typeface="Nimbus Roman" panose="00000500000000000000" charset="0"/>
                <a:cs typeface="Nimbus Roman" panose="00000500000000000000" charset="0"/>
              </a:rPr>
              <a:t>dx/dt = -</a:t>
            </a:r>
            <a:r>
              <a:rPr lang="en-US" altLang="zh-CN" sz="32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r>
              <a:rPr lang="en-US" altLang="zh-CN" sz="3200">
                <a:latin typeface="Nimbus Roman" panose="00000500000000000000" charset="0"/>
                <a:cs typeface="Nimbus Roman" panose="00000500000000000000" charset="0"/>
              </a:rPr>
              <a:t>α</a:t>
            </a:r>
            <a:r>
              <a:rPr lang="en-US" altLang="zh-CN" sz="3200" baseline="-25000">
                <a:latin typeface="Nimbus Roman" panose="00000500000000000000" charset="0"/>
                <a:cs typeface="Nimbus Roman" panose="00000500000000000000" charset="0"/>
              </a:rPr>
              <a:t>x</a:t>
            </a:r>
            <a:r>
              <a:rPr lang="en-US" altLang="zh-CN" sz="32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x</a:t>
            </a:r>
            <a:endParaRPr lang="en-US" altLang="zh-CN" sz="32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t=0时x=1</a:t>
            </a:r>
            <a:endParaRPr lang="en-US" altLang="zh-CN" sz="20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60560" y="2353310"/>
            <a:ext cx="2319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>
                <a:latin typeface="Nimbus Roman" panose="00000500000000000000" charset="0"/>
                <a:cs typeface="Nimbus Roman" panose="00000500000000000000" charset="0"/>
              </a:rPr>
              <a:t>x=exp(</a:t>
            </a:r>
            <a:r>
              <a:rPr lang="en-US" altLang="zh-CN" sz="3200">
                <a:latin typeface="Nimbus Roman" panose="00000500000000000000" charset="0"/>
                <a:cs typeface="Nimbus Roman" panose="00000500000000000000" charset="0"/>
                <a:sym typeface="+mn-ea"/>
              </a:rPr>
              <a:t>-</a:t>
            </a:r>
            <a:r>
              <a:rPr lang="en-US" altLang="zh-CN" sz="32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r>
              <a:rPr lang="en-US" altLang="zh-CN" sz="3200">
                <a:latin typeface="Nimbus Roman" panose="00000500000000000000" charset="0"/>
                <a:cs typeface="Nimbus Roman" panose="00000500000000000000" charset="0"/>
                <a:sym typeface="+mn-ea"/>
              </a:rPr>
              <a:t>α</a:t>
            </a:r>
            <a:r>
              <a:rPr lang="en-US" altLang="zh-CN" sz="3200" baseline="-25000">
                <a:latin typeface="Nimbus Roman" panose="00000500000000000000" charset="0"/>
                <a:cs typeface="Nimbus Roman" panose="00000500000000000000" charset="0"/>
                <a:sym typeface="+mn-ea"/>
              </a:rPr>
              <a:t>x</a:t>
            </a:r>
            <a:r>
              <a:rPr lang="en-US" altLang="en-US" sz="32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t</a:t>
            </a:r>
            <a:r>
              <a:rPr lang="en-US" altLang="en-US" sz="3200">
                <a:latin typeface="Nimbus Roman" panose="00000500000000000000" charset="0"/>
                <a:cs typeface="Nimbus Roman" panose="00000500000000000000" charset="0"/>
              </a:rPr>
              <a:t>)</a:t>
            </a:r>
            <a:endParaRPr lang="en-US" altLang="en-US" sz="20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10447655" y="1945005"/>
            <a:ext cx="374650" cy="62484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54820" y="3864610"/>
            <a:ext cx="2797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>
                <a:latin typeface="Nimbus Roman" panose="00000500000000000000" charset="0"/>
                <a:cs typeface="Nimbus Roman" panose="00000500000000000000" charset="0"/>
              </a:rPr>
              <a:t>x=x+(dx/dt)*dt</a:t>
            </a:r>
            <a:endParaRPr lang="en-US" altLang="en-US" sz="20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60560" y="4696460"/>
            <a:ext cx="2319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>
                <a:latin typeface="Nimbus Roman" panose="00000500000000000000" charset="0"/>
                <a:cs typeface="Nimbus Roman" panose="00000500000000000000" charset="0"/>
              </a:rPr>
              <a:t>x=x</a:t>
            </a:r>
            <a:r>
              <a:rPr lang="en-US" altLang="zh-CN" sz="2800">
                <a:latin typeface="Nimbus Roman" panose="00000500000000000000" charset="0"/>
                <a:cs typeface="Nimbus Roman" panose="00000500000000000000" charset="0"/>
                <a:sym typeface="+mn-ea"/>
              </a:rPr>
              <a:t>-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r>
              <a:rPr lang="en-US" altLang="zh-CN" sz="2800">
                <a:latin typeface="Nimbus Roman" panose="00000500000000000000" charset="0"/>
                <a:cs typeface="Nimbus Roman" panose="00000500000000000000" charset="0"/>
                <a:sym typeface="+mn-ea"/>
              </a:rPr>
              <a:t>α</a:t>
            </a:r>
            <a:r>
              <a:rPr lang="en-US" altLang="zh-CN" sz="2800" baseline="-25000">
                <a:latin typeface="Nimbus Roman" panose="00000500000000000000" charset="0"/>
                <a:cs typeface="Nimbus Roman" panose="00000500000000000000" charset="0"/>
                <a:sym typeface="+mn-ea"/>
              </a:rPr>
              <a:t>x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x</a:t>
            </a:r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dt</a:t>
            </a:r>
            <a:endParaRPr lang="en-US" altLang="en-US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  <a:sym typeface="+mn-ea"/>
            </a:endParaRPr>
          </a:p>
        </p:txBody>
      </p:sp>
      <p:sp>
        <p:nvSpPr>
          <p:cNvPr id="13" name="流程图: 可选过程 12"/>
          <p:cNvSpPr/>
          <p:nvPr/>
        </p:nvSpPr>
        <p:spPr>
          <a:xfrm>
            <a:off x="9410700" y="3683635"/>
            <a:ext cx="2686050" cy="1749425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10010140" y="5640705"/>
            <a:ext cx="1485900" cy="580390"/>
          </a:xfrm>
          <a:prstGeom prst="cloudCallout">
            <a:avLst>
              <a:gd name="adj1" fmla="val 23760"/>
              <a:gd name="adj2" fmla="val -12133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迭代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爆炸形 1 25"/>
          <p:cNvSpPr/>
          <p:nvPr/>
        </p:nvSpPr>
        <p:spPr>
          <a:xfrm>
            <a:off x="4810760" y="987425"/>
            <a:ext cx="3453130" cy="13652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系统的收敛速度与α</a:t>
            </a:r>
            <a:r>
              <a:rPr lang="en-US" altLang="en-US" sz="1400" baseline="-25000">
                <a:solidFill>
                  <a:schemeClr val="tx1"/>
                </a:solidFill>
                <a:sym typeface="+mn-ea"/>
              </a:rPr>
              <a:t>x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 和τ 的值成正相关。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流程图: 可选过程 2"/>
          <p:cNvSpPr/>
          <p:nvPr/>
        </p:nvSpPr>
        <p:spPr>
          <a:xfrm>
            <a:off x="447040" y="3256280"/>
            <a:ext cx="4029075" cy="102997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>
                <a:solidFill>
                  <a:schemeClr val="tx1"/>
                </a:solidFill>
                <a:sym typeface="+mn-ea"/>
              </a:rPr>
              <a:t>dy/dT=</a:t>
            </a:r>
            <a:r>
              <a:rPr lang="en-US" altLang="zh-CN" sz="2400">
                <a:solidFill>
                  <a:schemeClr val="tx1"/>
                </a:solidFill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dy/dt</a:t>
            </a:r>
            <a:endParaRPr lang="en-US" altLang="en-US" sz="2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2400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en-US" sz="2400" baseline="30000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y/dT</a:t>
            </a:r>
            <a:r>
              <a:rPr lang="en-US" altLang="en-US" sz="2400" baseline="30000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=</a:t>
            </a:r>
            <a:r>
              <a:rPr lang="en-US" altLang="zh-CN" sz="2400">
                <a:solidFill>
                  <a:schemeClr val="tx1"/>
                </a:solidFill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r>
              <a:rPr lang="en-US" altLang="en-US" sz="2400" baseline="30000">
                <a:solidFill>
                  <a:schemeClr val="tx1"/>
                </a:solidFill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en-US" sz="2400" baseline="30000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y/dt</a:t>
            </a:r>
            <a:r>
              <a:rPr lang="en-US" altLang="en-US" sz="2400" baseline="30000">
                <a:solidFill>
                  <a:schemeClr val="tx1"/>
                </a:solidFill>
                <a:sym typeface="+mn-ea"/>
              </a:rPr>
              <a:t>2</a:t>
            </a:r>
            <a:endParaRPr lang="en-US" altLang="en-US" sz="2400" baseline="300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040" y="320675"/>
            <a:ext cx="44456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ma=F</a:t>
            </a:r>
            <a:r>
              <a:rPr lang="en-US" altLang="zh-CN" sz="2800" baseline="-25000"/>
              <a:t>弹</a:t>
            </a:r>
            <a:r>
              <a:rPr lang="en-US" altLang="zh-CN" sz="2800"/>
              <a:t>-f</a:t>
            </a:r>
            <a:r>
              <a:rPr lang="en-US" altLang="zh-CN" sz="2800" baseline="-25000"/>
              <a:t>阻尼</a:t>
            </a:r>
            <a:r>
              <a:rPr lang="en-US" altLang="zh-CN" sz="2800"/>
              <a:t>+F</a:t>
            </a:r>
            <a:endParaRPr lang="en-US" altLang="zh-CN" sz="2800" baseline="-25000"/>
          </a:p>
          <a:p>
            <a:pPr algn="ctr"/>
            <a:r>
              <a:rPr lang="en-US" altLang="zh-CN" sz="2800"/>
              <a:t>a=</a:t>
            </a:r>
            <a:r>
              <a:rPr lang="en-US" altLang="zh-CN" sz="2800">
                <a:latin typeface="Arial" panose="02080604020202020204" pitchFamily="34" charset="0"/>
                <a:cs typeface="Arial" panose="02080604020202020204" pitchFamily="34" charset="0"/>
              </a:rPr>
              <a:t>α（x-x</a:t>
            </a:r>
            <a:r>
              <a:rPr lang="en-US" altLang="zh-CN" sz="2800" baseline="-2500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  <a:r>
              <a:rPr lang="en-US" altLang="zh-CN" sz="2800">
                <a:latin typeface="Arial" panose="02080604020202020204" pitchFamily="34" charset="0"/>
                <a:cs typeface="Arial" panose="02080604020202020204" pitchFamily="34" charset="0"/>
              </a:rPr>
              <a:t>）-βv</a:t>
            </a:r>
            <a:r>
              <a:rPr lang="en-US" altLang="zh-CN" sz="2800">
                <a:sym typeface="+mn-ea"/>
              </a:rPr>
              <a:t>+F</a:t>
            </a:r>
            <a:r>
              <a:rPr lang="en-US" altLang="en-US" sz="2800">
                <a:sym typeface="+mn-ea"/>
              </a:rPr>
              <a:t>/m</a:t>
            </a:r>
            <a:endParaRPr lang="en-US" altLang="zh-CN" sz="2800" baseline="-25000"/>
          </a:p>
        </p:txBody>
      </p:sp>
      <p:pic>
        <p:nvPicPr>
          <p:cNvPr id="6" name="图片 5" descr="Screenshot from 2023-03-02 20-28-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1273810"/>
            <a:ext cx="3858260" cy="627380"/>
          </a:xfrm>
          <a:prstGeom prst="rect">
            <a:avLst/>
          </a:prstGeom>
        </p:spPr>
      </p:pic>
      <p:sp>
        <p:nvSpPr>
          <p:cNvPr id="7" name="下箭头 6"/>
          <p:cNvSpPr/>
          <p:nvPr/>
        </p:nvSpPr>
        <p:spPr>
          <a:xfrm>
            <a:off x="2299970" y="441071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标注 13"/>
          <p:cNvSpPr/>
          <p:nvPr/>
        </p:nvSpPr>
        <p:spPr>
          <a:xfrm>
            <a:off x="925830" y="2163445"/>
            <a:ext cx="3237865" cy="88455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8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T</a:t>
            </a:r>
            <a:r>
              <a:rPr lang="en-US" altLang="en-US" sz="2800" baseline="-250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原</a:t>
            </a:r>
            <a:r>
              <a:rPr lang="en-US" altLang="en-US" sz="28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=t</a:t>
            </a:r>
            <a:r>
              <a:rPr lang="en-US" altLang="en-US" sz="2800" baseline="-250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后</a:t>
            </a:r>
            <a:r>
              <a:rPr lang="en-US" altLang="en-US" sz="28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/</a:t>
            </a:r>
            <a:r>
              <a:rPr lang="en-US" altLang="zh-CN" sz="2800">
                <a:solidFill>
                  <a:schemeClr val="tx1"/>
                </a:solidFill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τ</a:t>
            </a:r>
            <a:endParaRPr lang="en-US" altLang="zh-CN" sz="2800">
              <a:solidFill>
                <a:schemeClr val="tx1"/>
              </a:solidFill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  <a:sym typeface="+mn-ea"/>
            </a:endParaRPr>
          </a:p>
        </p:txBody>
      </p:sp>
      <p:pic>
        <p:nvPicPr>
          <p:cNvPr id="15" name="图片 14" descr="Screenshot from 2023-03-02 20-36-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5482590"/>
            <a:ext cx="4354830" cy="714375"/>
          </a:xfrm>
          <a:prstGeom prst="rect">
            <a:avLst/>
          </a:prstGeom>
        </p:spPr>
      </p:pic>
      <p:sp>
        <p:nvSpPr>
          <p:cNvPr id="16" name="圆角矩形标注 15"/>
          <p:cNvSpPr/>
          <p:nvPr/>
        </p:nvSpPr>
        <p:spPr>
          <a:xfrm>
            <a:off x="2623185" y="5203190"/>
            <a:ext cx="1729105" cy="442595"/>
          </a:xfrm>
          <a:prstGeom prst="wedgeRoundRectCallout">
            <a:avLst>
              <a:gd name="adj1" fmla="val -53894"/>
              <a:gd name="adj2" fmla="val 6833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最终收敛于g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3002915" y="6353175"/>
            <a:ext cx="1729105" cy="442595"/>
          </a:xfrm>
          <a:prstGeom prst="wedgeRoundRectCallout">
            <a:avLst>
              <a:gd name="adj1" fmla="val -44271"/>
              <a:gd name="adj2" fmla="val -11513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当前状态为y</a:t>
            </a:r>
            <a:endParaRPr lang="en-US" altLang="en-US" sz="1400">
              <a:solidFill>
                <a:schemeClr val="tx1"/>
              </a:solidFill>
            </a:endParaRPr>
          </a:p>
        </p:txBody>
      </p:sp>
      <p:pic>
        <p:nvPicPr>
          <p:cNvPr id="18" name="图片 17" descr="Screenshot from 2023-03-02 20-52-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940" y="1668780"/>
            <a:ext cx="4852035" cy="1313180"/>
          </a:xfrm>
          <a:prstGeom prst="rect">
            <a:avLst/>
          </a:prstGeom>
        </p:spPr>
      </p:pic>
      <p:sp>
        <p:nvSpPr>
          <p:cNvPr id="20" name="圆角矩形标注 19"/>
          <p:cNvSpPr/>
          <p:nvPr/>
        </p:nvSpPr>
        <p:spPr>
          <a:xfrm>
            <a:off x="10537825" y="1901190"/>
            <a:ext cx="1281430" cy="442595"/>
          </a:xfrm>
          <a:prstGeom prst="wedgeRoundRectCallout">
            <a:avLst>
              <a:gd name="adj1" fmla="val -53894"/>
              <a:gd name="adj2" fmla="val 6833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起始状态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" name="圆角矩形标注 20"/>
          <p:cNvSpPr/>
          <p:nvPr/>
        </p:nvSpPr>
        <p:spPr>
          <a:xfrm>
            <a:off x="9415145" y="2663825"/>
            <a:ext cx="1729105" cy="442595"/>
          </a:xfrm>
          <a:prstGeom prst="wedgeRoundRectCallout">
            <a:avLst>
              <a:gd name="adj1" fmla="val -34612"/>
              <a:gd name="adj2" fmla="val -8687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最终收敛于g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2" name="圆角矩形标注 21"/>
          <p:cNvSpPr/>
          <p:nvPr/>
        </p:nvSpPr>
        <p:spPr>
          <a:xfrm>
            <a:off x="9203055" y="1366520"/>
            <a:ext cx="1729105" cy="442595"/>
          </a:xfrm>
          <a:prstGeom prst="wedgeRoundRectCallout">
            <a:avLst>
              <a:gd name="adj1" fmla="val -53894"/>
              <a:gd name="adj2" fmla="val 6833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基函数对应的权重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6938010" y="1101090"/>
            <a:ext cx="1386205" cy="567690"/>
          </a:xfrm>
          <a:prstGeom prst="wedgeRoundRectCallout">
            <a:avLst>
              <a:gd name="adj1" fmla="val 37173"/>
              <a:gd name="adj2" fmla="val 6879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高斯基函数(径向基函数)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" name="圆角矩形标注 24"/>
          <p:cNvSpPr/>
          <p:nvPr/>
        </p:nvSpPr>
        <p:spPr>
          <a:xfrm>
            <a:off x="7483475" y="3048000"/>
            <a:ext cx="1879600" cy="547370"/>
          </a:xfrm>
          <a:prstGeom prst="wedgeRoundRectCallout">
            <a:avLst>
              <a:gd name="adj1" fmla="val 42905"/>
              <a:gd name="adj2" fmla="val -126914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x可以保证f（t）会随着x的收敛而消失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64375" y="4134485"/>
            <a:ext cx="42881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（</a:t>
            </a:r>
            <a:r>
              <a:rPr lang="zh-CN" altLang="en-US"/>
              <a:t>g−y</a:t>
            </a:r>
            <a:r>
              <a:rPr lang="zh-CN" altLang="en-US" baseline="-25000"/>
              <a:t>0</a:t>
            </a:r>
            <a:r>
              <a:rPr lang="en-US" altLang="zh-CN"/>
              <a:t>）</a:t>
            </a:r>
            <a:r>
              <a:rPr lang="zh-CN" altLang="en-US"/>
              <a:t>决定了f的“幅值”，用于后续对轨迹的形状进行“放缩”。</a:t>
            </a: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3.4</a:t>
            </a:r>
            <a:endParaRPr lang="en-US" altLang="en-US" sz="4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RNN模型：预测航迹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-2540" y="1280160"/>
            <a:ext cx="4481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模型：依据已知飞机的三维航迹（坐标），预测接下来的航迹数据</a:t>
            </a:r>
            <a:r>
              <a:rPr lang="en-US"/>
              <a:t>。</a:t>
            </a:r>
            <a:endParaRPr lang="en-US"/>
          </a:p>
        </p:txBody>
      </p:sp>
      <p:pic>
        <p:nvPicPr>
          <p:cNvPr id="5" name="图片 4" descr="multi-ag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3670" y="1859915"/>
            <a:ext cx="4482465" cy="3538855"/>
          </a:xfrm>
          <a:prstGeom prst="rect">
            <a:avLst/>
          </a:prstGeom>
        </p:spPr>
      </p:pic>
      <p:pic>
        <p:nvPicPr>
          <p:cNvPr id="4" name="图片 3" descr="multi-ag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05" y="1108075"/>
            <a:ext cx="3666490" cy="2675890"/>
          </a:xfrm>
          <a:prstGeom prst="rect">
            <a:avLst/>
          </a:prstGeom>
        </p:spPr>
      </p:pic>
      <p:pic>
        <p:nvPicPr>
          <p:cNvPr id="7" name="图片 6" descr="Screenshot from 2023-03-03 16-00-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745" y="1582420"/>
            <a:ext cx="3533140" cy="337121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/>
        </p:nvGraphicFramePr>
        <p:xfrm>
          <a:off x="8939530" y="1340485"/>
          <a:ext cx="2840355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785"/>
                <a:gridCol w="946785"/>
                <a:gridCol w="946785"/>
              </a:tblGrid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y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z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4"/>
          <a:srcRect l="10321" t="4063" r="6749" b="3237"/>
          <a:stretch>
            <a:fillRect/>
          </a:stretch>
        </p:blipFill>
        <p:spPr>
          <a:xfrm>
            <a:off x="4122420" y="3847465"/>
            <a:ext cx="4431665" cy="26327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" y="568960"/>
            <a:ext cx="10570210" cy="561784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RNN</a:t>
            </a:r>
            <a:r>
              <a:rPr lang="en-US" altLang="en-US"/>
              <a:t>原理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97880" y="91122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yt - Ot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7" name="图片 6" descr="ddpg (2)"/>
          <p:cNvPicPr>
            <a:picLocks noChangeAspect="1"/>
          </p:cNvPicPr>
          <p:nvPr/>
        </p:nvPicPr>
        <p:blipFill>
          <a:blip r:embed="rId1"/>
          <a:srcRect r="53088" b="66143"/>
          <a:stretch>
            <a:fillRect/>
          </a:stretch>
        </p:blipFill>
        <p:spPr>
          <a:xfrm>
            <a:off x="125095" y="788670"/>
            <a:ext cx="5605780" cy="4635500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4625975" y="1842770"/>
            <a:ext cx="1729105" cy="442595"/>
          </a:xfrm>
          <a:prstGeom prst="wedgeRoundRectCallout">
            <a:avLst>
              <a:gd name="adj1" fmla="val -38909"/>
              <a:gd name="adj2" fmla="val 8730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隐层单元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677795" y="596900"/>
            <a:ext cx="1729105" cy="314325"/>
          </a:xfrm>
          <a:prstGeom prst="wedgeRoundRectCallout">
            <a:avLst>
              <a:gd name="adj1" fmla="val -36008"/>
              <a:gd name="adj2" fmla="val 10423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t时间步预测值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1741170" y="5210175"/>
            <a:ext cx="1219200" cy="442595"/>
          </a:xfrm>
          <a:prstGeom prst="wedgeRoundRectCallout">
            <a:avLst>
              <a:gd name="adj1" fmla="val 41443"/>
              <a:gd name="adj2" fmla="val -8472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t时间步输入值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966325" y="133921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L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损失函数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y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训练集的标签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V、W、U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权值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4" name="图片 13" descr="Screenshot from 2023-03-04 20-21-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725" y="2444115"/>
            <a:ext cx="3590290" cy="1323975"/>
          </a:xfrm>
          <a:prstGeom prst="rect">
            <a:avLst/>
          </a:prstGeom>
        </p:spPr>
      </p:pic>
      <p:pic>
        <p:nvPicPr>
          <p:cNvPr id="15" name="图片 14" descr="Screenshot from 2023-03-04 20-22-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490" y="6029325"/>
            <a:ext cx="8250555" cy="817880"/>
          </a:xfrm>
          <a:prstGeom prst="rect">
            <a:avLst/>
          </a:prstGeom>
        </p:spPr>
      </p:pic>
      <p:pic>
        <p:nvPicPr>
          <p:cNvPr id="17" name="图片 16" descr="Screenshot from 2023-03-04 20-22-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490" y="5229860"/>
            <a:ext cx="8164195" cy="799465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6287770" y="3556000"/>
            <a:ext cx="4674235" cy="148971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累乘会导致激活函数导数的累乘，进而会导致“梯度消失“和“梯度爆炸“现象的发生。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递归神经网络 </a:t>
            </a:r>
            <a:endParaRPr lang="zh-CN" altLang="en-US"/>
          </a:p>
          <a:p>
            <a:pPr algn="ctr"/>
            <a:r>
              <a:rPr lang="zh-CN" altLang="en-US"/>
              <a:t>(RNN, Recurssion Neural Network)</a:t>
            </a:r>
            <a:endParaRPr lang="zh-CN" altLang="en-US"/>
          </a:p>
        </p:txBody>
      </p:sp>
      <p:pic>
        <p:nvPicPr>
          <p:cNvPr id="4" name="图片 3" descr="netForwatch.onn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257175"/>
            <a:ext cx="2080260" cy="6343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96530" y="76898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yt - Ot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7" name="图片 6" descr="multi-agent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183640"/>
            <a:ext cx="4923790" cy="5228590"/>
          </a:xfrm>
          <a:prstGeom prst="rect">
            <a:avLst/>
          </a:prstGeom>
        </p:spPr>
      </p:pic>
      <p:pic>
        <p:nvPicPr>
          <p:cNvPr id="8" name="图片 7" descr="Figure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40" y="2632075"/>
            <a:ext cx="4513580" cy="338518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3-04 21-09-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1581785"/>
            <a:ext cx="3485515" cy="285686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899795" y="44323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样本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Screenshot from 2023-03-04 21-10-59"/>
          <p:cNvPicPr>
            <a:picLocks noChangeAspect="1"/>
          </p:cNvPicPr>
          <p:nvPr/>
        </p:nvPicPr>
        <p:blipFill>
          <a:blip r:embed="rId2"/>
          <a:srcRect r="46892" b="3546"/>
          <a:stretch>
            <a:fillRect/>
          </a:stretch>
        </p:blipFill>
        <p:spPr>
          <a:xfrm>
            <a:off x="4694555" y="1389380"/>
            <a:ext cx="3363595" cy="274637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100320" y="26035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输出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 descr="Screenshot from 2023-03-04 21-12-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25" y="4330065"/>
            <a:ext cx="546671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3.7</a:t>
            </a:r>
            <a:endParaRPr lang="en-US" altLang="en-US" sz="4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Screenshot from 2023-03-04 20-22-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3490" y="6029325"/>
            <a:ext cx="8250555" cy="817880"/>
          </a:xfrm>
          <a:prstGeom prst="rect">
            <a:avLst/>
          </a:prstGeom>
        </p:spPr>
      </p:pic>
      <p:pic>
        <p:nvPicPr>
          <p:cNvPr id="17" name="图片 16" descr="Screenshot from 2023-03-04 20-22-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90" y="5229860"/>
            <a:ext cx="8164195" cy="7994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47715" y="91122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</a:t>
            </a:r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</a:t>
            </a:r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- 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2" name="图片 1" descr="multi-agent (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6670"/>
            <a:ext cx="2139950" cy="680402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108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2" name="图片 1" descr="Screenshot from 2023-03-07 19-18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779145"/>
            <a:ext cx="6248400" cy="3326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2285" y="779145"/>
            <a:ext cx="38246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记忆（Ct）：每个LSTM单元保留一个不输出的内部状态，也称为细胞状态。是对于所有输入信息的“概括总结”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隐藏状态Ht：直接与输出状态相关。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815965" y="4105910"/>
            <a:ext cx="45567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通过训练让“门”学习保存哪些信息</a:t>
            </a:r>
            <a:r>
              <a:rPr lang="en-US" altLang="zh-CN">
                <a:sym typeface="+mn-ea"/>
              </a:rPr>
              <a:t>？</a:t>
            </a:r>
            <a:r>
              <a:rPr lang="zh-CN" altLang="en-US">
                <a:sym typeface="+mn-ea"/>
              </a:rPr>
              <a:t>丢弃哪些信息</a:t>
            </a:r>
            <a:r>
              <a:rPr lang="en-US" altLang="zh-CN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保存的信息哪些输出？哪些不输出？</a:t>
            </a:r>
            <a:endParaRPr lang="en-US" altLang="zh-CN"/>
          </a:p>
        </p:txBody>
      </p:sp>
      <p:sp>
        <p:nvSpPr>
          <p:cNvPr id="11" name="圆角矩形标注 10"/>
          <p:cNvSpPr/>
          <p:nvPr/>
        </p:nvSpPr>
        <p:spPr>
          <a:xfrm>
            <a:off x="1271905" y="4329430"/>
            <a:ext cx="2666365" cy="581660"/>
          </a:xfrm>
          <a:prstGeom prst="wedgeRoundRectCallout">
            <a:avLst>
              <a:gd name="adj1" fmla="val 33694"/>
              <a:gd name="adj2" fmla="val -103535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相对于RNN，LSTM有各种“门”处理信息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" name="下箭头 7"/>
          <p:cNvSpPr/>
          <p:nvPr/>
        </p:nvSpPr>
        <p:spPr>
          <a:xfrm rot="16200000">
            <a:off x="4714875" y="414655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64965" y="93980"/>
            <a:ext cx="38620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输入门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It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、忘记门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Ft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和输出门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Ot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pic>
        <p:nvPicPr>
          <p:cNvPr id="2" name="图片 1" descr="Screenshot from 2023-03-07 19-25-50"/>
          <p:cNvPicPr>
            <a:picLocks noChangeAspect="1"/>
          </p:cNvPicPr>
          <p:nvPr/>
        </p:nvPicPr>
        <p:blipFill>
          <a:blip r:embed="rId1"/>
          <a:srcRect l="3099" t="5377" r="1306" b="1586"/>
          <a:stretch>
            <a:fillRect/>
          </a:stretch>
        </p:blipFill>
        <p:spPr>
          <a:xfrm>
            <a:off x="316230" y="737870"/>
            <a:ext cx="4602480" cy="30543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03595" y="685800"/>
            <a:ext cx="5317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当前时间步的输入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Xt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和前一个时间步的隐状态 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Ht-1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作为数据送入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LSTM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， 由三个具有sigmoid激活函数的全连接层处理， 以计算输入门、遗忘门和输出门的值。 这三个门的值都在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(0,1)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的范围内。</a:t>
            </a:r>
            <a:endParaRPr lang="zh-CN" altLang="en-US"/>
          </a:p>
        </p:txBody>
      </p:sp>
      <p:pic>
        <p:nvPicPr>
          <p:cNvPr id="5" name="图片 4" descr="Screenshot from 2023-03-07 19-30-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4610100"/>
            <a:ext cx="4330065" cy="1308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15355" y="2002155"/>
            <a:ext cx="45974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遗忘门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:</a:t>
            </a:r>
            <a:r>
              <a:rPr>
                <a:latin typeface="Nimbus Roman" panose="00000500000000000000" charset="0"/>
                <a:cs typeface="Nimbus Roman" panose="00000500000000000000" charset="0"/>
              </a:rPr>
              <a:t>根据新的输入和上一时刻的输出决定遗忘掉之前的哪些记忆</a:t>
            </a:r>
            <a:r>
              <a:rPr lang="en-US">
                <a:latin typeface="Nimbus Roman" panose="00000500000000000000" charset="0"/>
                <a:cs typeface="Nimbus Roman" panose="00000500000000000000" charset="0"/>
              </a:rPr>
              <a:t>。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输入门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决定让多少新的信息加入到 cell 状态 中来。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输出门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  <a:sym typeface="+mn-ea"/>
              </a:rPr>
              <a:t>：</a:t>
            </a:r>
            <a:r>
              <a:rPr lang="zh-CN" altLang="en-US">
                <a:sym typeface="+mn-ea"/>
              </a:rPr>
              <a:t>计算当前时刻的输出值的神经层。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6151880" y="4610100"/>
            <a:ext cx="2461895" cy="1058545"/>
          </a:xfrm>
          <a:prstGeom prst="cloudCallout">
            <a:avLst>
              <a:gd name="adj1" fmla="val -79894"/>
              <a:gd name="adj2" fmla="val 266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建立I、F、O与隐状态Ht-1&amp;样本Xt之间的关系。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Screenshot from 2023-03-07 19-32-06"/>
          <p:cNvPicPr>
            <a:picLocks noChangeAspect="1"/>
          </p:cNvPicPr>
          <p:nvPr/>
        </p:nvPicPr>
        <p:blipFill>
          <a:blip r:embed="rId1"/>
          <a:srcRect l="6883" t="7102" r="1962" b="2744"/>
          <a:stretch>
            <a:fillRect/>
          </a:stretch>
        </p:blipFill>
        <p:spPr>
          <a:xfrm>
            <a:off x="367030" y="755650"/>
            <a:ext cx="4906010" cy="3168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03350" y="2108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候选记忆元</a:t>
            </a:r>
            <a:endParaRPr lang="zh-CN" altLang="en-US"/>
          </a:p>
        </p:txBody>
      </p:sp>
      <p:pic>
        <p:nvPicPr>
          <p:cNvPr id="8" name="图片 7" descr="Screenshot from 2023-03-07 19-34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4171950"/>
            <a:ext cx="4844415" cy="5721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3895" y="5072380"/>
            <a:ext cx="46786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将输入的xt 和 ht-1 整合，然后通过一个tanh神经网络层来创建一个新的状态候选向量</a:t>
            </a:r>
            <a:r>
              <a:rPr lang="zh-CN" altLang="en-US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Ĉ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endParaRPr lang="en-US" altLang="zh-CN" baseline="-250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40345" y="2108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记忆元</a:t>
            </a:r>
            <a:endParaRPr lang="zh-CN" altLang="en-US"/>
          </a:p>
        </p:txBody>
      </p:sp>
      <p:pic>
        <p:nvPicPr>
          <p:cNvPr id="5" name="图片 4" descr="Screenshot from 2023-03-07 21-01-23"/>
          <p:cNvPicPr>
            <a:picLocks noChangeAspect="1"/>
          </p:cNvPicPr>
          <p:nvPr/>
        </p:nvPicPr>
        <p:blipFill>
          <a:blip r:embed="rId3"/>
          <a:srcRect l="1683" t="3387" r="6686" b="3634"/>
          <a:stretch>
            <a:fillRect/>
          </a:stretch>
        </p:blipFill>
        <p:spPr>
          <a:xfrm>
            <a:off x="6359525" y="901700"/>
            <a:ext cx="5191125" cy="2761615"/>
          </a:xfrm>
          <a:prstGeom prst="rect">
            <a:avLst/>
          </a:prstGeom>
        </p:spPr>
      </p:pic>
      <p:pic>
        <p:nvPicPr>
          <p:cNvPr id="9" name="图片 8" descr="Screenshot from 2023-03-07 21-02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60" y="3924300"/>
            <a:ext cx="2944495" cy="5067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032625" y="4744085"/>
            <a:ext cx="46729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 输入门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I</a:t>
            </a:r>
            <a:r>
              <a:rPr lang="en-US" altLang="zh-CN" baseline="-25000">
                <a:latin typeface="Nimbus Roman" panose="00000500000000000000" charset="0"/>
                <a:cs typeface="Nimbus Roman" panose="00000500000000000000" charset="0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控制采用多少来自</a:t>
            </a:r>
            <a:r>
              <a:rPr lang="zh-CN" altLang="en-US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Ĉ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的新数据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 遗忘门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F</a:t>
            </a:r>
            <a:r>
              <a:rPr lang="en-US" altLang="zh-CN" baseline="-25000">
                <a:latin typeface="Nimbus Roman" panose="00000500000000000000" charset="0"/>
                <a:cs typeface="Nimbus Roman" panose="00000500000000000000" charset="0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控制保留多少过去的记忆元</a:t>
            </a:r>
            <a:r>
              <a:rPr lang="en-US" altLang="zh-CN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C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t</a:t>
            </a:r>
            <a:r>
              <a:rPr lang="en-US" altLang="en-US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-1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的内容。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3-07 21-0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25500"/>
            <a:ext cx="6371590" cy="3485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26000" y="19875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隐状态</a:t>
            </a:r>
            <a:endParaRPr lang="zh-CN" altLang="en-US"/>
          </a:p>
        </p:txBody>
      </p:sp>
      <p:pic>
        <p:nvPicPr>
          <p:cNvPr id="4" name="图片 3" descr="Screenshot from 2023-03-07 21-09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4564380"/>
            <a:ext cx="1514475" cy="361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66000" y="928370"/>
            <a:ext cx="3408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隐状态会传递到输出层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记忆元完全属于内部信息</a:t>
            </a: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108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Seq2Seq 模型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2435" y="962660"/>
            <a:ext cx="5370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Seq2Seq 是一种循环神经网络的变种，包括编码器 (Encoder) 和解码器 (Decoder) 两部分。</a:t>
            </a:r>
            <a:endParaRPr lang="zh-CN" altLang="en-US"/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499235"/>
            <a:ext cx="6343015" cy="2923540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1958975" y="5086985"/>
            <a:ext cx="4024630" cy="154432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Seq2Seq核心是训练Encoder和Decoder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283210" y="4277360"/>
            <a:ext cx="2109470" cy="809625"/>
          </a:xfrm>
          <a:prstGeom prst="cloudCallout">
            <a:avLst>
              <a:gd name="adj1" fmla="val 30072"/>
              <a:gd name="adj2" fmla="val -14286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编码器本质是压缩器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24701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例程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6580" y="615315"/>
            <a:ext cx="4006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目标：</a:t>
            </a:r>
            <a:r>
              <a:rPr lang="en-US" altLang="zh-CN"/>
              <a:t>训练转化日期格式的模型	</a:t>
            </a:r>
            <a:endParaRPr lang="en-US" altLang="zh-CN"/>
          </a:p>
          <a:p>
            <a:pPr algn="l"/>
            <a:r>
              <a:rPr lang="en-US" altLang="zh-CN">
                <a:solidFill>
                  <a:srgbClr val="FF0000"/>
                </a:solidFill>
              </a:rPr>
              <a:t>31-04-26</a:t>
            </a:r>
            <a:r>
              <a:rPr lang="en-US" altLang="zh-CN"/>
              <a:t>转化为</a:t>
            </a:r>
            <a:r>
              <a:rPr lang="en-US" altLang="zh-CN">
                <a:solidFill>
                  <a:srgbClr val="FF0000"/>
                </a:solidFill>
              </a:rPr>
              <a:t>26/Apr/2031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pg0 (2)"/>
          <p:cNvPicPr>
            <a:picLocks noChangeAspect="1"/>
          </p:cNvPicPr>
          <p:nvPr/>
        </p:nvPicPr>
        <p:blipFill>
          <a:blip r:embed="rId1"/>
          <a:srcRect l="4044" t="4102" r="3883" b="4113"/>
          <a:stretch>
            <a:fillRect/>
          </a:stretch>
        </p:blipFill>
        <p:spPr>
          <a:xfrm>
            <a:off x="158750" y="1260475"/>
            <a:ext cx="4841240" cy="536956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5065395" y="1334770"/>
          <a:ext cx="703770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50945" y="1574800"/>
            <a:ext cx="4413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如何评价dmp学习结果优劣</a:t>
            </a:r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3.12</a:t>
            </a:r>
            <a:endParaRPr lang="en-US" altLang="en-US" sz="4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08 21-30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730" y="390525"/>
            <a:ext cx="4040505" cy="633476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压缩器encoder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175" y="1488440"/>
            <a:ext cx="31934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作用：</a:t>
            </a:r>
            <a:r>
              <a:rPr lang="zh-CN" altLang="en-US"/>
              <a:t>将原始的词向量按顺序组装起来变成句向量。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7175" y="2552065"/>
            <a:ext cx="319341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i</a:t>
            </a:r>
            <a:r>
              <a:rPr lang="en-US" altLang="en-US"/>
              <a:t>n</a:t>
            </a:r>
            <a:r>
              <a:rPr lang="en-US"/>
              <a:t>put</a:t>
            </a:r>
            <a:r>
              <a:t>{tensor:(32,8)}</a:t>
            </a:r>
            <a:r>
              <a:rPr lang="en-US">
                <a:sym typeface="+mn-ea"/>
              </a:rPr>
              <a:t>：</a:t>
            </a:r>
            <a:r>
              <a:t>32样本，每个样本8个one-hot</a:t>
            </a:r>
            <a:r>
              <a:rPr lang="en-US"/>
              <a:t>编码（</a:t>
            </a:r>
            <a:r>
              <a:t>27元素</a:t>
            </a:r>
            <a:r>
              <a:rPr lang="en-US"/>
              <a:t>）</a:t>
            </a:r>
            <a:r>
              <a:t> </a:t>
            </a: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1&amp;30：初始隐藏状态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2&amp;31：初始细胞状态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33：输出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86-10-14</a:t>
            </a:r>
            <a:endParaRPr lang="en-US"/>
          </a:p>
        </p:txBody>
      </p:sp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640" y="304800"/>
            <a:ext cx="4685030" cy="2562860"/>
          </a:xfrm>
          <a:prstGeom prst="rect">
            <a:avLst/>
          </a:prstGeom>
        </p:spPr>
      </p:pic>
      <p:sp>
        <p:nvSpPr>
          <p:cNvPr id="9" name="流程图: 可选过程 8"/>
          <p:cNvSpPr/>
          <p:nvPr/>
        </p:nvSpPr>
        <p:spPr>
          <a:xfrm>
            <a:off x="7983220" y="3222625"/>
            <a:ext cx="3493135" cy="156591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</a:t>
            </a:r>
            <a:r>
              <a:rPr 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将样本每个字符作为Xi依次输入压缩器LSTM，获取的最后一个记忆和最后一个隐状态作为</a:t>
            </a:r>
            <a:r>
              <a:rPr lang="en-US">
                <a:ln>
                  <a:noFill/>
                </a:ln>
                <a:solidFill>
                  <a:srgbClr val="FF0000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初始记忆和初始隐状态输入解压器</a:t>
            </a:r>
            <a:endParaRPr lang="en-US" altLang="en-US">
              <a:ln>
                <a:noFill/>
              </a:ln>
              <a:solidFill>
                <a:srgbClr val="FF0000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09 15-49-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15" y="12700"/>
            <a:ext cx="4461510" cy="6670040"/>
          </a:xfrm>
          <a:prstGeom prst="rect">
            <a:avLst/>
          </a:prstGeom>
        </p:spPr>
      </p:pic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455" y="210820"/>
            <a:ext cx="4685030" cy="25628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-71120" y="2207895"/>
            <a:ext cx="21431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/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0：词向量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1&amp;22</a:t>
            </a:r>
            <a:r>
              <a:rPr lang="en-US"/>
              <a:t>：</a:t>
            </a:r>
            <a:r>
              <a:rPr lang="en-US" altLang="en-US"/>
              <a:t>隐状态h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2&amp;20：记忆c</a:t>
            </a:r>
            <a:endParaRPr lang="en-US" altLang="en-US"/>
          </a:p>
        </p:txBody>
      </p:sp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解压器decoder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5566410" y="3223895"/>
            <a:ext cx="4601845" cy="156591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Split--&gt;Sigmoid--&gt;Mul（右）     遗忘门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Split--&gt;Sigmoid--&gt;Mul（左）    输入门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Split--&gt;Tanh--&gt;Mul	      候选记忆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Split--&gt;Sigmoid--&gt;Mul--&gt;22	      输出</a:t>
            </a:r>
            <a:r>
              <a:rPr lang="en-US" altLang="en-US">
                <a:ln>
                  <a:noFill/>
                </a:ln>
                <a:solidFill>
                  <a:srgbClr val="FF0000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	</a:t>
            </a:r>
            <a:endParaRPr lang="en-US" altLang="en-US">
              <a:ln>
                <a:noFill/>
              </a:ln>
              <a:solidFill>
                <a:srgbClr val="FF0000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pic>
        <p:nvPicPr>
          <p:cNvPr id="4" name="图片 3" descr="Screenshot from 2023-03-09 16-18-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065" y="1190625"/>
            <a:ext cx="1914525" cy="3495040"/>
          </a:xfrm>
          <a:prstGeom prst="rect">
            <a:avLst/>
          </a:prstGeom>
        </p:spPr>
      </p:pic>
      <p:sp>
        <p:nvSpPr>
          <p:cNvPr id="36" name="云形标注 35"/>
          <p:cNvSpPr/>
          <p:nvPr/>
        </p:nvSpPr>
        <p:spPr>
          <a:xfrm>
            <a:off x="10074910" y="5055235"/>
            <a:ext cx="2109470" cy="809625"/>
          </a:xfrm>
          <a:prstGeom prst="cloudCallout">
            <a:avLst>
              <a:gd name="adj1" fmla="val 12522"/>
              <a:gd name="adj2" fmla="val -10560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将隐状态转为概率分布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" name="表格 14"/>
          <p:cNvGraphicFramePr/>
          <p:nvPr/>
        </p:nvGraphicFramePr>
        <p:xfrm>
          <a:off x="4900930" y="139065"/>
          <a:ext cx="703770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圆角矩形 12"/>
          <p:cNvSpPr/>
          <p:nvPr/>
        </p:nvSpPr>
        <p:spPr>
          <a:xfrm>
            <a:off x="4445" y="2159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解压器decoder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multi-agent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970" y="3578860"/>
            <a:ext cx="7609840" cy="3279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2280" y="1477010"/>
            <a:ext cx="29597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>
                <a:latin typeface="Nimbus Roman" panose="00000500000000000000" charset="0"/>
                <a:cs typeface="Nimbus Roman" panose="00000500000000000000" charset="0"/>
              </a:rPr>
              <a:t>解压器输入为样本第i个字符，输出为样本i+1个字符在元素集合的概率分布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3" name="乘号 2"/>
          <p:cNvSpPr/>
          <p:nvPr/>
        </p:nvSpPr>
        <p:spPr>
          <a:xfrm>
            <a:off x="7362825" y="139065"/>
            <a:ext cx="2744470" cy="280479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394835" y="2943860"/>
          <a:ext cx="7543800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2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3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4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5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6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7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8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9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10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11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GO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Apr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EOS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cs typeface="宋体" charset="0"/>
                        </a:rPr>
                        <a:t>样本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9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Apr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EOS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chemeClr val="tx1"/>
                          </a:solidFill>
                          <a:cs typeface="宋体" charset="0"/>
                        </a:rPr>
                        <a:t>标签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9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7775575" y="4895850"/>
            <a:ext cx="3415665" cy="13430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 解压器训练时输入为标签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使用时输入为起始符GO和上一步解压器的输出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ddpg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292735"/>
            <a:ext cx="8094980" cy="649541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203200"/>
            <a:ext cx="11755120" cy="598233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03.15</a:t>
            </a:r>
            <a:endParaRPr lang="en-US" altLang="en-US" sz="4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卷积神经网络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445" y="1101090"/>
            <a:ext cx="5883275" cy="3949700"/>
            <a:chOff x="7" y="1734"/>
            <a:chExt cx="9265" cy="6220"/>
          </a:xfrm>
        </p:grpSpPr>
        <p:pic>
          <p:nvPicPr>
            <p:cNvPr id="2" name="图片 13" descr="Screenshot from 2023-03-12 20-01-58"/>
            <p:cNvPicPr>
              <a:picLocks noChangeAspect="1"/>
            </p:cNvPicPr>
            <p:nvPr/>
          </p:nvPicPr>
          <p:blipFill>
            <a:blip r:embed="rId1"/>
            <a:srcRect r="20926" b="20722"/>
            <a:stretch>
              <a:fillRect/>
            </a:stretch>
          </p:blipFill>
          <p:spPr>
            <a:xfrm>
              <a:off x="7" y="1734"/>
              <a:ext cx="7225" cy="3600"/>
            </a:xfrm>
            <a:prstGeom prst="rect">
              <a:avLst/>
            </a:prstGeom>
          </p:spPr>
        </p:pic>
        <p:pic>
          <p:nvPicPr>
            <p:cNvPr id="4" name="图片 3" descr="Screenshot from 2023-03-13 11-44-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" y="6896"/>
              <a:ext cx="8890" cy="1058"/>
            </a:xfrm>
            <a:prstGeom prst="rect">
              <a:avLst/>
            </a:prstGeom>
          </p:spPr>
        </p:pic>
        <p:pic>
          <p:nvPicPr>
            <p:cNvPr id="8" name="图片 7" descr="Screenshot from 2023-03-13 11-45-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" y="5683"/>
              <a:ext cx="8923" cy="1013"/>
            </a:xfrm>
            <a:prstGeom prst="rect">
              <a:avLst/>
            </a:prstGeom>
          </p:spPr>
        </p:pic>
        <p:pic>
          <p:nvPicPr>
            <p:cNvPr id="10" name="图片 9" descr="Screenshot from 2023-03-13 11-45-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7" y="2580"/>
              <a:ext cx="2293" cy="2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217930"/>
            <a:ext cx="6343015" cy="292354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CNN_LSTM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630" y="4114800"/>
            <a:ext cx="5715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本代码与上一代码功能相同，结构相同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编码器结果仍然作为初始记忆和初始隐状态输入解码器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sym typeface="+mn-ea"/>
              </a:rPr>
              <a:t>解码器没有变化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sym typeface="+mn-ea"/>
              </a:rPr>
              <a:t>不同之处是编码器主要内容为CNN</a:t>
            </a:r>
            <a:endParaRPr lang="en-US" altLang="zh-CN"/>
          </a:p>
        </p:txBody>
      </p:sp>
      <p:pic>
        <p:nvPicPr>
          <p:cNvPr id="5" name="图片 4" descr="dd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20" y="394335"/>
            <a:ext cx="5200650" cy="606996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CNN压缩器encoder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929005" y="2201545"/>
          <a:ext cx="2641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/>
                <a:gridCol w="660400"/>
                <a:gridCol w="660400"/>
                <a:gridCol w="660400"/>
              </a:tblGrid>
              <a:tr h="5029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字符1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字符</a:t>
                      </a:r>
                      <a:r>
                        <a:rPr lang="en-US" altLang="en-US" sz="1350" b="0">
                          <a:solidFill>
                            <a:schemeClr val="tx1"/>
                          </a:solidFill>
                          <a:sym typeface="+mn-ea"/>
                        </a:rPr>
                        <a:t>8</a:t>
                      </a:r>
                      <a:endParaRPr lang="en-US" altLang="zh-CN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sym typeface="+mn-ea"/>
                        </a:rPr>
                        <a:t>16维词向量</a:t>
                      </a:r>
                      <a:endParaRPr lang="en-US" altLang="en-US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29005" y="1131570"/>
            <a:ext cx="14833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>
                <a:sym typeface="+mn-ea"/>
              </a:rPr>
              <a:t>86-10-14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30605" y="176085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{tensor:(32,1,8,16)}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9005" y="4199255"/>
            <a:ext cx="34969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卷积器：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nn.Conv2d(1,16,(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3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,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16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))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  <a:p>
            <a:pPr algn="l"/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输入通道1,输出通道16,卷积核大小为3</a:t>
            </a:r>
            <a:r>
              <a:rPr lang="en-US" altLang="zh-CN">
                <a:latin typeface="Arial" panose="02080604020202020204" pitchFamily="34" charset="0"/>
                <a:cs typeface="Nimbus Roman" panose="00000500000000000000" charset="0"/>
              </a:rPr>
              <a:t>×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16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0605" y="582739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{tensor:(32,16,6,1)}</a:t>
            </a:r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2163445" y="3709035"/>
            <a:ext cx="323215" cy="58293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2163445" y="5121275"/>
            <a:ext cx="323215" cy="58293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9" name="图片 8" descr="ddpg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965" y="160020"/>
            <a:ext cx="3834765" cy="653796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634095" y="1676400"/>
            <a:ext cx="3057525" cy="33515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2000">
                <a:solidFill>
                  <a:schemeClr val="tx1"/>
                </a:solidFill>
                <a:sym typeface="+mn-ea"/>
              </a:rPr>
              <a:t>CNN局限性：要求有个句子最长的限制，句子如果超过这个长度，一般只能截断</a:t>
            </a:r>
            <a:endParaRPr lang="en-US" altLang="en-US" sz="200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2000">
                <a:solidFill>
                  <a:schemeClr val="tx1"/>
                </a:solidFill>
                <a:sym typeface="+mn-ea"/>
              </a:rPr>
              <a:t>根据CNN编码器与LSTM编码器的对比，可以看出相同训练步，CNN编码器loss略大</a:t>
            </a:r>
            <a:endParaRPr lang="en-US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-53340"/>
            <a:ext cx="12014835" cy="638492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attention解码器encoder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3-08 21-30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1052830"/>
            <a:ext cx="3589655" cy="56280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80130" y="324485"/>
            <a:ext cx="59137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本代码与上一代码功能相同，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主体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结构相同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LSTM编码器每步输出门（33）也保存并输出到解码器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编码器内部结构相同，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编码器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最终隐藏层和记忆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仍然作为初始记忆和初始隐状态输入解码器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latin typeface="Nimbus Roman" panose="00000500000000000000" charset="0"/>
                <a:cs typeface="Nimbus Roman" panose="00000500000000000000" charset="0"/>
                <a:sym typeface="+mn-ea"/>
              </a:rPr>
              <a:t>解码器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引入attention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130" y="1800860"/>
            <a:ext cx="6343015" cy="2923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03345" y="4829175"/>
            <a:ext cx="53924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中间状态</a:t>
            </a:r>
            <a:r>
              <a:rPr lang="en-US" altLang="zh-CN"/>
              <a:t>（句向量）</a:t>
            </a:r>
            <a:r>
              <a:rPr lang="zh-CN" altLang="en-US"/>
              <a:t>来自于输入网络最后的隐藏层，一般来说它是一个大小固定的向量</a:t>
            </a:r>
            <a:r>
              <a:rPr lang="en-US" altLang="zh-CN"/>
              <a:t>，</a:t>
            </a:r>
            <a:r>
              <a:rPr lang="zh-CN" altLang="en-US"/>
              <a:t>能储存的信息就是有限的</a:t>
            </a:r>
            <a:r>
              <a:rPr lang="en-US" altLang="zh-CN"/>
              <a:t>（当前瓶颈）</a:t>
            </a:r>
            <a:endParaRPr lang="en-US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attention解码器encoder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58850"/>
            <a:ext cx="4965700" cy="5751830"/>
          </a:xfrm>
          <a:prstGeom prst="rect">
            <a:avLst/>
          </a:prstGeom>
        </p:spPr>
      </p:pic>
      <p:pic>
        <p:nvPicPr>
          <p:cNvPr id="11" name="图片 10" descr="Figure_1"/>
          <p:cNvPicPr>
            <a:picLocks noChangeAspect="1"/>
          </p:cNvPicPr>
          <p:nvPr/>
        </p:nvPicPr>
        <p:blipFill>
          <a:blip r:embed="rId2"/>
          <a:srcRect l="7172" t="10344" r="8854" b="4731"/>
          <a:stretch>
            <a:fillRect/>
          </a:stretch>
        </p:blipFill>
        <p:spPr>
          <a:xfrm>
            <a:off x="5129530" y="1039495"/>
            <a:ext cx="6613525" cy="501713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03.20</a:t>
            </a:r>
            <a:endParaRPr lang="en-US" altLang="en-US" sz="48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58850"/>
            <a:ext cx="4965700" cy="575183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05" y="950595"/>
            <a:ext cx="4685030" cy="2562860"/>
          </a:xfrm>
          <a:prstGeom prst="rect">
            <a:avLst/>
          </a:prstGeom>
        </p:spPr>
      </p:pic>
      <p:pic>
        <p:nvPicPr>
          <p:cNvPr id="4" name="图片 3" descr="Screenshot from 2023-03-07 21-09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0" y="6313170"/>
            <a:ext cx="1995170" cy="476885"/>
          </a:xfrm>
          <a:prstGeom prst="rect">
            <a:avLst/>
          </a:prstGeom>
        </p:spPr>
      </p:pic>
      <p:pic>
        <p:nvPicPr>
          <p:cNvPr id="5" name="图片 4" descr="Screenshot from 2023-03-07 19-30-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" y="3513455"/>
            <a:ext cx="4330065" cy="1308100"/>
          </a:xfrm>
          <a:prstGeom prst="rect">
            <a:avLst/>
          </a:prstGeom>
        </p:spPr>
      </p:pic>
      <p:pic>
        <p:nvPicPr>
          <p:cNvPr id="9" name="图片 8" descr="Screenshot from 2023-03-07 21-02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90" y="4952365"/>
            <a:ext cx="2944495" cy="50673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4495" y="29337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5"/>
          <a:srcRect l="20303" t="4193" r="6088" b="5362"/>
          <a:stretch>
            <a:fillRect/>
          </a:stretch>
        </p:blipFill>
        <p:spPr>
          <a:xfrm>
            <a:off x="5047615" y="1094740"/>
            <a:ext cx="1696720" cy="3342005"/>
          </a:xfrm>
          <a:prstGeom prst="rect">
            <a:avLst/>
          </a:prstGeom>
        </p:spPr>
      </p:pic>
      <p:pic>
        <p:nvPicPr>
          <p:cNvPr id="11" name="图片 10" descr="1212984-20171114152233765-11195839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265" y="831215"/>
            <a:ext cx="4963795" cy="2228850"/>
          </a:xfrm>
          <a:prstGeom prst="rect">
            <a:avLst/>
          </a:prstGeom>
        </p:spPr>
      </p:pic>
      <p:pic>
        <p:nvPicPr>
          <p:cNvPr id="12" name="图片 11" descr="201601201818419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795" y="4436745"/>
            <a:ext cx="4700270" cy="2274570"/>
          </a:xfrm>
          <a:prstGeom prst="rect">
            <a:avLst/>
          </a:prstGeom>
        </p:spPr>
      </p:pic>
      <p:pic>
        <p:nvPicPr>
          <p:cNvPr id="14" name="图片 13" descr="Screenshot from 2023-03-07 19-34-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" y="5600065"/>
            <a:ext cx="4844415" cy="57213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7" name="图片 16" descr="pg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" y="4445"/>
            <a:ext cx="8871585" cy="31584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307721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53415" y="182372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1"/>
          <a:srcRect l="20303" t="4193" r="6088" b="5362"/>
          <a:stretch>
            <a:fillRect/>
          </a:stretch>
        </p:blipFill>
        <p:spPr>
          <a:xfrm>
            <a:off x="216535" y="2625090"/>
            <a:ext cx="1696720" cy="3342005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55" y="13589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" y="167005"/>
            <a:ext cx="4130040" cy="47840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20" y="167005"/>
            <a:ext cx="6824345" cy="254063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633855" y="5222875"/>
          <a:ext cx="180721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"/>
                <a:gridCol w="208280"/>
                <a:gridCol w="201295"/>
                <a:gridCol w="199390"/>
                <a:gridCol w="201295"/>
                <a:gridCol w="201930"/>
                <a:gridCol w="199390"/>
                <a:gridCol w="201295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Hx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i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3941445" y="3899535"/>
          <a:ext cx="1085850" cy="2731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5125720" y="5020310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553075" y="469011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6721475" y="4891405"/>
            <a:ext cx="1082040" cy="60071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softmax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994650" y="460883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842000" y="3238500"/>
            <a:ext cx="333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</a:rPr>
              <a:t>α</a:t>
            </a:r>
            <a:endParaRPr lang="zh-CN" alt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JyCdy9"/>
          <p:cNvPicPr>
            <a:picLocks noChangeAspect="1"/>
          </p:cNvPicPr>
          <p:nvPr/>
        </p:nvPicPr>
        <p:blipFill>
          <a:blip r:embed="rId1"/>
          <a:srcRect l="17253" t="1752" r="19257" b="1364"/>
          <a:stretch>
            <a:fillRect/>
          </a:stretch>
        </p:blipFill>
        <p:spPr>
          <a:xfrm>
            <a:off x="2102485" y="180340"/>
            <a:ext cx="5049520" cy="649668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transformer整体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=encoder+decoder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JyCLlQ (1)"/>
          <p:cNvPicPr>
            <a:picLocks noChangeAspect="1"/>
          </p:cNvPicPr>
          <p:nvPr/>
        </p:nvPicPr>
        <p:blipFill>
          <a:blip r:embed="rId1"/>
          <a:srcRect l="1387" t="687" r="5034" b="4121"/>
          <a:stretch>
            <a:fillRect/>
          </a:stretch>
        </p:blipFill>
        <p:spPr>
          <a:xfrm>
            <a:off x="4445" y="1042035"/>
            <a:ext cx="758825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lang="en-US" sz="1400">
            <a:solidFill>
              <a:schemeClr val="tx1"/>
            </a:solidFill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7859</Words>
  <Application>WPS 演示</Application>
  <PresentationFormat>宽屏</PresentationFormat>
  <Paragraphs>1559</Paragraphs>
  <Slides>92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92</vt:i4>
      </vt:variant>
    </vt:vector>
  </HeadingPairs>
  <TitlesOfParts>
    <vt:vector size="118" baseType="lpstr">
      <vt:lpstr>Arial</vt:lpstr>
      <vt:lpstr>宋体</vt:lpstr>
      <vt:lpstr>Wingdings</vt:lpstr>
      <vt:lpstr>KaiTi</vt:lpstr>
      <vt:lpstr>Times New Roman</vt:lpstr>
      <vt:lpstr>华文行楷</vt:lpstr>
      <vt:lpstr>微软雅黑</vt:lpstr>
      <vt:lpstr>微软雅黑</vt:lpstr>
      <vt:lpstr>Trebuchet MS</vt:lpstr>
      <vt:lpstr>AR PL UKai CN</vt:lpstr>
      <vt:lpstr>aakar</vt:lpstr>
      <vt:lpstr>宋体</vt:lpstr>
      <vt:lpstr>Wingdings</vt:lpstr>
      <vt:lpstr>Calibri</vt:lpstr>
      <vt:lpstr>Nimbus Roman</vt:lpstr>
      <vt:lpstr>Droid Sans Fallback</vt:lpstr>
      <vt:lpstr>Arial Unicode MS</vt:lpstr>
      <vt:lpstr>等线 Light</vt:lpstr>
      <vt:lpstr>Gubbi</vt:lpstr>
      <vt:lpstr>DejaVu Sans</vt:lpstr>
      <vt:lpstr>等线</vt:lpstr>
      <vt:lpstr>Garuda</vt:lpstr>
      <vt:lpstr>esint10</vt:lpstr>
      <vt:lpstr>Abyssinica SIL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关于gym的 Cart Pole（推杆）</vt:lpstr>
      <vt:lpstr>神经网络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Plateau Deorr</dc:creator>
  <cp:lastModifiedBy>lilei</cp:lastModifiedBy>
  <cp:revision>335</cp:revision>
  <dcterms:created xsi:type="dcterms:W3CDTF">2023-07-20T02:27:45Z</dcterms:created>
  <dcterms:modified xsi:type="dcterms:W3CDTF">2023-07-20T02:27:45Z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  <property fmtid="{D5CDD505-2E9C-101B-9397-08002B2CF9AE}" pid="3" name="ICV">
    <vt:lpwstr/>
  </property>
</Properties>
</file>