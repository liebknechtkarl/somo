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jpeg"/><Relationship Id="rId1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jpeg"/><Relationship Id="rId1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1" Type="http://schemas.openxmlformats.org/officeDocument/2006/relationships/image" Target="../media/image6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0.png"/><Relationship Id="rId2" Type="http://schemas.openxmlformats.org/officeDocument/2006/relationships/image" Target="../media/image22.png"/><Relationship Id="rId1" Type="http://schemas.openxmlformats.org/officeDocument/2006/relationships/image" Target="../media/image10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2.jpeg"/><Relationship Id="rId1" Type="http://schemas.openxmlformats.org/officeDocument/2006/relationships/image" Target="../media/image111.jpe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8.jpeg"/><Relationship Id="rId1" Type="http://schemas.openxmlformats.org/officeDocument/2006/relationships/image" Target="../media/image117.jpe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9.png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7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1" Type="http://schemas.openxmlformats.org/officeDocument/2006/relationships/image" Target="../media/image129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9.png"/><Relationship Id="rId2" Type="http://schemas.openxmlformats.org/officeDocument/2006/relationships/image" Target="../media/image131.png"/><Relationship Id="rId1" Type="http://schemas.openxmlformats.org/officeDocument/2006/relationships/image" Target="../media/image13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image" Target="../media/image125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5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9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1" Type="http://schemas.openxmlformats.org/officeDocument/2006/relationships/image" Target="../media/image105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" altLang="zh-CN"/>
              <a:t>NLP_attention之后</a:t>
            </a:r>
            <a:endParaRPr lang="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03.20</a:t>
            </a:r>
            <a:endParaRPr lang="en-US" altLang="en-US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958850"/>
            <a:ext cx="4965700" cy="5751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05" y="950595"/>
            <a:ext cx="4685030" cy="2562860"/>
          </a:xfrm>
          <a:prstGeom prst="rect">
            <a:avLst/>
          </a:prstGeom>
        </p:spPr>
      </p:pic>
      <p:pic>
        <p:nvPicPr>
          <p:cNvPr id="4" name="图片 3" descr="Screenshot from 2023-03-07 21-09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0" y="6313170"/>
            <a:ext cx="1995170" cy="476885"/>
          </a:xfrm>
          <a:prstGeom prst="rect">
            <a:avLst/>
          </a:prstGeom>
        </p:spPr>
      </p:pic>
      <p:pic>
        <p:nvPicPr>
          <p:cNvPr id="5" name="图片 4" descr="Screenshot from 2023-03-07 19-30-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" y="3513455"/>
            <a:ext cx="4330065" cy="1308100"/>
          </a:xfrm>
          <a:prstGeom prst="rect">
            <a:avLst/>
          </a:prstGeom>
        </p:spPr>
      </p:pic>
      <p:pic>
        <p:nvPicPr>
          <p:cNvPr id="9" name="图片 8" descr="Screenshot from 2023-03-07 21-02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390" y="4952365"/>
            <a:ext cx="2944495" cy="50673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-5715" y="444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attention原理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4495" y="293370"/>
            <a:ext cx="82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10" name="图片 9" descr="Screenshot from 2023-03-21 19-03-50"/>
          <p:cNvPicPr>
            <a:picLocks noChangeAspect="1"/>
          </p:cNvPicPr>
          <p:nvPr/>
        </p:nvPicPr>
        <p:blipFill>
          <a:blip r:embed="rId5"/>
          <a:srcRect l="20303" t="4193" r="6088" b="5362"/>
          <a:stretch>
            <a:fillRect/>
          </a:stretch>
        </p:blipFill>
        <p:spPr>
          <a:xfrm>
            <a:off x="5047615" y="1094740"/>
            <a:ext cx="1696720" cy="3342005"/>
          </a:xfrm>
          <a:prstGeom prst="rect">
            <a:avLst/>
          </a:prstGeom>
        </p:spPr>
      </p:pic>
      <p:pic>
        <p:nvPicPr>
          <p:cNvPr id="11" name="图片 10" descr="1212984-20171114152233765-11195839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265" y="831215"/>
            <a:ext cx="4963795" cy="2228850"/>
          </a:xfrm>
          <a:prstGeom prst="rect">
            <a:avLst/>
          </a:prstGeom>
        </p:spPr>
      </p:pic>
      <p:pic>
        <p:nvPicPr>
          <p:cNvPr id="12" name="图片 11" descr="201601201818419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795" y="4436745"/>
            <a:ext cx="4700270" cy="2274570"/>
          </a:xfrm>
          <a:prstGeom prst="rect">
            <a:avLst/>
          </a:prstGeom>
        </p:spPr>
      </p:pic>
      <p:pic>
        <p:nvPicPr>
          <p:cNvPr id="14" name="图片 13" descr="Screenshot from 2023-03-07 19-34-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" y="5600065"/>
            <a:ext cx="4844415" cy="572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-5715" y="444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attention原理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7" name="图片 16" descr="pg0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" y="4445"/>
            <a:ext cx="8871585" cy="3158490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3077210"/>
            <a:ext cx="10058400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53415" y="1823720"/>
            <a:ext cx="82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10" name="图片 9" descr="Screenshot from 2023-03-21 19-03-50"/>
          <p:cNvPicPr>
            <a:picLocks noChangeAspect="1"/>
          </p:cNvPicPr>
          <p:nvPr/>
        </p:nvPicPr>
        <p:blipFill>
          <a:blip r:embed="rId1"/>
          <a:srcRect l="20303" t="4193" r="6088" b="5362"/>
          <a:stretch>
            <a:fillRect/>
          </a:stretch>
        </p:blipFill>
        <p:spPr>
          <a:xfrm>
            <a:off x="216535" y="2625090"/>
            <a:ext cx="1696720" cy="3342005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55" y="135890"/>
            <a:ext cx="10058400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860" y="167005"/>
            <a:ext cx="4130040" cy="4784090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20" y="167005"/>
            <a:ext cx="6824345" cy="254063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1633855" y="5222875"/>
          <a:ext cx="180721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"/>
                <a:gridCol w="208280"/>
                <a:gridCol w="201295"/>
                <a:gridCol w="199390"/>
                <a:gridCol w="201295"/>
                <a:gridCol w="201930"/>
                <a:gridCol w="199390"/>
                <a:gridCol w="201295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Hx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i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3954145" y="3405505"/>
          <a:ext cx="1085850" cy="2731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5125720" y="5020310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553075" y="469011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et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6721475" y="4891405"/>
            <a:ext cx="1082040" cy="60071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softmax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994650" y="460883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842000" y="3238500"/>
            <a:ext cx="333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</a:rPr>
              <a:t>α</a:t>
            </a:r>
            <a:endParaRPr lang="zh-CN" alt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0815" y="3609975"/>
            <a:ext cx="7620635" cy="2837180"/>
          </a:xfrm>
          <a:prstGeom prst="rect">
            <a:avLst/>
          </a:prstGeom>
        </p:spPr>
      </p:pic>
      <p:pic>
        <p:nvPicPr>
          <p:cNvPr id="17" name="图片 16" descr="pg0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815" y="353060"/>
            <a:ext cx="7922260" cy="2820670"/>
          </a:xfrm>
          <a:prstGeom prst="rect">
            <a:avLst/>
          </a:prstGeom>
        </p:spPr>
      </p:pic>
      <p:pic>
        <p:nvPicPr>
          <p:cNvPr id="12" name="图片 11" descr="ddpg (9)"/>
          <p:cNvPicPr>
            <a:picLocks noChangeAspect="1"/>
          </p:cNvPicPr>
          <p:nvPr/>
        </p:nvPicPr>
        <p:blipFill>
          <a:blip r:embed="rId3"/>
          <a:srcRect l="4808" t="1885"/>
          <a:stretch>
            <a:fillRect/>
          </a:stretch>
        </p:blipFill>
        <p:spPr>
          <a:xfrm>
            <a:off x="19050" y="1546860"/>
            <a:ext cx="3834765" cy="4064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" name="表格 12"/>
          <p:cNvGraphicFramePr/>
          <p:nvPr/>
        </p:nvGraphicFramePr>
        <p:xfrm>
          <a:off x="350520" y="257810"/>
          <a:ext cx="226631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Attention计算的上下文向量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Ct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2736215" y="554990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下箭头标注 14"/>
          <p:cNvSpPr/>
          <p:nvPr/>
        </p:nvSpPr>
        <p:spPr>
          <a:xfrm>
            <a:off x="361315" y="1035050"/>
            <a:ext cx="464121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1548765" y="1414145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2" name="流程图: 可选过程 21"/>
          <p:cNvSpPr/>
          <p:nvPr/>
        </p:nvSpPr>
        <p:spPr>
          <a:xfrm flipH="1">
            <a:off x="786765" y="3346450"/>
            <a:ext cx="3053080" cy="215201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/>
          <p:nvPr/>
        </p:nvGraphicFramePr>
        <p:xfrm>
          <a:off x="1180148" y="3707130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下箭头标注 19"/>
          <p:cNvSpPr/>
          <p:nvPr/>
        </p:nvSpPr>
        <p:spPr>
          <a:xfrm flipH="1">
            <a:off x="1283018" y="4258945"/>
            <a:ext cx="206057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1" name="表格 20"/>
          <p:cNvGraphicFramePr/>
          <p:nvPr/>
        </p:nvGraphicFramePr>
        <p:xfrm>
          <a:off x="1167765" y="4638040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3" name="椭圆形标注 22"/>
          <p:cNvSpPr/>
          <p:nvPr/>
        </p:nvSpPr>
        <p:spPr>
          <a:xfrm>
            <a:off x="1483360" y="2266315"/>
            <a:ext cx="1659890" cy="1055370"/>
          </a:xfrm>
          <a:prstGeom prst="wedgeEllipseCallou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LSTM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296545" y="5695315"/>
            <a:ext cx="3820795" cy="9467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Wingdings" panose="05000000000000000000" charset="0"/>
              <a:buChar char=""/>
            </a:pPr>
            <a:r>
              <a:rPr lang="en-US" altLang="zh-CN" sz="1400">
                <a:solidFill>
                  <a:schemeClr val="tx1"/>
                </a:solidFill>
              </a:rPr>
              <a:t> 这里的attention本质上讲是对解码器LSTM隐藏层进行的一个修正</a:t>
            </a:r>
            <a:endParaRPr lang="en-US" altLang="zh-CN" sz="1400">
              <a:solidFill>
                <a:schemeClr val="tx1"/>
              </a:solidFill>
            </a:endParaRPr>
          </a:p>
        </p:txBody>
      </p:sp>
      <p:pic>
        <p:nvPicPr>
          <p:cNvPr id="5" name="图片 4" descr="Screenshot from 2023-03-23 13-45-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155" y="257810"/>
            <a:ext cx="5534660" cy="6498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流程图: 可选过程 21"/>
          <p:cNvSpPr/>
          <p:nvPr/>
        </p:nvSpPr>
        <p:spPr>
          <a:xfrm flipH="1">
            <a:off x="8735695" y="4492625"/>
            <a:ext cx="3053080" cy="215201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128270" y="1550035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Hx</a:t>
                      </a:r>
                      <a:r>
                        <a:rPr lang="en-US" altLang="en-US" sz="10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t-1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2515870" y="107950"/>
          <a:ext cx="1085850" cy="2868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3657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US" altLang="en-US" b="0" baseline="3000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altLang="en-US" b="0" baseline="30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3710940" y="1024890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138295" y="694690"/>
          <a:ext cx="1085850" cy="107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3657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et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5306695" y="895985"/>
            <a:ext cx="1082040" cy="60071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softmax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579870" y="61341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81635" y="3599815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178685" y="3599815"/>
          <a:ext cx="22891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039"/>
                <a:gridCol w="406040"/>
                <a:gridCol w="214747"/>
                <a:gridCol w="208280"/>
                <a:gridCol w="214226"/>
                <a:gridCol w="208280"/>
                <a:gridCol w="208493"/>
                <a:gridCol w="208280"/>
                <a:gridCol w="214747"/>
              </a:tblGrid>
              <a:tr h="297180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 altLang="en-US" sz="40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</a:t>
                      </a:r>
                      <a:endParaRPr lang="en-US" altLang="en-US" sz="4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en-US" sz="12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右箭头 10"/>
          <p:cNvSpPr/>
          <p:nvPr/>
        </p:nvSpPr>
        <p:spPr>
          <a:xfrm>
            <a:off x="4668520" y="3977005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5214620" y="3804920"/>
          <a:ext cx="226631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Attention计算的上下文向量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Ct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1335405" y="4935855"/>
          <a:ext cx="226631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Attention计算的上下文向量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Ct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3721100" y="5233035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下箭头标注 14"/>
          <p:cNvSpPr/>
          <p:nvPr/>
        </p:nvSpPr>
        <p:spPr>
          <a:xfrm>
            <a:off x="1346200" y="5713095"/>
            <a:ext cx="464121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2533650" y="6092190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9129078" y="4853305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下箭头标注 19"/>
          <p:cNvSpPr/>
          <p:nvPr/>
        </p:nvSpPr>
        <p:spPr>
          <a:xfrm flipH="1">
            <a:off x="9231948" y="5405120"/>
            <a:ext cx="206057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1" name="表格 20"/>
          <p:cNvGraphicFramePr/>
          <p:nvPr/>
        </p:nvGraphicFramePr>
        <p:xfrm>
          <a:off x="9116695" y="5784215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3" name="椭圆形标注 22"/>
          <p:cNvSpPr/>
          <p:nvPr/>
        </p:nvSpPr>
        <p:spPr>
          <a:xfrm>
            <a:off x="9432290" y="3412490"/>
            <a:ext cx="1659890" cy="1055370"/>
          </a:xfrm>
          <a:prstGeom prst="wedgeEllipseCallou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LSTM</a:t>
            </a:r>
            <a:endParaRPr lang="en-US" altLang="zh-CN"/>
          </a:p>
        </p:txBody>
      </p:sp>
      <p:sp>
        <p:nvSpPr>
          <p:cNvPr id="24" name="椭圆形标注 23"/>
          <p:cNvSpPr/>
          <p:nvPr/>
        </p:nvSpPr>
        <p:spPr>
          <a:xfrm>
            <a:off x="7084060" y="2070100"/>
            <a:ext cx="2458720" cy="1055370"/>
          </a:xfrm>
          <a:prstGeom prst="wedgeEllipseCallout">
            <a:avLst>
              <a:gd name="adj1" fmla="val -35080"/>
              <a:gd name="adj2" fmla="val -7629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 sz="1400"/>
              <a:t>这是解码器本次输出与编码器每个隐藏层输出对应的概率</a:t>
            </a:r>
            <a:endParaRPr lang="en-US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colf6m3d9"/>
          <p:cNvPicPr>
            <a:picLocks noChangeAspect="1"/>
          </p:cNvPicPr>
          <p:nvPr/>
        </p:nvPicPr>
        <p:blipFill>
          <a:blip r:embed="rId1"/>
          <a:srcRect t="22807" r="1111" b="17368"/>
          <a:stretch>
            <a:fillRect/>
          </a:stretch>
        </p:blipFill>
        <p:spPr>
          <a:xfrm>
            <a:off x="83185" y="17145"/>
            <a:ext cx="9946640" cy="3248025"/>
          </a:xfrm>
          <a:prstGeom prst="rect">
            <a:avLst/>
          </a:prstGeom>
        </p:spPr>
      </p:pic>
      <p:pic>
        <p:nvPicPr>
          <p:cNvPr id="5" name="图片 4" descr="Figure_1"/>
          <p:cNvPicPr>
            <a:picLocks noChangeAspect="1"/>
          </p:cNvPicPr>
          <p:nvPr/>
        </p:nvPicPr>
        <p:blipFill>
          <a:blip r:embed="rId2"/>
          <a:srcRect l="5559" t="9261" r="12788" b="4164"/>
          <a:stretch>
            <a:fillRect/>
          </a:stretch>
        </p:blipFill>
        <p:spPr>
          <a:xfrm>
            <a:off x="275590" y="3265170"/>
            <a:ext cx="4276090" cy="3401060"/>
          </a:xfrm>
          <a:prstGeom prst="rect">
            <a:avLst/>
          </a:prstGeom>
        </p:spPr>
      </p:pic>
      <p:pic>
        <p:nvPicPr>
          <p:cNvPr id="7" name="图片 6" descr="seq2seq_attention_res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210" y="3403600"/>
            <a:ext cx="4349750" cy="3262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545" y="2766060"/>
            <a:ext cx="10515600" cy="1325563"/>
          </a:xfrm>
        </p:spPr>
        <p:txBody>
          <a:bodyPr/>
          <a:p>
            <a:pPr algn="ctr"/>
            <a:r>
              <a:rPr lang="en-US" altLang="zh-CN"/>
              <a:t>Transformer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JyCdy9"/>
          <p:cNvPicPr>
            <a:picLocks noChangeAspect="1"/>
          </p:cNvPicPr>
          <p:nvPr/>
        </p:nvPicPr>
        <p:blipFill>
          <a:blip r:embed="rId1"/>
          <a:srcRect l="17253" t="1752" r="19257" b="1364"/>
          <a:stretch>
            <a:fillRect/>
          </a:stretch>
        </p:blipFill>
        <p:spPr>
          <a:xfrm>
            <a:off x="2102485" y="180340"/>
            <a:ext cx="5049520" cy="649668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transformer整体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=encoder+decoder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JyCLlQ (1)"/>
          <p:cNvPicPr>
            <a:picLocks noChangeAspect="1"/>
          </p:cNvPicPr>
          <p:nvPr/>
        </p:nvPicPr>
        <p:blipFill>
          <a:blip r:embed="rId1"/>
          <a:srcRect l="1387" t="687" r="5034" b="4121"/>
          <a:stretch>
            <a:fillRect/>
          </a:stretch>
        </p:blipFill>
        <p:spPr>
          <a:xfrm>
            <a:off x="4445" y="1042035"/>
            <a:ext cx="7588250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creenshot from 2023-03-23 14-28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57150"/>
            <a:ext cx="5921375" cy="5217160"/>
          </a:xfrm>
          <a:prstGeom prst="rect">
            <a:avLst/>
          </a:prstGeom>
        </p:spPr>
      </p:pic>
      <p:pic>
        <p:nvPicPr>
          <p:cNvPr id="5" name="图片 4" descr="Screenshot from 2023-03-23 14-28-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05" y="171450"/>
            <a:ext cx="5390515" cy="5981700"/>
          </a:xfrm>
          <a:prstGeom prst="rect">
            <a:avLst/>
          </a:prstGeom>
        </p:spPr>
      </p:pic>
      <p:pic>
        <p:nvPicPr>
          <p:cNvPr id="6" name="图片 5" descr="Screenshot from 2023-03-23 14-28-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105" y="6490970"/>
            <a:ext cx="644779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025525" y="2719705"/>
          <a:ext cx="841375" cy="168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633095"/>
              </a:tblGrid>
              <a:tr h="2286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Src</a:t>
                      </a: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_vocab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P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ich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mochte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ein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bier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cola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2421890" y="2461895"/>
          <a:ext cx="841375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633095"/>
              </a:tblGrid>
              <a:tr h="2286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tgt_vocab</a:t>
                      </a:r>
                      <a:endParaRPr 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P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i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want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a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beer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coke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S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E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charset="0"/>
                        </a:rPr>
                        <a:t>.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506345" y="396240"/>
          <a:ext cx="7734300" cy="160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8100"/>
                <a:gridCol w="2578100"/>
                <a:gridCol w="25781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 enc_input(编码样本)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dec_input (解码样本) 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 dec_outputdec_input (标签)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ich mochte ein bier P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S i want a beer .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 want a beer . E</a:t>
                      </a:r>
                      <a:endParaRPr lang="zh-CN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ich mochte ein cola P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S i want a coke .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 want a coke . E</a:t>
                      </a:r>
                      <a:endParaRPr lang="zh-CN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5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6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6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JyCLlQ (1)"/>
          <p:cNvPicPr>
            <a:picLocks noChangeAspect="1"/>
          </p:cNvPicPr>
          <p:nvPr/>
        </p:nvPicPr>
        <p:blipFill>
          <a:blip r:embed="rId1"/>
          <a:srcRect l="1387" t="687" r="5034" b="4121"/>
          <a:stretch>
            <a:fillRect/>
          </a:stretch>
        </p:blipFill>
        <p:spPr>
          <a:xfrm>
            <a:off x="4445" y="958850"/>
            <a:ext cx="7588250" cy="561975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JyCLlQ (1)"/>
          <p:cNvPicPr>
            <a:picLocks noChangeAspect="1"/>
          </p:cNvPicPr>
          <p:nvPr/>
        </p:nvPicPr>
        <p:blipFill>
          <a:blip r:embed="rId1"/>
          <a:srcRect l="28411" t="59448" r="5034" b="4121"/>
          <a:stretch>
            <a:fillRect/>
          </a:stretch>
        </p:blipFill>
        <p:spPr>
          <a:xfrm>
            <a:off x="40005" y="1210945"/>
            <a:ext cx="5396865" cy="2150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005" y="3679190"/>
            <a:ext cx="4787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将位置嵌入和字嵌入相加，然后作为输入</a:t>
            </a:r>
            <a:endParaRPr lang="zh-CN" altLang="en-US"/>
          </a:p>
        </p:txBody>
      </p:sp>
      <p:pic>
        <p:nvPicPr>
          <p:cNvPr id="6" name="图片 5" descr="Screenshot from 2023-03-23 15-06-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" y="4155440"/>
            <a:ext cx="3841750" cy="159893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7290435" y="445135"/>
          <a:ext cx="399732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21"/>
                <a:gridCol w="666221"/>
                <a:gridCol w="666221"/>
                <a:gridCol w="666220"/>
                <a:gridCol w="666221"/>
                <a:gridCol w="666221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下箭头标注 7"/>
          <p:cNvSpPr/>
          <p:nvPr/>
        </p:nvSpPr>
        <p:spPr>
          <a:xfrm>
            <a:off x="7338060" y="1445260"/>
            <a:ext cx="3925570" cy="541020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 Word Embedding(1--&gt;512)</a:t>
            </a:r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5864860" y="2259330"/>
          <a:ext cx="6120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</a:tblGrid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000115" y="4978400"/>
          <a:ext cx="6120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</a:tblGrid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下箭头标注 10"/>
          <p:cNvSpPr/>
          <p:nvPr/>
        </p:nvSpPr>
        <p:spPr>
          <a:xfrm>
            <a:off x="7362190" y="4047490"/>
            <a:ext cx="3925570" cy="541020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+=Positional </a:t>
            </a:r>
            <a:r>
              <a:rPr lang="en-US" altLang="zh-CN">
                <a:solidFill>
                  <a:schemeClr val="tx1"/>
                </a:solidFill>
              </a:rPr>
              <a:t>Embedd</a:t>
            </a:r>
            <a:r>
              <a:rPr lang="en-US" altLang="en-US">
                <a:solidFill>
                  <a:schemeClr val="tx1"/>
                </a:solidFill>
              </a:rPr>
              <a:t>ed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62580" y="4978400"/>
            <a:ext cx="28149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t：句中该词序号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d：词向量维度（512）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i：嵌入的维度序号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nn.Dropout：结果放大1/（1-p）即10/9倍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47955" y="3486150"/>
          <a:ext cx="612013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</a:tblGrid>
              <a:tr h="365760">
                <a:tc gridSpan="2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Word Embedding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+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Positional 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sym typeface="+mn-ea"/>
                        </a:rPr>
                        <a:t>Embedd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ed</a:t>
                      </a:r>
                      <a:endParaRPr lang="en-US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684645" y="3117850"/>
            <a:ext cx="4695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单个词向量分别乘以矩阵Wq，Wk，Wv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6684645" y="3663315"/>
          <a:ext cx="990600" cy="162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"/>
                <a:gridCol w="330200"/>
                <a:gridCol w="330200"/>
              </a:tblGrid>
              <a:tr h="2851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Wq</a:t>
                      </a:r>
                      <a:endParaRPr lang="en-US" altLang="zh-CN" sz="8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Wk</a:t>
                      </a:r>
                      <a:endParaRPr lang="en-US" altLang="zh-CN" sz="8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Wv</a:t>
                      </a:r>
                      <a:endParaRPr lang="en-US" altLang="zh-CN" sz="8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  <a:sym typeface="+mn-ea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  <a:sym typeface="+mn-ea"/>
                        </a:rPr>
                        <a:t>...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7748270" y="3683635"/>
          <a:ext cx="41065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/>
                <a:gridCol w="214630"/>
                <a:gridCol w="216535"/>
                <a:gridCol w="215900"/>
                <a:gridCol w="216535"/>
                <a:gridCol w="216535"/>
                <a:gridCol w="215900"/>
                <a:gridCol w="215900"/>
                <a:gridCol w="216535"/>
                <a:gridCol w="216535"/>
                <a:gridCol w="215900"/>
                <a:gridCol w="215265"/>
                <a:gridCol w="215900"/>
                <a:gridCol w="217170"/>
                <a:gridCol w="215900"/>
                <a:gridCol w="215900"/>
              </a:tblGrid>
              <a:tr h="365760">
                <a:tc gridSpan="16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Word Embedding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+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Positional 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sym typeface="+mn-ea"/>
                        </a:rPr>
                        <a:t>Embedd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ed</a:t>
                      </a:r>
                      <a:endParaRPr lang="en-US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q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k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v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q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k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v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5" name="图片 14" descr="Screenshot from 2023-03-24 16-57-34"/>
          <p:cNvPicPr>
            <a:picLocks noChangeAspect="1"/>
          </p:cNvPicPr>
          <p:nvPr/>
        </p:nvPicPr>
        <p:blipFill>
          <a:blip r:embed="rId1"/>
          <a:srcRect r="2807" b="20374"/>
          <a:stretch>
            <a:fillRect/>
          </a:stretch>
        </p:blipFill>
        <p:spPr>
          <a:xfrm>
            <a:off x="304165" y="305435"/>
            <a:ext cx="3276600" cy="811530"/>
          </a:xfrm>
          <a:prstGeom prst="rect">
            <a:avLst/>
          </a:prstGeom>
        </p:spPr>
      </p:pic>
      <p:graphicFrame>
        <p:nvGraphicFramePr>
          <p:cNvPr id="16" name="表格 15"/>
          <p:cNvGraphicFramePr/>
          <p:nvPr/>
        </p:nvGraphicFramePr>
        <p:xfrm>
          <a:off x="3827780" y="1576070"/>
          <a:ext cx="5377815" cy="10725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955"/>
                <a:gridCol w="2689860"/>
              </a:tblGrid>
              <a:tr h="357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charset="0"/>
                          <a:cs typeface="宋体" charset="0"/>
                        </a:rPr>
                        <a:t>Query向量</a:t>
                      </a:r>
                      <a:endParaRPr lang="en-US" altLang="en-US" sz="18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charset="0"/>
                          <a:cs typeface="宋体" charset="0"/>
                        </a:rPr>
                        <a:t>当前元素的查询向量</a:t>
                      </a:r>
                      <a:endParaRPr lang="en-US" altLang="en-US" sz="18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charset="0"/>
                          <a:cs typeface="宋体" charset="0"/>
                        </a:rPr>
                        <a:t>Key向量</a:t>
                      </a:r>
                      <a:endParaRPr lang="en-US" altLang="en-US" sz="18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charset="0"/>
                          <a:cs typeface="宋体" charset="0"/>
                        </a:rPr>
                        <a:t>所有元素的关键字向量</a:t>
                      </a:r>
                      <a:endParaRPr lang="en-US" altLang="en-US" sz="18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charset="0"/>
                          <a:cs typeface="宋体" charset="0"/>
                        </a:rPr>
                        <a:t>Value向量</a:t>
                      </a:r>
                      <a:endParaRPr lang="en-US" altLang="en-US" sz="18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charset="0"/>
                          <a:cs typeface="宋体" charset="0"/>
                        </a:rPr>
                        <a:t>表示所有元素的值向量</a:t>
                      </a:r>
                      <a:endParaRPr lang="en-US" altLang="en-US" sz="18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c7wCNR"/>
          <p:cNvPicPr>
            <a:picLocks noChangeAspect="1"/>
          </p:cNvPicPr>
          <p:nvPr/>
        </p:nvPicPr>
        <p:blipFill>
          <a:blip r:embed="rId1"/>
          <a:srcRect l="2115" t="33197" r="2658" b="77"/>
          <a:stretch>
            <a:fillRect/>
          </a:stretch>
        </p:blipFill>
        <p:spPr>
          <a:xfrm>
            <a:off x="10795" y="47625"/>
            <a:ext cx="8470265" cy="2926715"/>
          </a:xfrm>
          <a:prstGeom prst="rect">
            <a:avLst/>
          </a:prstGeom>
        </p:spPr>
      </p:pic>
      <p:pic>
        <p:nvPicPr>
          <p:cNvPr id="11" name="图片 10" descr="c7wk36"/>
          <p:cNvPicPr>
            <a:picLocks noChangeAspect="1"/>
          </p:cNvPicPr>
          <p:nvPr/>
        </p:nvPicPr>
        <p:blipFill>
          <a:blip r:embed="rId2"/>
          <a:srcRect l="14448" r="12608" b="5239"/>
          <a:stretch>
            <a:fillRect/>
          </a:stretch>
        </p:blipFill>
        <p:spPr>
          <a:xfrm>
            <a:off x="8928735" y="381000"/>
            <a:ext cx="3180080" cy="1614805"/>
          </a:xfrm>
          <a:prstGeom prst="rect">
            <a:avLst/>
          </a:prstGeom>
        </p:spPr>
      </p:pic>
      <p:pic>
        <p:nvPicPr>
          <p:cNvPr id="4" name="图片 3" descr="Screenshot from 2023-03-24 16-55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" y="2974340"/>
            <a:ext cx="8726805" cy="38931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creenshot from 2023-03-24 17-05-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0" y="95885"/>
            <a:ext cx="8297545" cy="4880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0335" y="5161915"/>
            <a:ext cx="81832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其它的输入向量也执行相同的操作，得到通过 self-attention 后的所有输出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输出结果：Value向量经过attn加权</a:t>
            </a:r>
            <a:r>
              <a:rPr lang="en-US" altLang="en-US"/>
              <a:t>（multiplication）</a:t>
            </a:r>
            <a:r>
              <a:rPr lang="en-US" altLang="zh-CN"/>
              <a:t>  &amp; 自注意力</a:t>
            </a:r>
            <a:r>
              <a:rPr lang="en-US" altLang="en-US"/>
              <a:t>(score集合--互相之间的注意力)</a:t>
            </a:r>
            <a:endParaRPr lang="en-US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842260" y="6010910"/>
            <a:ext cx="92170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    # enc_self_attns            list 6 * tensor(2,8,5,5)        # 分层(6)注意力</a:t>
            </a:r>
            <a:endParaRPr lang="zh-CN" altLang="en-US"/>
          </a:p>
          <a:p>
            <a:r>
              <a:rPr lang="zh-CN" altLang="en-US"/>
              <a:t>        # enc_outputs               tensor(2,5,512)                 # 6层注意力加权结果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3-25 14-51-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" y="1420495"/>
            <a:ext cx="1828800" cy="3314065"/>
          </a:xfrm>
          <a:prstGeom prst="rect">
            <a:avLst/>
          </a:prstGeom>
        </p:spPr>
      </p:pic>
      <p:pic>
        <p:nvPicPr>
          <p:cNvPr id="4" name="图片 3" descr="Screenshot from 2023-03-25 15-02-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1334770"/>
            <a:ext cx="1428750" cy="3399790"/>
          </a:xfrm>
          <a:prstGeom prst="rect">
            <a:avLst/>
          </a:prstGeom>
        </p:spPr>
      </p:pic>
      <p:pic>
        <p:nvPicPr>
          <p:cNvPr id="5" name="图片 4" descr="v2-6a76f90a48a5ff2afa79c7f17ccc353d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25" y="434975"/>
            <a:ext cx="5730240" cy="42995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dpg (1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60" y="237490"/>
            <a:ext cx="7983220" cy="59074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946785"/>
            <a:ext cx="6791960" cy="3086100"/>
          </a:xfrm>
          <a:prstGeom prst="rect">
            <a:avLst/>
          </a:prstGeom>
        </p:spPr>
      </p:pic>
      <p:pic>
        <p:nvPicPr>
          <p:cNvPr id="5" name="图片 4" descr="Screenshot from 2023-04-15 21-36-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970" y="641985"/>
            <a:ext cx="4255135" cy="45929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04.23</a:t>
            </a:r>
            <a:endParaRPr lang="en-US" altLang="en-US" sz="4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 descr="Screenshot from 2023-04-22 19-42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09855"/>
            <a:ext cx="3299460" cy="1844040"/>
          </a:xfrm>
          <a:prstGeom prst="rect">
            <a:avLst/>
          </a:prstGeom>
        </p:spPr>
      </p:pic>
      <p:pic>
        <p:nvPicPr>
          <p:cNvPr id="3" name="图片 2" descr="transformer_look_ahead_mask"/>
          <p:cNvPicPr>
            <a:picLocks noChangeAspect="1"/>
          </p:cNvPicPr>
          <p:nvPr/>
        </p:nvPicPr>
        <p:blipFill>
          <a:blip r:embed="rId2"/>
          <a:srcRect l="5672" t="3221" r="10220" b="1206"/>
          <a:stretch>
            <a:fillRect/>
          </a:stretch>
        </p:blipFill>
        <p:spPr>
          <a:xfrm>
            <a:off x="175260" y="1847215"/>
            <a:ext cx="4133850" cy="3522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4480" y="5763260"/>
            <a:ext cx="42214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用前文的信息预测后文的信息，所以用上了Future Mask。</a:t>
            </a:r>
            <a:r>
              <a:rPr lang="en-US" altLang="zh-CN"/>
              <a:t>mask将后文遮挡</a:t>
            </a:r>
            <a:endParaRPr lang="en-US" altLang="zh-CN"/>
          </a:p>
        </p:txBody>
      </p:sp>
      <p:pic>
        <p:nvPicPr>
          <p:cNvPr id="6" name="图片 5" descr="gpt7_self_attention_line"/>
          <p:cNvPicPr>
            <a:picLocks noChangeAspect="1"/>
          </p:cNvPicPr>
          <p:nvPr/>
        </p:nvPicPr>
        <p:blipFill>
          <a:blip r:embed="rId3"/>
          <a:srcRect r="50700" b="51661"/>
          <a:stretch>
            <a:fillRect/>
          </a:stretch>
        </p:blipFill>
        <p:spPr>
          <a:xfrm>
            <a:off x="4643755" y="608330"/>
            <a:ext cx="2790825" cy="5473700"/>
          </a:xfrm>
          <a:prstGeom prst="rect">
            <a:avLst/>
          </a:prstGeom>
        </p:spPr>
      </p:pic>
      <p:pic>
        <p:nvPicPr>
          <p:cNvPr id="7" name="图片 6" descr="bert6_self_attention_line"/>
          <p:cNvPicPr>
            <a:picLocks noChangeAspect="1"/>
          </p:cNvPicPr>
          <p:nvPr/>
        </p:nvPicPr>
        <p:blipFill>
          <a:blip r:embed="rId4"/>
          <a:srcRect r="54419" b="51667"/>
          <a:stretch>
            <a:fillRect/>
          </a:stretch>
        </p:blipFill>
        <p:spPr>
          <a:xfrm>
            <a:off x="7790180" y="424815"/>
            <a:ext cx="2727325" cy="57842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c7wCNR"/>
          <p:cNvPicPr>
            <a:picLocks noChangeAspect="1"/>
          </p:cNvPicPr>
          <p:nvPr/>
        </p:nvPicPr>
        <p:blipFill>
          <a:blip r:embed="rId1"/>
          <a:srcRect l="2115" t="33197" r="2658" b="77"/>
          <a:stretch>
            <a:fillRect/>
          </a:stretch>
        </p:blipFill>
        <p:spPr>
          <a:xfrm>
            <a:off x="3618230" y="12700"/>
            <a:ext cx="8470265" cy="2926715"/>
          </a:xfrm>
          <a:prstGeom prst="rect">
            <a:avLst/>
          </a:prstGeom>
        </p:spPr>
      </p:pic>
      <p:pic>
        <p:nvPicPr>
          <p:cNvPr id="3" name="图片 2" descr="c7wk36"/>
          <p:cNvPicPr>
            <a:picLocks noChangeAspect="1"/>
          </p:cNvPicPr>
          <p:nvPr/>
        </p:nvPicPr>
        <p:blipFill>
          <a:blip r:embed="rId2"/>
          <a:srcRect l="14448" r="12608" b="5239"/>
          <a:stretch>
            <a:fillRect/>
          </a:stretch>
        </p:blipFill>
        <p:spPr>
          <a:xfrm>
            <a:off x="281305" y="1324610"/>
            <a:ext cx="2603500" cy="1322070"/>
          </a:xfrm>
          <a:prstGeom prst="rect">
            <a:avLst/>
          </a:prstGeom>
        </p:spPr>
      </p:pic>
      <p:pic>
        <p:nvPicPr>
          <p:cNvPr id="14" name="图片 13" descr="Screenshot from 2023-03-24 16-55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285" y="2939415"/>
            <a:ext cx="8726805" cy="3893185"/>
          </a:xfrm>
          <a:prstGeom prst="rect">
            <a:avLst/>
          </a:prstGeom>
        </p:spPr>
      </p:pic>
      <p:pic>
        <p:nvPicPr>
          <p:cNvPr id="18" name="图片 17" descr="Screenshot from 2023-04-22 19-42-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" y="3348355"/>
            <a:ext cx="3299460" cy="1844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746125" y="81915"/>
          <a:ext cx="8534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seqs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语句索引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segs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前后句信息，</a:t>
                      </a:r>
                      <a:r>
                        <a:rPr lang="en-US" altLang="zh-CN" sz="1200" b="0"/>
                        <a:t>0前句，1后句，2空符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xlen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两句话长度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nsp_labels</a:t>
                      </a:r>
                      <a:endParaRPr lang="zh-CN" altLang="en-US" sz="1200" b="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标签  array([0])  0or1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图片 2" descr="maddpg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1731010"/>
            <a:ext cx="10709910" cy="47986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100330"/>
            <a:ext cx="8626475" cy="64706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ure_1"/>
          <p:cNvPicPr>
            <a:picLocks noChangeAspect="1"/>
          </p:cNvPicPr>
          <p:nvPr/>
        </p:nvPicPr>
        <p:blipFill>
          <a:blip r:embed="rId1"/>
          <a:srcRect l="11187" t="9766" r="17431" b="9291"/>
          <a:stretch>
            <a:fillRect/>
          </a:stretch>
        </p:blipFill>
        <p:spPr>
          <a:xfrm>
            <a:off x="375920" y="182245"/>
            <a:ext cx="9290685" cy="5598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Figure_1"/>
          <p:cNvPicPr>
            <a:picLocks noChangeAspect="1"/>
          </p:cNvPicPr>
          <p:nvPr/>
        </p:nvPicPr>
        <p:blipFill>
          <a:blip r:embed="rId1"/>
          <a:srcRect l="7860" t="10550" r="17020" b="844"/>
          <a:stretch>
            <a:fillRect/>
          </a:stretch>
        </p:blipFill>
        <p:spPr>
          <a:xfrm>
            <a:off x="360045" y="365760"/>
            <a:ext cx="9103360" cy="57054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1089660" y="918845"/>
          <a:ext cx="8534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8100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batch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list 1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sym typeface="+mn-ea"/>
                        </a:rPr>
                        <a:t>tensor(32,72)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32样本72字符在词汇总表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索引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seqs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2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tensor(32,72)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前后句信息，</a:t>
                      </a:r>
                      <a:r>
                        <a:rPr lang="en-US" altLang="zh-CN" sz="1200" b="0"/>
                        <a:t>0前句，1后句，2空符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segs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3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tensor(32,2)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一行</a:t>
                      </a:r>
                      <a:r>
                        <a:rPr lang="zh-CN" altLang="en-US" sz="1200" b="0"/>
                        <a:t>两句话</a:t>
                      </a:r>
                      <a:r>
                        <a:rPr lang="en-US" altLang="zh-CN" sz="1200" b="0"/>
                        <a:t>各自</a:t>
                      </a:r>
                      <a:r>
                        <a:rPr lang="zh-CN" altLang="en-US" sz="1200" b="0"/>
                        <a:t>长度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xlen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4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tensor(32,</a:t>
                      </a:r>
                      <a:r>
                        <a:rPr lang="en-US" altLang="zh-CN" sz="1200"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ym typeface="+mn-ea"/>
                        </a:rPr>
                        <a:t>)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标签  array([0])  0or1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nsp_labels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4-22 17-14-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261620"/>
            <a:ext cx="8260080" cy="59607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5-05 21-20-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4905" y="5715"/>
            <a:ext cx="1876425" cy="6224905"/>
          </a:xfrm>
          <a:prstGeom prst="rect">
            <a:avLst/>
          </a:prstGeom>
        </p:spPr>
      </p:pic>
      <p:pic>
        <p:nvPicPr>
          <p:cNvPr id="3" name="图片 2" descr="v2-ab5640bcf936a1582f73774c79fb504f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0" y="206375"/>
            <a:ext cx="4797425" cy="2686685"/>
          </a:xfrm>
          <a:prstGeom prst="rect">
            <a:avLst/>
          </a:prstGeom>
        </p:spPr>
      </p:pic>
      <p:pic>
        <p:nvPicPr>
          <p:cNvPr id="4" name="图片 3" descr="Screenshot from 2023-05-06 15-40-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15" y="2893060"/>
            <a:ext cx="4311015" cy="36747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20715" y="988695"/>
            <a:ext cx="38900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F（x）和x的shape不一致时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pad或者乘以一个权重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5-06 16-29-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367665"/>
            <a:ext cx="1661795" cy="6123305"/>
          </a:xfrm>
          <a:prstGeom prst="rect">
            <a:avLst/>
          </a:prstGeom>
        </p:spPr>
      </p:pic>
      <p:pic>
        <p:nvPicPr>
          <p:cNvPr id="5" name="图片 4" descr="Screenshot from 2023-05-06 15-55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810" y="314960"/>
            <a:ext cx="5633720" cy="2130425"/>
          </a:xfrm>
          <a:prstGeom prst="rect">
            <a:avLst/>
          </a:prstGeom>
        </p:spPr>
      </p:pic>
      <p:pic>
        <p:nvPicPr>
          <p:cNvPr id="4" name="图片 3" descr="Screenshot from 2023-05-06 15-45-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15" y="2689860"/>
            <a:ext cx="4596765" cy="3579495"/>
          </a:xfrm>
          <a:prstGeom prst="rect">
            <a:avLst/>
          </a:prstGeom>
        </p:spPr>
      </p:pic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727325" y="3399155"/>
            <a:ext cx="3676015" cy="1579880"/>
            <a:chOff x="4010" y="5299"/>
            <a:chExt cx="6164" cy="2649"/>
          </a:xfrm>
        </p:grpSpPr>
        <p:pic>
          <p:nvPicPr>
            <p:cNvPr id="6" name="图片 5" descr="Screenshot from 2023-05-06 15-57-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0" y="5299"/>
              <a:ext cx="6164" cy="1205"/>
            </a:xfrm>
            <a:prstGeom prst="rect">
              <a:avLst/>
            </a:prstGeom>
          </p:spPr>
        </p:pic>
        <p:pic>
          <p:nvPicPr>
            <p:cNvPr id="7" name="图片 6" descr="Screenshot from 2023-05-06 16-02-0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0" y="6780"/>
              <a:ext cx="6112" cy="1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 descr="20191129155653468 (1)"/>
          <p:cNvPicPr>
            <a:picLocks noChangeAspect="1"/>
          </p:cNvPicPr>
          <p:nvPr/>
        </p:nvPicPr>
        <p:blipFill>
          <a:blip r:embed="rId1"/>
          <a:srcRect l="15991" r="14886" b="12464"/>
          <a:stretch>
            <a:fillRect/>
          </a:stretch>
        </p:blipFill>
        <p:spPr>
          <a:xfrm>
            <a:off x="247650" y="104775"/>
            <a:ext cx="7355205" cy="32886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36715" y="3517900"/>
            <a:ext cx="54216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数字18 50 101 等分别代表的是卷积层+全连接层的层数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50-layer（</a:t>
            </a:r>
            <a:r>
              <a:rPr lang="zh-CN" altLang="en-US"/>
              <a:t>1+3*3+4*3+6*3+3*3+1）=50层</a:t>
            </a:r>
            <a:endParaRPr lang="zh-CN" altLang="en-US"/>
          </a:p>
        </p:txBody>
      </p:sp>
      <p:pic>
        <p:nvPicPr>
          <p:cNvPr id="11" name="图片 10" descr="v2-0ec10dcf31aded374852e330d9d5f091_r"/>
          <p:cNvPicPr>
            <a:picLocks noChangeAspect="1"/>
          </p:cNvPicPr>
          <p:nvPr/>
        </p:nvPicPr>
        <p:blipFill>
          <a:blip r:embed="rId2"/>
          <a:srcRect l="5556" t="5746" r="4798" b="13659"/>
          <a:stretch>
            <a:fillRect/>
          </a:stretch>
        </p:blipFill>
        <p:spPr>
          <a:xfrm>
            <a:off x="101600" y="3393440"/>
            <a:ext cx="670433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v2-7fc901b1ff391b78c3d29f65d1df2f27_720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1605" y="153670"/>
            <a:ext cx="5334635" cy="27819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79260" y="3073400"/>
            <a:ext cx="50469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WideResNet（WRN）希望使用一种较浅的，并在每个单层上更宽的（维度）模型来提升模型性能。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对于卷积层来说，宽度是指输出维度（通道）</a:t>
            </a:r>
            <a:endParaRPr lang="zh-CN" altLang="en-US"/>
          </a:p>
        </p:txBody>
      </p:sp>
      <p:pic>
        <p:nvPicPr>
          <p:cNvPr id="2" name="图片 1" descr="pg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40" y="606425"/>
            <a:ext cx="2818765" cy="50095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dpg"/>
          <p:cNvPicPr>
            <a:picLocks noChangeAspect="1"/>
          </p:cNvPicPr>
          <p:nvPr/>
        </p:nvPicPr>
        <p:blipFill>
          <a:blip r:embed="rId1"/>
          <a:srcRect l="1585" t="1400" r="2101" b="1675"/>
          <a:stretch>
            <a:fillRect/>
          </a:stretch>
        </p:blipFill>
        <p:spPr>
          <a:xfrm>
            <a:off x="359410" y="43180"/>
            <a:ext cx="4894580" cy="6771640"/>
          </a:xfrm>
          <a:prstGeom prst="rect">
            <a:avLst/>
          </a:prstGeom>
        </p:spPr>
      </p:pic>
      <p:pic>
        <p:nvPicPr>
          <p:cNvPr id="3" name="图片 2" descr="maddpg"/>
          <p:cNvPicPr>
            <a:picLocks noChangeAspect="1"/>
          </p:cNvPicPr>
          <p:nvPr/>
        </p:nvPicPr>
        <p:blipFill>
          <a:blip r:embed="rId2"/>
          <a:srcRect l="3569" t="2468" r="3945" b="2114"/>
          <a:stretch>
            <a:fillRect/>
          </a:stretch>
        </p:blipFill>
        <p:spPr>
          <a:xfrm>
            <a:off x="6033135" y="50165"/>
            <a:ext cx="3439160" cy="6334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creenshot from 2023-05-09 17-41-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0490" y="1253490"/>
            <a:ext cx="8005445" cy="4874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3355" y="208280"/>
            <a:ext cx="374713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Weather 收集自2010-2013四年间美国1600个地点的每小时气候数据。包括预测目标湿球温度以及11个气候指标。数据集/验证集/测试集分别为28/10/10个月。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ETT(Electricity Transformer Temperature) 收集自中国两个县的电力变压器温度数据集，有2小时、1小时、15分钟三种粒度，每个数据点包括油温以及6个电力负载指标。数据集/验证集/测试集分别为12/4/4个月。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 Traffic2是加利福尼亚州交通部每小时数据的集合，描述了旧金山湾地区高速公路上不同传感器测量的道路占用率。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29630" y="537845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MSE（均方误差）</a:t>
            </a:r>
            <a:endParaRPr lang="zh-CN" altLang="en-US"/>
          </a:p>
          <a:p>
            <a:r>
              <a:rPr lang="zh-CN" altLang="en-US"/>
              <a:t>MAE(平均绝对误差)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4075" y="6351905"/>
            <a:ext cx="7943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https://github.com/yuqinie98/PatchTST/issues/7</a:t>
            </a: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20" descr="Screenshot from 2023-05-09 21-12-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0905" y="1323975"/>
            <a:ext cx="5330190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433301-20190920223455681-14830932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3282950"/>
            <a:ext cx="10058400" cy="3289935"/>
          </a:xfrm>
          <a:prstGeom prst="rect">
            <a:avLst/>
          </a:prstGeom>
        </p:spPr>
      </p:pic>
      <p:pic>
        <p:nvPicPr>
          <p:cNvPr id="3" name="图片 2" descr="v2-ce1e7a7949c3ad0ad23e109779b916be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59055"/>
            <a:ext cx="8233410" cy="3271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0338ded2e34ad19a38e73c0bd69b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" y="37465"/>
            <a:ext cx="6962140" cy="3847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93355" y="725170"/>
            <a:ext cx="36017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语谱图(spectrogram)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声谱图的横坐标是时间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纵坐标是频率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坐标点值为语音数据能量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由于是采用二维平面表达三维信息，所以能量值的大小是通过颜色来表示的，颜色深，表示该点的语音能量越强。</a:t>
            </a:r>
            <a:endParaRPr lang="zh-CN" altLang="en-US"/>
          </a:p>
        </p:txBody>
      </p:sp>
      <p:pic>
        <p:nvPicPr>
          <p:cNvPr id="4" name="图片 3" descr="a0b874fc0fcb41aab7568b463c5168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930" y="3884930"/>
            <a:ext cx="4041775" cy="29190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wav2vec"/>
          <p:cNvPicPr>
            <a:picLocks noChangeAspect="1"/>
          </p:cNvPicPr>
          <p:nvPr/>
        </p:nvPicPr>
        <p:blipFill>
          <a:blip r:embed="rId1"/>
          <a:srcRect l="17712" t="17333" r="18549" b="2776"/>
          <a:stretch>
            <a:fillRect/>
          </a:stretch>
        </p:blipFill>
        <p:spPr>
          <a:xfrm>
            <a:off x="1529715" y="1387475"/>
            <a:ext cx="7842250" cy="46221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9855" y="370840"/>
            <a:ext cx="117532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将原始音频x编码为潜在空间z的 encoder network（5层卷积），和将z转换为contextualized representation的 context network（9层卷积），最终特征维度为512x帧数。目标是在特征层面使用当前帧预测未来帧。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MFCC</a:t>
            </a: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80845" y="1388110"/>
            <a:ext cx="883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github原代码</a:t>
            </a:r>
            <a:endParaRPr lang="en-US" altLang="zh-CN"/>
          </a:p>
          <a:p>
            <a:r>
              <a:rPr lang="en-US" altLang="zh-CN"/>
              <a:t>1e-05	0.3476	1.3293	61.94%	65.89%	60.07%	66.39%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301365" y="577850"/>
            <a:ext cx="3717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针对数据集1M进行训练&amp;测试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80845" y="2243455"/>
            <a:ext cx="883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MFCC+BiLSTM</a:t>
            </a:r>
            <a:endParaRPr lang="en-US" altLang="zh-CN"/>
          </a:p>
          <a:p>
            <a:r>
              <a:rPr lang="en-US" altLang="zh-CN"/>
              <a:t>1e-05	1.0440	0.9828	60.50%	60.32%	60.62%	62.47%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365125" y="3082290"/>
          <a:ext cx="10840720" cy="3329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090"/>
                <a:gridCol w="1355090"/>
                <a:gridCol w="1365885"/>
                <a:gridCol w="1344295"/>
                <a:gridCol w="1355090"/>
                <a:gridCol w="1355090"/>
                <a:gridCol w="1355090"/>
                <a:gridCol w="1355090"/>
              </a:tblGrid>
              <a:tr h="3683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训练集loss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测试集loss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测试集最优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训练集最优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github原代码</a:t>
                      </a: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0.3476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1.3293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61.94%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65.89%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60.07%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66.39%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rgbClr val="FF0000"/>
                          </a:solidFill>
                          <a:sym typeface="+mn-ea"/>
                        </a:rPr>
                        <a:t>MFCC+BiLSTM</a:t>
                      </a:r>
                      <a:endParaRPr lang="en-US" altLang="en-US" sz="1200" b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1.0440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0.9828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60.50%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60.32%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60.62%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62.47%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MFCC+DLinear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1.0739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1.0352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55.83%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56.91%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57.79%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58.28%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sym typeface="+mn-ea"/>
                        </a:rPr>
                        <a:t>MFCC+</a:t>
                      </a: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TiDE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1.1036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1.1508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45.27%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46.21%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49.40%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49.74%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rgbClr val="FF0000"/>
                          </a:solidFill>
                          <a:sym typeface="+mn-ea"/>
                        </a:rPr>
                        <a:t>Spec+Alexnet</a:t>
                      </a:r>
                      <a:endParaRPr lang="en-US" altLang="en-US" sz="1200" b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0.5312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1.0506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63.55%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64.81%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62.15%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66.82%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Spec+BiLstm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0.2206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1.6786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55.48%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61.40%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56.50%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62.50%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sym typeface="+mn-ea"/>
                        </a:rPr>
                        <a:t>wav2vec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0.2117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1.7233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70.74%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71.99%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73.74%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74.20%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creenshot from 2023-05-17 16-40-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1113155"/>
            <a:ext cx="8266430" cy="92392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575310" y="3179445"/>
            <a:ext cx="8770620" cy="1798955"/>
            <a:chOff x="1529" y="4023"/>
            <a:chExt cx="13812" cy="2833"/>
          </a:xfrm>
        </p:grpSpPr>
        <p:pic>
          <p:nvPicPr>
            <p:cNvPr id="6" name="图片 5" descr="Screenshot from 2023-05-18 11-02-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9" y="4023"/>
              <a:ext cx="13813" cy="213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558" y="6276"/>
              <a:ext cx="11395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/>
                <a:t>/home/windsky/Data/point_cloud/CA-github4_spec3_bilstm2</a:t>
              </a:r>
              <a:endParaRPr lang="zh-CN" alt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g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790" y="1466215"/>
            <a:ext cx="10749280" cy="2469515"/>
          </a:xfrm>
          <a:prstGeom prst="rect">
            <a:avLst/>
          </a:prstGeom>
        </p:spPr>
      </p:pic>
      <p:pic>
        <p:nvPicPr>
          <p:cNvPr id="2" name="图片 1" descr="dd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30" y="3935730"/>
            <a:ext cx="7904480" cy="225742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mfcc&amp;spec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XXCN202304001_06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" y="36830"/>
            <a:ext cx="5986145" cy="6784975"/>
          </a:xfrm>
          <a:prstGeom prst="rect">
            <a:avLst/>
          </a:prstGeom>
        </p:spPr>
      </p:pic>
      <p:pic>
        <p:nvPicPr>
          <p:cNvPr id="62" name="图片 62" descr="Screenshot from 2023-03-31 15-58-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0" y="220980"/>
            <a:ext cx="5927725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g0 (2)"/>
          <p:cNvPicPr>
            <a:picLocks noChangeAspect="1"/>
          </p:cNvPicPr>
          <p:nvPr/>
        </p:nvPicPr>
        <p:blipFill>
          <a:blip r:embed="rId1"/>
          <a:srcRect l="3368" t="2566" r="4228" b="2757"/>
          <a:stretch>
            <a:fillRect/>
          </a:stretch>
        </p:blipFill>
        <p:spPr>
          <a:xfrm>
            <a:off x="219075" y="140970"/>
            <a:ext cx="4184650" cy="65754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g0 (3)"/>
          <p:cNvPicPr>
            <a:picLocks noChangeAspect="1"/>
          </p:cNvPicPr>
          <p:nvPr/>
        </p:nvPicPr>
        <p:blipFill>
          <a:blip r:embed="rId1"/>
          <a:srcRect l="2061" t="3012" r="1964" b="3012"/>
          <a:stretch>
            <a:fillRect/>
          </a:stretch>
        </p:blipFill>
        <p:spPr>
          <a:xfrm>
            <a:off x="196850" y="64135"/>
            <a:ext cx="10370185" cy="673036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Contrastive Predictive Coding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(对比预测编码) 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Screenshot from 2023-05-23 17-42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" y="1101725"/>
            <a:ext cx="6603365" cy="2978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31060" y="255270"/>
            <a:ext cx="41541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target (future) </a:t>
            </a:r>
            <a:r>
              <a:rPr lang="en-US" altLang="zh-CN"/>
              <a:t>x：预测目标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context (present) </a:t>
            </a:r>
            <a:r>
              <a:rPr lang="en-US" altLang="zh-CN"/>
              <a:t>c ：已知上下文</a:t>
            </a:r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196215" y="4223385"/>
            <a:ext cx="4232910" cy="1428115"/>
            <a:chOff x="273" y="7020"/>
            <a:chExt cx="6666" cy="2249"/>
          </a:xfrm>
        </p:grpSpPr>
        <p:pic>
          <p:nvPicPr>
            <p:cNvPr id="5" name="图片 4" descr="Screenshot from 2023-05-23 17-44-38"/>
            <p:cNvPicPr>
              <a:picLocks noChangeAspect="1"/>
            </p:cNvPicPr>
            <p:nvPr/>
          </p:nvPicPr>
          <p:blipFill>
            <a:blip r:embed="rId2"/>
            <a:srcRect l="2449" t="8865" b="9149"/>
            <a:stretch>
              <a:fillRect/>
            </a:stretch>
          </p:blipFill>
          <p:spPr>
            <a:xfrm>
              <a:off x="273" y="7759"/>
              <a:ext cx="6667" cy="1511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73" y="7020"/>
              <a:ext cx="651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/>
                <a:t>网络的目标是最大化</a:t>
              </a:r>
              <a:r>
                <a:rPr lang="en-US" altLang="zh-CN"/>
                <a:t>x</a:t>
              </a:r>
              <a:r>
                <a:rPr lang="zh-CN" altLang="en-US"/>
                <a:t>和</a:t>
              </a:r>
              <a:r>
                <a:rPr lang="en-US" altLang="zh-CN"/>
                <a:t>c</a:t>
              </a:r>
              <a:r>
                <a:rPr lang="zh-CN" altLang="en-US"/>
                <a:t>之间的互信息</a:t>
              </a:r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4635" y="5751830"/>
            <a:ext cx="4627880" cy="925830"/>
            <a:chOff x="2892" y="9019"/>
            <a:chExt cx="7288" cy="1458"/>
          </a:xfrm>
        </p:grpSpPr>
        <p:pic>
          <p:nvPicPr>
            <p:cNvPr id="8" name="图片 7" descr="Screenshot from 2023-05-23 18-15-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2" y="9019"/>
              <a:ext cx="5918" cy="145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892" y="9378"/>
              <a:ext cx="13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信息熵</a:t>
              </a:r>
              <a:endParaRPr lang="en-US" altLang="zh-CN"/>
            </a:p>
          </p:txBody>
        </p:sp>
      </p:grpSp>
      <p:pic>
        <p:nvPicPr>
          <p:cNvPr id="11" name="图片 10" descr="Screenshot from 2023-05-23 18-44-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05" y="196850"/>
            <a:ext cx="5572760" cy="2547620"/>
          </a:xfrm>
          <a:prstGeom prst="rect">
            <a:avLst/>
          </a:prstGeom>
        </p:spPr>
      </p:pic>
      <p:sp>
        <p:nvSpPr>
          <p:cNvPr id="14" name="圆角矩形标注 13"/>
          <p:cNvSpPr/>
          <p:nvPr/>
        </p:nvSpPr>
        <p:spPr>
          <a:xfrm>
            <a:off x="4556125" y="4692650"/>
            <a:ext cx="2406015" cy="542290"/>
          </a:xfrm>
          <a:prstGeom prst="wedgeRoundRectCallout">
            <a:avLst>
              <a:gd name="adj1" fmla="val -54222"/>
              <a:gd name="adj2" fmla="val 72014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给定c，找到最契合的x，而不是随机采样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86650" y="3361690"/>
            <a:ext cx="40043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样本：</a:t>
            </a:r>
            <a:r>
              <a:rPr lang="zh-CN" altLang="en-US"/>
              <a:t>X ={x1, ...</a:t>
            </a:r>
            <a:r>
              <a:rPr lang="en-US" altLang="zh-CN"/>
              <a:t>，</a:t>
            </a:r>
            <a:r>
              <a:rPr lang="zh-CN" altLang="en-US"/>
              <a:t>xN}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x</a:t>
            </a:r>
            <a:r>
              <a:rPr lang="zh-CN" altLang="en-US" baseline="-25000"/>
              <a:t>t+k</a:t>
            </a:r>
            <a:r>
              <a:rPr lang="zh-CN" altLang="en-US"/>
              <a:t>为正样本 (positive sample)，其</a:t>
            </a:r>
            <a:r>
              <a:rPr lang="en-US" altLang="zh-CN"/>
              <a:t>余</a:t>
            </a:r>
            <a:r>
              <a:rPr lang="zh-CN" altLang="en-US"/>
              <a:t>N-1个是负样本。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>
                <a:sym typeface="+mn-ea"/>
              </a:rPr>
              <a:t>在用ct预测xt+k，</a:t>
            </a:r>
            <a:r>
              <a:rPr lang="en-US" altLang="en-US">
                <a:sym typeface="+mn-ea"/>
              </a:rPr>
              <a:t>尽可能</a:t>
            </a:r>
            <a:r>
              <a:rPr lang="en-US" altLang="zh-CN">
                <a:sym typeface="+mn-ea"/>
              </a:rPr>
              <a:t>预测到正样本</a:t>
            </a:r>
            <a:endParaRPr lang="zh-CN" altLang="en-US"/>
          </a:p>
        </p:txBody>
      </p:sp>
      <p:pic>
        <p:nvPicPr>
          <p:cNvPr id="12" name="图片 11" descr="Screenshot from 2023-05-24 15-59-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4894580"/>
            <a:ext cx="331406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wav2vec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690245"/>
            <a:ext cx="10058400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wav2vec2_model"/>
          <p:cNvPicPr>
            <a:picLocks noChangeAspect="1"/>
          </p:cNvPicPr>
          <p:nvPr/>
        </p:nvPicPr>
        <p:blipFill>
          <a:blip r:embed="rId1"/>
          <a:srcRect l="1239" t="3883" r="509" b="3388"/>
          <a:stretch>
            <a:fillRect/>
          </a:stretch>
        </p:blipFill>
        <p:spPr>
          <a:xfrm>
            <a:off x="4445" y="80645"/>
            <a:ext cx="12272010" cy="673036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准确/召回 率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评价指标 roc auc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21920" y="1436370"/>
          <a:ext cx="456819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530"/>
                <a:gridCol w="1654810"/>
                <a:gridCol w="21018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真阳性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true positive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正确地检测到阳性结果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假阳性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positive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错误地检测到阳性结果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真阴性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true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正确地检测到阴性结果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201930" y="3476625"/>
          <a:ext cx="3458845" cy="220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235"/>
                <a:gridCol w="2213610"/>
              </a:tblGrid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准确率</a:t>
                      </a:r>
                      <a:endParaRPr lang="zh-CN" altLang="en-US" sz="1400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（Accuracy）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全部预测中，正确预测结果占比</a:t>
                      </a:r>
                      <a:endParaRPr lang="zh-CN" altLang="en-US" sz="1400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精度</a:t>
                      </a:r>
                      <a:endParaRPr lang="zh-CN" altLang="en-US" sz="1400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（Precision）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全部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阳性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sym typeface="+mn-ea"/>
                        </a:rPr>
                        <a:t>预测</a:t>
                      </a:r>
                      <a:r>
                        <a:rPr lang="zh-CN" altLang="en-US" sz="1400">
                          <a:sym typeface="+mn-ea"/>
                        </a:rPr>
                        <a:t>中，正确预测结果占比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召回率</a:t>
                      </a:r>
                      <a:endParaRPr lang="zh-CN" altLang="en-US" sz="1400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（Recall）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全部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阳性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</a:rPr>
                        <a:t>事件</a:t>
                      </a:r>
                      <a:r>
                        <a:rPr lang="zh-CN" altLang="en-US" sz="1400"/>
                        <a:t>中，正确预测结果占的比例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误报率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全部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阳性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</a:rPr>
                        <a:t>预测</a:t>
                      </a:r>
                      <a:r>
                        <a:rPr lang="zh-CN" altLang="en-US" sz="1400"/>
                        <a:t>中，</a:t>
                      </a:r>
                      <a:r>
                        <a:rPr lang="en-US" altLang="zh-CN" sz="1400"/>
                        <a:t>错误</a:t>
                      </a:r>
                      <a:r>
                        <a:rPr lang="zh-CN" altLang="en-US" sz="1400"/>
                        <a:t>预测结果占比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3952875" y="3438525"/>
            <a:ext cx="2362200" cy="1645920"/>
            <a:chOff x="6225" y="5475"/>
            <a:chExt cx="3720" cy="2592"/>
          </a:xfrm>
        </p:grpSpPr>
        <p:pic>
          <p:nvPicPr>
            <p:cNvPr id="7" name="图片 6" descr="Screenshot from 2023-05-29 15-07-0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24" y="6417"/>
              <a:ext cx="1965" cy="720"/>
            </a:xfrm>
            <a:prstGeom prst="rect">
              <a:avLst/>
            </a:prstGeom>
          </p:spPr>
        </p:pic>
        <p:pic>
          <p:nvPicPr>
            <p:cNvPr id="14" name="图片 13" descr="Screenshot from 2023-05-29 15-06-0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5" y="5475"/>
              <a:ext cx="3720" cy="735"/>
            </a:xfrm>
            <a:prstGeom prst="rect">
              <a:avLst/>
            </a:prstGeom>
          </p:spPr>
        </p:pic>
        <p:pic>
          <p:nvPicPr>
            <p:cNvPr id="15" name="图片 14" descr="Screenshot from 2023-05-29 15-19-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5" y="7257"/>
              <a:ext cx="2985" cy="810"/>
            </a:xfrm>
            <a:prstGeom prst="rect">
              <a:avLst/>
            </a:prstGeom>
          </p:spPr>
        </p:pic>
      </p:grpSp>
      <p:pic>
        <p:nvPicPr>
          <p:cNvPr id="17" name="图片 16" descr="Screenshot from 2023-05-29 15-29-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5157470"/>
            <a:ext cx="1981200" cy="523875"/>
          </a:xfrm>
          <a:prstGeom prst="rect">
            <a:avLst/>
          </a:prstGeom>
        </p:spPr>
      </p:pic>
      <p:sp>
        <p:nvSpPr>
          <p:cNvPr id="18" name="下箭头 17"/>
          <p:cNvSpPr/>
          <p:nvPr/>
        </p:nvSpPr>
        <p:spPr>
          <a:xfrm rot="16200000">
            <a:off x="6475730" y="379095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 rot="16200000">
            <a:off x="6475730" y="4352925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472045" y="3905250"/>
            <a:ext cx="156464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Arial" panose="0208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FP越小越好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472045" y="4636770"/>
            <a:ext cx="156464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Arial" panose="0208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FN越小越好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爆炸形 1 21"/>
          <p:cNvSpPr/>
          <p:nvPr/>
        </p:nvSpPr>
        <p:spPr>
          <a:xfrm>
            <a:off x="9170670" y="3905250"/>
            <a:ext cx="2102485" cy="172720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 存疑结果预测为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阴or阳</a:t>
            </a:r>
            <a:endParaRPr lang="en-US" altLang="zh-CN" sz="1600">
              <a:solidFill>
                <a:schemeClr val="tx1"/>
              </a:solidFill>
            </a:endParaRPr>
          </a:p>
        </p:txBody>
      </p:sp>
      <p:pic>
        <p:nvPicPr>
          <p:cNvPr id="28" name="图片 27" descr="1809afd4f2f14be8a607160d1c74cff3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0010" y="327660"/>
            <a:ext cx="3743960" cy="2882265"/>
          </a:xfrm>
          <a:prstGeom prst="rect">
            <a:avLst/>
          </a:prstGeom>
        </p:spPr>
      </p:pic>
      <p:pic>
        <p:nvPicPr>
          <p:cNvPr id="29" name="图片 28" descr="Screenshot from 2023-05-29 16-07-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685" y="1663700"/>
            <a:ext cx="1666875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受试者工作特征曲线 （ROC曲线）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130" y="1247140"/>
            <a:ext cx="54844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AUC (Area under Curve)：ROC 曲线下的面积，介于 0.1 和 1 之间，作为数值可以直观的评价分类器的好坏，值越大越好。</a:t>
            </a:r>
            <a:endParaRPr lang="zh-CN" altLang="en-US"/>
          </a:p>
        </p:txBody>
      </p:sp>
      <p:pic>
        <p:nvPicPr>
          <p:cNvPr id="29" name="图片 28" descr="Screenshot from 2023-05-29 16-07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085" y="147955"/>
            <a:ext cx="1666875" cy="676275"/>
          </a:xfrm>
          <a:prstGeom prst="rect">
            <a:avLst/>
          </a:prstGeom>
        </p:spPr>
      </p:pic>
      <p:pic>
        <p:nvPicPr>
          <p:cNvPr id="5" name="图片 4" descr="v2-b268edb1ea995c73d5aba8720883d805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" y="2341245"/>
            <a:ext cx="5409565" cy="267589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/>
        </p:nvGraphicFramePr>
        <p:xfrm>
          <a:off x="6437630" y="1372235"/>
          <a:ext cx="3458845" cy="275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235"/>
                <a:gridCol w="2213610"/>
              </a:tblGrid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AUC = 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完美分类器，采用这个预测模型时，存在至少一个阈值能得出完美预测。。绝大多数预测的场合，不存在完美分类器。</a:t>
                      </a:r>
                      <a:endParaRPr lang="zh-CN" altLang="en-US" sz="1400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0.5 &lt; AUC &lt; 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优于随机猜测。这个分类器（模型）妥善设定阈值的话，能有预测价值。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AUC = 0.5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跟随机猜测一样（例：丢铜板），模型没有预测价值。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AUC &lt; 0.5</a:t>
                      </a:r>
                      <a:endParaRPr lang="zh-CN" altLang="en-US" sz="14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比随机猜测还差；但只要总是反预测而行，就优于随机猜测。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5-27 18-00-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" y="1497965"/>
            <a:ext cx="1319530" cy="11506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53845" y="1497965"/>
            <a:ext cx="69913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sample_width</a:t>
            </a:r>
            <a:r>
              <a:rPr lang="en-US" altLang="zh-CN"/>
              <a:t>(eg:8,16,24,32):每个样本的位数(分辨率)</a:t>
            </a:r>
            <a:endParaRPr lang="en-US" altLang="zh-CN"/>
          </a:p>
          <a:p>
            <a:r>
              <a:rPr lang="zh-CN" altLang="en-US"/>
              <a:t>sample_rate</a:t>
            </a:r>
            <a:r>
              <a:rPr lang="en-US" altLang="zh-CN"/>
              <a:t>（采样率）:音频中每秒钟采样的样本数。</a:t>
            </a:r>
            <a:endParaRPr lang="en-US" altLang="zh-CN"/>
          </a:p>
          <a:p>
            <a:r>
              <a:rPr lang="zh-CN" altLang="en-US"/>
              <a:t>num_frames（帧数）</a:t>
            </a:r>
            <a:r>
              <a:rPr lang="en-US" altLang="zh-CN"/>
              <a:t>:</a:t>
            </a:r>
            <a:r>
              <a:rPr lang="zh-CN" altLang="en-US"/>
              <a:t>音频信号中的采样帧的总数。</a:t>
            </a:r>
            <a:endParaRPr lang="zh-CN" altLang="en-US"/>
          </a:p>
          <a:p>
            <a:r>
              <a:rPr lang="zh-CN" altLang="en-US"/>
              <a:t>num_channels（声道数）</a:t>
            </a:r>
            <a:r>
              <a:rPr lang="en-US" altLang="zh-CN"/>
              <a:t>:</a:t>
            </a:r>
            <a:r>
              <a:rPr lang="zh-CN" altLang="en-US"/>
              <a:t>音频信号中的独立声道数量</a:t>
            </a:r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121920" y="1428750"/>
          <a:ext cx="5771515" cy="2293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475"/>
                <a:gridCol w="1534160"/>
                <a:gridCol w="1536065"/>
                <a:gridCol w="1948815"/>
              </a:tblGrid>
              <a:tr h="7340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model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算法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DLinear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[Autoformer, Informer, Transformer]</a:t>
                      </a:r>
                      <a:endParaRPr lang="zh-CN" altLang="en-US" sz="1400"/>
                    </a:p>
                  </a:txBody>
                  <a:tcPr/>
                </a:tc>
              </a:tr>
              <a:tr h="520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假阳性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positive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错误地检测到阳性结果</a:t>
                      </a:r>
                      <a:endParaRPr lang="zh-CN" altLang="en-US" sz="1400"/>
                    </a:p>
                  </a:txBody>
                  <a:tcPr/>
                </a:tc>
              </a:tr>
              <a:tr h="519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真阴性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true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正确地检测到阴性结果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  <a:tr h="520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2023.6.3</a:t>
            </a:r>
            <a:endParaRPr lang="en-US" altLang="en-US"/>
          </a:p>
        </p:txBody>
      </p:sp>
      <p:pic>
        <p:nvPicPr>
          <p:cNvPr id="3" name="图片 2" descr="Screenshot from 2023-06-03 22-49-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3657600"/>
            <a:ext cx="10058400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D_linear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3-06-03 22-47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060" y="130175"/>
            <a:ext cx="3947795" cy="2682875"/>
          </a:xfrm>
          <a:prstGeom prst="rect">
            <a:avLst/>
          </a:prstGeom>
        </p:spPr>
      </p:pic>
      <p:pic>
        <p:nvPicPr>
          <p:cNvPr id="8" name="图片 7" descr="Screenshot from 2023-06-03 23-51-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" y="3037205"/>
            <a:ext cx="9438005" cy="3628390"/>
          </a:xfrm>
          <a:prstGeom prst="rect">
            <a:avLst/>
          </a:prstGeom>
        </p:spPr>
      </p:pic>
      <p:pic>
        <p:nvPicPr>
          <p:cNvPr id="9" name="图片 8" descr="Screenshot from 2023-06-03 23-51-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25" y="1795780"/>
            <a:ext cx="2771140" cy="819150"/>
          </a:xfrm>
          <a:prstGeom prst="rect">
            <a:avLst/>
          </a:prstGeom>
        </p:spPr>
      </p:pic>
      <p:pic>
        <p:nvPicPr>
          <p:cNvPr id="10" name="图片 9" descr="Screenshot from 2023-06-03 23-52-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95" y="2983230"/>
            <a:ext cx="1219200" cy="4095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420610" y="372745"/>
            <a:ext cx="34429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历史时间序列数据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趋势(Trend)数据 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剩余(Remainder)数据 </a:t>
            </a:r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848360" y="3340735"/>
            <a:ext cx="9314180" cy="3413760"/>
            <a:chOff x="809" y="5012"/>
            <a:chExt cx="15840" cy="5784"/>
          </a:xfrm>
        </p:grpSpPr>
        <p:pic>
          <p:nvPicPr>
            <p:cNvPr id="4" name="图片 3" descr="pg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9" y="5012"/>
              <a:ext cx="15840" cy="5785"/>
            </a:xfrm>
            <a:prstGeom prst="rect">
              <a:avLst/>
            </a:prstGeom>
          </p:spPr>
        </p:pic>
        <p:sp>
          <p:nvSpPr>
            <p:cNvPr id="6" name="矩形标注 5"/>
            <p:cNvSpPr/>
            <p:nvPr/>
          </p:nvSpPr>
          <p:spPr>
            <a:xfrm>
              <a:off x="10007" y="7311"/>
              <a:ext cx="2149" cy="1187"/>
            </a:xfrm>
            <a:prstGeom prst="wedgeRectCallout">
              <a:avLst>
                <a:gd name="adj1" fmla="val 31805"/>
                <a:gd name="adj2" fmla="val 80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过去336时间步某单变量映射到未来96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99390" y="138430"/>
            <a:ext cx="34429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历史时间序列数据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趋势(Trend)数据 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剩余(Remainder)数据 </a:t>
            </a:r>
            <a:endParaRPr lang="zh-CN" altLang="en-US"/>
          </a:p>
        </p:txBody>
      </p:sp>
      <p:pic>
        <p:nvPicPr>
          <p:cNvPr id="2" name="图片 1" descr="pg0 (1)"/>
          <p:cNvPicPr>
            <a:picLocks noChangeAspect="1"/>
          </p:cNvPicPr>
          <p:nvPr/>
        </p:nvPicPr>
        <p:blipFill>
          <a:blip r:embed="rId2"/>
          <a:srcRect b="63896"/>
          <a:stretch>
            <a:fillRect/>
          </a:stretch>
        </p:blipFill>
        <p:spPr>
          <a:xfrm>
            <a:off x="1903730" y="389255"/>
            <a:ext cx="9130665" cy="32023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6-04 10-30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075" y="1247775"/>
            <a:ext cx="4542790" cy="299021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2023.6.6</a:t>
            </a:r>
            <a:endParaRPr lang="en-US" altLang="en-US"/>
          </a:p>
        </p:txBody>
      </p:sp>
      <p:pic>
        <p:nvPicPr>
          <p:cNvPr id="3" name="图片 2" descr="Screenshot from 2023-06-03 22-49-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3657600"/>
            <a:ext cx="10058400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2238375"/>
            <a:ext cx="9704705" cy="2533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1325" y="953135"/>
            <a:ext cx="109150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NLinear将当前输入减去上一时刻的值，然后经过一个线性层，然后在做最终的预测前将减去的部分加回来。对数据的加减是对输入序列的一种简单标准化(normalizaiton)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g0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226060"/>
            <a:ext cx="10058400" cy="640524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2023.6.9</a:t>
            </a:r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891540" y="2757805"/>
          <a:ext cx="5588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shape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audio_spec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[batch, 3, 256, 384]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audio_mfcc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[batch, 300, 40]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audio_wav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[batch, 48000]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D_linear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3-06-09 22-2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1090930"/>
            <a:ext cx="5447665" cy="357124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121920" y="4992370"/>
          <a:ext cx="55880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  <a:gridCol w="1397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0.8837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1.1109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58.34%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56.91%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图片 4" descr="Screenshot from 2023-06-09 22-51-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180" y="1090930"/>
            <a:ext cx="5342890" cy="357124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5885180" y="4992370"/>
          <a:ext cx="55880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  <a:gridCol w="1397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0.8097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1.1729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58.28%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57.09%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306070" y="615950"/>
          <a:ext cx="5588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  <a:gridCol w="1397000"/>
              </a:tblGrid>
              <a:tr h="38100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MFCC—Nlinear</a:t>
                      </a:r>
                      <a:endParaRPr lang="en-US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1.1280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1.1193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55.56%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54.94%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2023.6.10</a:t>
            </a:r>
            <a:endParaRPr lang="en-US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spec_Dlinear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wav2vec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cat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图片 5" descr="Screenshot from 2023-06-10 18-11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" y="2483485"/>
            <a:ext cx="4857115" cy="1285875"/>
          </a:xfrm>
          <a:prstGeom prst="rect">
            <a:avLst/>
          </a:prstGeom>
        </p:spPr>
      </p:pic>
      <p:pic>
        <p:nvPicPr>
          <p:cNvPr id="7" name="图片 6" descr="Screenshot from 2023-06-10 18-11-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" y="1088390"/>
            <a:ext cx="4809490" cy="1285875"/>
          </a:xfrm>
          <a:prstGeom prst="rect">
            <a:avLst/>
          </a:prstGeom>
        </p:spPr>
      </p:pic>
      <p:sp>
        <p:nvSpPr>
          <p:cNvPr id="8" name="流程图: 可选过程 7"/>
          <p:cNvSpPr/>
          <p:nvPr/>
        </p:nvSpPr>
        <p:spPr>
          <a:xfrm>
            <a:off x="195580" y="3943985"/>
            <a:ext cx="4674870" cy="59372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由于dropout设置较少，两次训练雷同</a:t>
            </a:r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6-11 00-38-58"/>
          <p:cNvPicPr>
            <a:picLocks noChangeAspect="1"/>
          </p:cNvPicPr>
          <p:nvPr/>
        </p:nvPicPr>
        <p:blipFill>
          <a:blip r:embed="rId1"/>
          <a:srcRect t="16998" b="5537"/>
          <a:stretch>
            <a:fillRect/>
          </a:stretch>
        </p:blipFill>
        <p:spPr>
          <a:xfrm>
            <a:off x="321945" y="156210"/>
            <a:ext cx="10058400" cy="3162935"/>
          </a:xfrm>
          <a:prstGeom prst="rect">
            <a:avLst/>
          </a:prstGeom>
        </p:spPr>
      </p:pic>
      <p:pic>
        <p:nvPicPr>
          <p:cNvPr id="3" name="图片 2" descr="Screenshot from 2023-06-11 00-43-09"/>
          <p:cNvPicPr>
            <a:picLocks noChangeAspect="1"/>
          </p:cNvPicPr>
          <p:nvPr/>
        </p:nvPicPr>
        <p:blipFill>
          <a:blip r:embed="rId2"/>
          <a:srcRect t="16208" b="11376"/>
          <a:stretch>
            <a:fillRect/>
          </a:stretch>
        </p:blipFill>
        <p:spPr>
          <a:xfrm>
            <a:off x="447675" y="3712210"/>
            <a:ext cx="10058400" cy="314071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4300" y="1564640"/>
            <a:ext cx="37357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目的：防止模型过拟合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原理：在损失函数上加上某些规则（限制），缩小解空间，从而减少求出过拟合解的可能性</a:t>
            </a:r>
            <a:endParaRPr lang="zh-CN" altLang="en-US"/>
          </a:p>
        </p:txBody>
      </p:sp>
      <p:pic>
        <p:nvPicPr>
          <p:cNvPr id="4" name="图片 3" descr="Screenshot from 2023-06-11 12-56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510" y="257810"/>
            <a:ext cx="5761990" cy="1371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42180" y="1717675"/>
            <a:ext cx="52006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0范数，向量中非零元素的个数。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1范数，为绝对值之和。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2范数，就是通常意义上的模。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+</a:t>
            </a:r>
            <a:r>
              <a:rPr lang="en-US" altLang="zh-CN">
                <a:latin typeface="AR PL UKai CN" panose="02000503000000000000" charset="-122"/>
                <a:ea typeface="AR PL UKai CN" panose="02000503000000000000" charset="-122"/>
              </a:rPr>
              <a:t>∞</a:t>
            </a:r>
            <a:r>
              <a:rPr lang="zh-CN" altLang="en-US"/>
              <a:t>范数，即求向量元素绝对值中的最值</a:t>
            </a:r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2023/06/20</a:t>
            </a:r>
            <a:endParaRPr lang="en-US" altLang="zh-CN" sz="40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" name="图片 59" descr="Screenshot from 2023-06-20 20-27-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" y="13335"/>
            <a:ext cx="10597515" cy="2781935"/>
          </a:xfrm>
          <a:prstGeom prst="rect">
            <a:avLst/>
          </a:prstGeom>
        </p:spPr>
      </p:pic>
      <p:pic>
        <p:nvPicPr>
          <p:cNvPr id="4" name="图片 3" descr="1160281-20181216215120003-1044707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2620645"/>
            <a:ext cx="6156960" cy="3594100"/>
          </a:xfrm>
          <a:prstGeom prst="rect">
            <a:avLst/>
          </a:prstGeom>
        </p:spPr>
      </p:pic>
      <p:pic>
        <p:nvPicPr>
          <p:cNvPr id="5" name="图片 4" descr="1160281-20181216215131140-8810529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75" y="2393950"/>
            <a:ext cx="5285105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" name="图片 63" descr="1160281-20181216215307510-17407116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" y="46990"/>
            <a:ext cx="7310120" cy="2609215"/>
          </a:xfrm>
          <a:prstGeom prst="rect">
            <a:avLst/>
          </a:prstGeom>
        </p:spPr>
      </p:pic>
      <p:pic>
        <p:nvPicPr>
          <p:cNvPr id="62" name="图片 62" descr="1160281-20181216215320956-10452553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" y="2925763"/>
            <a:ext cx="6644640" cy="350456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2023/06/2</a:t>
            </a:r>
            <a:r>
              <a:rPr lang="en-US" altLang="en-US" sz="4000"/>
              <a:t>6</a:t>
            </a:r>
            <a:endParaRPr lang="en-US" altLang="en-US" sz="40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Bert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16835" y="590550"/>
            <a:ext cx="73590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BERT 的创建者</a:t>
            </a:r>
            <a:r>
              <a:rPr lang="en-US" altLang="zh-CN"/>
              <a:t>:</a:t>
            </a:r>
            <a:r>
              <a:rPr lang="zh-CN" altLang="en-US"/>
              <a:t>当使用超过 512 个令牌的文档时，性能会显着下降。</a:t>
            </a:r>
            <a:endParaRPr lang="zh-CN" altLang="en-US"/>
          </a:p>
        </p:txBody>
      </p:sp>
      <p:pic>
        <p:nvPicPr>
          <p:cNvPr id="3" name="图片 2" descr="aHR0cHM6Ly9tbWJpei5xcGljLmNuL21tYml6X3BuZy81ZmtuYjQxaWI5cUVZZGJpYWJpY3kwYm5YbzgxR2RFYlFpYktESUk0akRGaWF1ekZpYlFmWkNNUG8zRmdBTFR0V2UwWkl3d1RVT3lVMTZ5eER0RWh4aWI3NDEzZmcvNjQ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1162685"/>
            <a:ext cx="3418840" cy="3048635"/>
          </a:xfrm>
          <a:prstGeom prst="rect">
            <a:avLst/>
          </a:prstGeom>
        </p:spPr>
      </p:pic>
      <p:pic>
        <p:nvPicPr>
          <p:cNvPr id="6" name="图片 5" descr="Screenshot from 2023-03-23 15-06-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4424045"/>
            <a:ext cx="3841750" cy="15989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96895" y="5238115"/>
            <a:ext cx="281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t：句中该词序号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d：词向量维度（512）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i：嵌入的维度序号</a:t>
            </a:r>
            <a:endParaRPr lang="en-US" altLang="zh-CN"/>
          </a:p>
        </p:txBody>
      </p:sp>
      <p:pic>
        <p:nvPicPr>
          <p:cNvPr id="5" name="图片 4" descr="pg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45" y="1405255"/>
            <a:ext cx="5664200" cy="19564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35825" y="468503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Clipping（截断法）</a:t>
            </a:r>
            <a:endParaRPr lang="zh-CN" altLang="en-US"/>
          </a:p>
          <a:p>
            <a:r>
              <a:rPr lang="zh-CN" altLang="en-US"/>
              <a:t>Pooling（池化法）</a:t>
            </a:r>
            <a:endParaRPr lang="zh-CN" altLang="en-US"/>
          </a:p>
          <a:p>
            <a:r>
              <a:rPr lang="zh-CN" altLang="en-US"/>
              <a:t>划窗法</a:t>
            </a:r>
            <a:endParaRPr lang="zh-CN" altLang="en-US"/>
          </a:p>
          <a:p>
            <a:r>
              <a:rPr lang="zh-CN" altLang="en-US"/>
              <a:t>RNN（循环法）</a:t>
            </a:r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0230625-2147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150495"/>
            <a:ext cx="6181090" cy="2524125"/>
          </a:xfrm>
          <a:prstGeom prst="rect">
            <a:avLst/>
          </a:prstGeom>
        </p:spPr>
      </p:pic>
      <p:pic>
        <p:nvPicPr>
          <p:cNvPr id="3" name="图片 2" descr="20230625-2148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53360"/>
            <a:ext cx="4457065" cy="328549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AutoEncoder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栈式自编码(SAE)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v2-8f16ee4ca80f1d5057d1b5c656c94a61_720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1044575"/>
            <a:ext cx="3106420" cy="2106295"/>
          </a:xfrm>
          <a:prstGeom prst="rect">
            <a:avLst/>
          </a:prstGeom>
        </p:spPr>
      </p:pic>
      <p:pic>
        <p:nvPicPr>
          <p:cNvPr id="4" name="图片 3" descr="Screenshot from 2023-06-26 19-47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3257550"/>
            <a:ext cx="3717290" cy="2322195"/>
          </a:xfrm>
          <a:prstGeom prst="rect">
            <a:avLst/>
          </a:prstGeom>
        </p:spPr>
      </p:pic>
      <p:pic>
        <p:nvPicPr>
          <p:cNvPr id="5" name="图片 4" descr="Screenshot from 2023-06-26 19-48-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15" y="5473065"/>
            <a:ext cx="4448810" cy="53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120" y="6057900"/>
            <a:ext cx="55264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优点：泛化性强，无监督</a:t>
            </a:r>
            <a:r>
              <a:rPr lang="en-US" altLang="zh-CN"/>
              <a:t>，</a:t>
            </a:r>
            <a:r>
              <a:rPr lang="zh-CN" altLang="en-US"/>
              <a:t>不需数据标注</a:t>
            </a:r>
            <a:endParaRPr lang="zh-CN" altLang="en-US"/>
          </a:p>
          <a:p>
            <a:r>
              <a:rPr lang="zh-CN" altLang="en-US"/>
              <a:t>缺点：针对异常识别场景，训练数据需要为正常数据。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327400" y="1569085"/>
            <a:ext cx="2762885" cy="121094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层数深，低层网络梯度弥散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0145" y="1112520"/>
            <a:ext cx="56095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栈式自编码(SAE)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参数预训练</a:t>
            </a:r>
            <a:r>
              <a:rPr lang="en-US" altLang="zh-CN"/>
              <a:t>，每一层进行参数初始化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对每层网络的进行逐层无监督训练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无监督训练完毕后，用有标签的数据对整个网络的参数继续进行梯度下降调整。</a:t>
            </a:r>
            <a:endParaRPr lang="en-US" altLang="zh-CN"/>
          </a:p>
        </p:txBody>
      </p:sp>
      <p:sp>
        <p:nvSpPr>
          <p:cNvPr id="12" name="矩形标注 11"/>
          <p:cNvSpPr/>
          <p:nvPr/>
        </p:nvSpPr>
        <p:spPr>
          <a:xfrm>
            <a:off x="9312910" y="2588895"/>
            <a:ext cx="1765300" cy="979170"/>
          </a:xfrm>
          <a:prstGeom prst="wedgeRectCallout">
            <a:avLst>
              <a:gd name="adj1" fmla="val -19136"/>
              <a:gd name="adj2" fmla="val -685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无监督预训练</a:t>
            </a:r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ym typeface="+mn-ea"/>
              </a:rPr>
              <a:t>有监督微调</a:t>
            </a:r>
            <a:endParaRPr lang="en-US" altLang="zh-CN"/>
          </a:p>
        </p:txBody>
      </p:sp>
      <p:sp>
        <p:nvSpPr>
          <p:cNvPr id="14" name="爆炸形 1 13"/>
          <p:cNvSpPr/>
          <p:nvPr/>
        </p:nvSpPr>
        <p:spPr>
          <a:xfrm>
            <a:off x="9140825" y="3998595"/>
            <a:ext cx="2796540" cy="1849755"/>
          </a:xfrm>
          <a:prstGeom prst="irregularSeal1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变分自编码器（VAE）</a:t>
            </a:r>
            <a:endParaRPr lang="en-US" altLang="zh-CN"/>
          </a:p>
        </p:txBody>
      </p:sp>
      <p:pic>
        <p:nvPicPr>
          <p:cNvPr id="16" name="图片 15" descr="20200709202857623"/>
          <p:cNvPicPr>
            <a:picLocks noChangeAspect="1"/>
          </p:cNvPicPr>
          <p:nvPr/>
        </p:nvPicPr>
        <p:blipFill>
          <a:blip r:embed="rId4"/>
          <a:srcRect l="7183" r="6365" b="5493"/>
          <a:stretch>
            <a:fillRect/>
          </a:stretch>
        </p:blipFill>
        <p:spPr>
          <a:xfrm>
            <a:off x="5852160" y="2903855"/>
            <a:ext cx="2940050" cy="348488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sz="1400">
              <a:solidFill>
                <a:schemeClr val="tx1"/>
              </a:solidFill>
              <a:sym typeface="+mn-ea"/>
            </a:endParaRPr>
          </a:p>
          <a:p>
            <a:pPr algn="ctr"/>
            <a:endParaRPr 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v2-ea18b0b476a072878699a04d0866ccbf_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75" y="2458720"/>
            <a:ext cx="5024120" cy="4333240"/>
          </a:xfrm>
          <a:prstGeom prst="rect">
            <a:avLst/>
          </a:prstGeom>
        </p:spPr>
      </p:pic>
      <p:pic>
        <p:nvPicPr>
          <p:cNvPr id="5" name="图片 4" descr="v2-dc54f6dbb398b6716bc706045c8c63f3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" y="1229360"/>
            <a:ext cx="2338070" cy="13157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26055" y="1564640"/>
            <a:ext cx="28765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P（</a:t>
            </a:r>
            <a:r>
              <a:rPr lang="en-US" altLang="zh-CN"/>
              <a:t>z</a:t>
            </a:r>
            <a:r>
              <a:rPr lang="zh-CN" altLang="en-US"/>
              <a:t>）就是隐层变量Z的分布又称先验分布</a:t>
            </a:r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2023/06/2</a:t>
            </a:r>
            <a:r>
              <a:rPr lang="en-US" altLang="en-US" sz="4000"/>
              <a:t>6</a:t>
            </a:r>
            <a:endParaRPr lang="en-US" altLang="en-US" sz="4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9155" y="1533525"/>
            <a:ext cx="100247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71500" indent="-571500" algn="l">
              <a:buFont typeface="Arial" panose="02080604020202020204" pitchFamily="34" charset="0"/>
              <a:buChar char="•"/>
            </a:pPr>
            <a:r>
              <a:rPr lang="en-US" altLang="en-US" sz="4000">
                <a:sym typeface="+mn-ea"/>
              </a:rPr>
              <a:t>AutoEncoder </a:t>
            </a:r>
            <a:r>
              <a:rPr lang="zh-CN" altLang="en-US" sz="4000">
                <a:sym typeface="+mn-ea"/>
              </a:rPr>
              <a:t>自编码器</a:t>
            </a:r>
            <a:endParaRPr lang="zh-CN" altLang="en-US" sz="4000">
              <a:sym typeface="+mn-ea"/>
            </a:endParaRPr>
          </a:p>
          <a:p>
            <a:pPr marL="571500" indent="-571500" algn="l">
              <a:buFont typeface="Arial" panose="02080604020202020204" pitchFamily="34" charset="0"/>
              <a:buChar char="•"/>
            </a:pPr>
            <a:r>
              <a:rPr lang="en-US" altLang="en-US" sz="4000"/>
              <a:t>Variational AutoEncoder变分自编码器</a:t>
            </a:r>
            <a:endParaRPr lang="en-US" altLang="en-US" sz="4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AutoEncoder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自编码器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8745" y="1254125"/>
            <a:ext cx="38557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自编码是一种非线性降维</a:t>
            </a:r>
            <a:r>
              <a:rPr lang="en-US" altLang="zh-CN"/>
              <a:t>方式</a:t>
            </a:r>
            <a:endParaRPr lang="en-US" altLang="zh-CN"/>
          </a:p>
        </p:txBody>
      </p:sp>
      <p:pic>
        <p:nvPicPr>
          <p:cNvPr id="7" name="图片 6" descr="pg0 (2)"/>
          <p:cNvPicPr>
            <a:picLocks noChangeAspect="1"/>
          </p:cNvPicPr>
          <p:nvPr/>
        </p:nvPicPr>
        <p:blipFill>
          <a:blip r:embed="rId1"/>
          <a:srcRect l="1540" t="15240" r="1540" b="1037"/>
          <a:stretch>
            <a:fillRect/>
          </a:stretch>
        </p:blipFill>
        <p:spPr>
          <a:xfrm>
            <a:off x="118745" y="3146425"/>
            <a:ext cx="5842635" cy="29184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745" y="2068195"/>
            <a:ext cx="5842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/>
              <a:t>目标：使隐藏层h包含高维输入X尽可能多的重要信息。</a:t>
            </a:r>
            <a:endParaRPr lang="en-US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680200" y="3825240"/>
            <a:ext cx="429768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latin typeface="Nimbus Roman" panose="00000500000000000000" charset="0"/>
                <a:cs typeface="Nimbus Roman" panose="00000500000000000000" charset="0"/>
                <a:sym typeface="+mn-ea"/>
              </a:rPr>
              <a:t> 层数深时低层网络梯度弥散时改进方案</a:t>
            </a:r>
            <a:endParaRPr lang="en-US" altLang="en-US"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endParaRPr lang="en-US" altLang="en-US"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参数预训练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逐层无监督训练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用有标签的数据调整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6680200" y="861695"/>
            <a:ext cx="538289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80604020202020204" pitchFamily="34" charset="0"/>
              <a:buNone/>
            </a:pPr>
            <a:r>
              <a:rPr lang="en-US" altLang="en-US">
                <a:sym typeface="+mn-ea"/>
              </a:rPr>
              <a:t>自编码</a:t>
            </a:r>
            <a:r>
              <a:rPr lang="zh-CN" altLang="en-US">
                <a:sym typeface="+mn-ea"/>
              </a:rPr>
              <a:t>器</a:t>
            </a:r>
            <a:r>
              <a:rPr lang="en-US" altLang="zh-CN">
                <a:sym typeface="+mn-ea"/>
              </a:rPr>
              <a:t>特点</a:t>
            </a:r>
            <a:endParaRPr lang="en-US" altLang="en-US"/>
          </a:p>
          <a:p>
            <a:pPr indent="0">
              <a:buFont typeface="Arial" panose="02080604020202020204" pitchFamily="34" charset="0"/>
              <a:buNone/>
            </a:pPr>
            <a:endParaRPr lang="en-US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/>
              <a:t>前馈神经网络：输出层的数据以及准确率</a:t>
            </a:r>
            <a:endParaRPr lang="en-US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/>
              <a:t>自编码</a:t>
            </a:r>
            <a:r>
              <a:rPr lang="zh-CN" altLang="en-US">
                <a:sym typeface="+mn-ea"/>
              </a:rPr>
              <a:t>器</a:t>
            </a:r>
            <a:r>
              <a:rPr lang="en-US" altLang="en-US"/>
              <a:t>：中间隐层的结果。</a:t>
            </a:r>
            <a:endParaRPr lang="en-US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AutoEncoder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自编码器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 descr="vae"/>
          <p:cNvPicPr>
            <a:picLocks noChangeAspect="1"/>
          </p:cNvPicPr>
          <p:nvPr/>
        </p:nvPicPr>
        <p:blipFill>
          <a:blip r:embed="rId1"/>
          <a:srcRect t="10590" r="9093"/>
          <a:stretch>
            <a:fillRect/>
          </a:stretch>
        </p:blipFill>
        <p:spPr>
          <a:xfrm>
            <a:off x="119380" y="2538095"/>
            <a:ext cx="4865370" cy="35883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8155" y="1287780"/>
            <a:ext cx="4285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实验：手写字母编码与重建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数据集：Minst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优化目标：原图和重建图均方误差</a:t>
            </a:r>
            <a:endParaRPr lang="en-US"/>
          </a:p>
        </p:txBody>
      </p:sp>
      <p:grpSp>
        <p:nvGrpSpPr>
          <p:cNvPr id="6" name="组合 5"/>
          <p:cNvGrpSpPr/>
          <p:nvPr/>
        </p:nvGrpSpPr>
        <p:grpSpPr>
          <a:xfrm>
            <a:off x="6961505" y="4420870"/>
            <a:ext cx="4261485" cy="1981200"/>
            <a:chOff x="10963" y="6962"/>
            <a:chExt cx="6711" cy="3120"/>
          </a:xfrm>
        </p:grpSpPr>
        <p:pic>
          <p:nvPicPr>
            <p:cNvPr id="9" name="图片 8" descr="x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56" y="6962"/>
              <a:ext cx="3219" cy="3120"/>
            </a:xfrm>
            <a:prstGeom prst="rect">
              <a:avLst/>
            </a:prstGeom>
          </p:spPr>
        </p:pic>
        <p:pic>
          <p:nvPicPr>
            <p:cNvPr id="10" name="图片 9" descr="x_ha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63" y="6962"/>
              <a:ext cx="3179" cy="3083"/>
            </a:xfrm>
            <a:prstGeom prst="rect">
              <a:avLst/>
            </a:prstGeom>
          </p:spPr>
        </p:pic>
      </p:grpSp>
      <p:pic>
        <p:nvPicPr>
          <p:cNvPr id="2" name="图片 1" descr="x_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25" y="1928495"/>
            <a:ext cx="2019300" cy="1957705"/>
          </a:xfrm>
          <a:prstGeom prst="rect">
            <a:avLst/>
          </a:prstGeom>
        </p:spPr>
      </p:pic>
      <p:pic>
        <p:nvPicPr>
          <p:cNvPr id="3" name="图片 2" descr="x_hat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805" y="1905000"/>
            <a:ext cx="2044065" cy="198120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224395" y="958850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input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45320" y="958850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out</a:t>
            </a:r>
            <a:r>
              <a:rPr lang="en-US" sz="1400">
                <a:solidFill>
                  <a:schemeClr val="tx1"/>
                </a:solidFill>
                <a:sym typeface="+mn-ea"/>
              </a:rPr>
              <a:t>put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440045" y="2611755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epoch 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440045" y="5127625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epoch90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变分自编码器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7710" y="1311910"/>
            <a:ext cx="5579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主要目标：</a:t>
            </a:r>
            <a:r>
              <a:rPr lang="zh-CN" altLang="en-US"/>
              <a:t>构建从隐变量 </a:t>
            </a:r>
            <a:r>
              <a:rPr lang="en-US"/>
              <a:t>Z</a:t>
            </a:r>
            <a:r>
              <a:rPr lang="zh-CN" altLang="en-US"/>
              <a:t>生成目标数据 X 的模型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假设：样本服从某些常见的分布(eg:正态)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62050" y="4497070"/>
            <a:ext cx="43922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p(Z) </a:t>
            </a:r>
            <a:r>
              <a:rPr lang="en-US" altLang="zh-CN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：先验分布，假设为正态分布</a:t>
            </a:r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</a:rPr>
              <a:t>p(X</a:t>
            </a:r>
            <a:r>
              <a:rPr lang="en-US" altLang="zh-CN" baseline="30000">
                <a:latin typeface="DejaVu Math TeX Gyre" panose="02000503000000000000" charset="0"/>
                <a:ea typeface="DejaVu Math TeX Gyre" panose="02000503000000000000" charset="0"/>
              </a:rPr>
              <a:t>R</a:t>
            </a:r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</a:rPr>
              <a:t>|Z)</a:t>
            </a:r>
            <a:r>
              <a:rPr lang="zh-CN" altLang="en-US"/>
              <a:t> </a:t>
            </a:r>
            <a:r>
              <a:rPr lang="en-US" altLang="zh-CN"/>
              <a:t>:后验分布,</a:t>
            </a:r>
            <a:r>
              <a:rPr lang="zh-CN" altLang="en-US"/>
              <a:t>由 Z 来生成 X的模型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437515" y="2684145"/>
            <a:ext cx="5704840" cy="1301115"/>
            <a:chOff x="673" y="2817"/>
            <a:chExt cx="8984" cy="2049"/>
          </a:xfrm>
        </p:grpSpPr>
        <p:pic>
          <p:nvPicPr>
            <p:cNvPr id="11" name="图片 10" descr="pg0 (6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73" y="2926"/>
              <a:ext cx="8984" cy="1800"/>
            </a:xfrm>
            <a:prstGeom prst="rect">
              <a:avLst/>
            </a:prstGeom>
          </p:spPr>
        </p:pic>
        <p:sp>
          <p:nvSpPr>
            <p:cNvPr id="12" name="圆角矩形 11"/>
            <p:cNvSpPr/>
            <p:nvPr/>
          </p:nvSpPr>
          <p:spPr>
            <a:xfrm>
              <a:off x="4375" y="2817"/>
              <a:ext cx="5197" cy="2049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6" name="图片 15" descr="v2-c256aa96833c4982e9fc60c8d350deae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695" y="1311910"/>
            <a:ext cx="480568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635000"/>
            <a:ext cx="10058400" cy="510921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</a:t>
            </a:r>
            <a:r>
              <a:rPr lang="en-US" altLang="en-US" sz="4000"/>
              <a:t>07/02</a:t>
            </a:r>
            <a:endParaRPr lang="en-US" altLang="en-US" sz="40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Huffman compression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哈夫曼编码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6380" y="2302510"/>
            <a:ext cx="32372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字符编码</a:t>
            </a:r>
            <a:r>
              <a:rPr lang="en-US" altLang="zh-CN"/>
              <a:t>两原理：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前缀不重复（prefix-free）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频率相关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246380" y="1353820"/>
          <a:ext cx="262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/>
                <a:gridCol w="436880"/>
                <a:gridCol w="436880"/>
                <a:gridCol w="436880"/>
                <a:gridCol w="8737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图片 4" descr="Screenshot from 2023-06-30 23-44-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145" y="250190"/>
            <a:ext cx="5483860" cy="283781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1901825" y="3933190"/>
          <a:ext cx="952817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/>
                <a:gridCol w="1044575"/>
                <a:gridCol w="1054735"/>
                <a:gridCol w="1064260"/>
                <a:gridCol w="1087755"/>
                <a:gridCol w="42094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编码方式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F(50.0%)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C(25.0%)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R(12.5%)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编码长度期望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</a:rPr>
                        <a:t>error</a:t>
                      </a:r>
                      <a:endParaRPr lang="en-US" altLang="zh-CN" sz="16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方式</a:t>
                      </a:r>
                      <a:r>
                        <a:rPr lang="en-US" altLang="en-US" sz="1600">
                          <a:sym typeface="+mn-ea"/>
                        </a:rPr>
                        <a:t>2</a:t>
                      </a:r>
                      <a:endParaRPr lang="en-US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2*0.5+3*0.25+1*0.125+3*0.125=2.25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方式3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1*0.5+2*0.25+3*0.125+3*0.125=1.75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Huffman compression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哈夫曼编码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29565" y="1049020"/>
          <a:ext cx="952817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/>
                <a:gridCol w="1044575"/>
                <a:gridCol w="1054735"/>
                <a:gridCol w="1064260"/>
                <a:gridCol w="1087755"/>
                <a:gridCol w="42094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编码方式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F(50.0%)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C(25.0%)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R(12.5%)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编码长度期望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</a:rPr>
                        <a:t>error</a:t>
                      </a:r>
                      <a:endParaRPr lang="en-US" altLang="zh-CN" sz="16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方式</a:t>
                      </a:r>
                      <a:r>
                        <a:rPr lang="en-US" altLang="en-US" sz="1600">
                          <a:sym typeface="+mn-ea"/>
                        </a:rPr>
                        <a:t>2</a:t>
                      </a:r>
                      <a:endParaRPr lang="en-US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2*0.5+3*0.25+1*0.125+3*0.125=2.25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方式3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1*0.5+2*0.25+3*0.125+3*0.125=1.75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图片 1" descr="pg0 (1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2795270"/>
            <a:ext cx="4476115" cy="35998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59150" y="2795270"/>
            <a:ext cx="32372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字符编码</a:t>
            </a:r>
            <a:r>
              <a:rPr lang="en-US" altLang="zh-CN"/>
              <a:t>两原理：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前缀不重复（prefix-free）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频率相关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52615" y="2656840"/>
            <a:ext cx="32372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长度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F：    -log</a:t>
            </a:r>
            <a:r>
              <a:rPr lang="en-US" altLang="zh-CN" baseline="-25000"/>
              <a:t>2</a:t>
            </a:r>
            <a:r>
              <a:rPr lang="en-US" altLang="zh-CN"/>
              <a:t>0.5=1</a:t>
            </a:r>
            <a:endParaRPr lang="zh-CN" altLang="en-US"/>
          </a:p>
          <a:p>
            <a:r>
              <a:rPr lang="en-US" altLang="zh-CN"/>
              <a:t>C：</a:t>
            </a: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-</a:t>
            </a:r>
            <a:r>
              <a:rPr lang="en-US" altLang="zh-CN">
                <a:sym typeface="+mn-ea"/>
              </a:rPr>
              <a:t>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</a:t>
            </a:r>
            <a:r>
              <a:rPr lang="en-US" altLang="en-US">
                <a:sym typeface="+mn-ea"/>
              </a:rPr>
              <a:t>2</a:t>
            </a:r>
            <a:r>
              <a:rPr lang="en-US" altLang="zh-CN">
                <a:sym typeface="+mn-ea"/>
              </a:rPr>
              <a:t>5=</a:t>
            </a:r>
            <a:r>
              <a:rPr lang="en-US" altLang="en-US">
                <a:sym typeface="+mn-ea"/>
              </a:rPr>
              <a:t>2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R</a:t>
            </a:r>
            <a:r>
              <a:rPr lang="en-US" altLang="zh-CN">
                <a:sym typeface="+mn-ea"/>
              </a:rPr>
              <a:t>：    </a:t>
            </a:r>
            <a:r>
              <a:rPr lang="en-US" altLang="en-US">
                <a:sym typeface="+mn-ea"/>
              </a:rPr>
              <a:t>-</a:t>
            </a:r>
            <a:r>
              <a:rPr lang="en-US" altLang="zh-CN">
                <a:sym typeface="+mn-ea"/>
              </a:rPr>
              <a:t>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</a:t>
            </a:r>
            <a:r>
              <a:rPr lang="en-US" altLang="en-US">
                <a:sym typeface="+mn-ea"/>
              </a:rPr>
              <a:t>12</a:t>
            </a:r>
            <a:r>
              <a:rPr lang="en-US" altLang="zh-CN">
                <a:sym typeface="+mn-ea"/>
              </a:rPr>
              <a:t>5=</a:t>
            </a:r>
            <a:r>
              <a:rPr lang="en-US" altLang="en-US">
                <a:sym typeface="+mn-ea"/>
              </a:rPr>
              <a:t>3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S</a:t>
            </a:r>
            <a:r>
              <a:rPr lang="en-US" altLang="zh-CN">
                <a:sym typeface="+mn-ea"/>
              </a:rPr>
              <a:t>：    </a:t>
            </a:r>
            <a:r>
              <a:rPr lang="en-US" altLang="en-US">
                <a:sym typeface="+mn-ea"/>
              </a:rPr>
              <a:t>-</a:t>
            </a:r>
            <a:r>
              <a:rPr lang="en-US" altLang="zh-CN">
                <a:sym typeface="+mn-ea"/>
              </a:rPr>
              <a:t>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</a:t>
            </a:r>
            <a:r>
              <a:rPr lang="en-US" altLang="en-US">
                <a:sym typeface="+mn-ea"/>
              </a:rPr>
              <a:t>12</a:t>
            </a:r>
            <a:r>
              <a:rPr lang="en-US" altLang="zh-CN">
                <a:sym typeface="+mn-ea"/>
              </a:rPr>
              <a:t>5=</a:t>
            </a:r>
            <a:r>
              <a:rPr lang="en-US" altLang="en-US">
                <a:sym typeface="+mn-ea"/>
              </a:rPr>
              <a:t>3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921375" y="4410075"/>
            <a:ext cx="3808730" cy="10134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信息熵就是平均最小编码长度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 descr="Screenshot from 2023-07-01 09-24-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595" y="5749925"/>
            <a:ext cx="4352290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熵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信息熵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交叉熵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 descr="Screenshot from 2023-07-01 09-24-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25" y="2865755"/>
            <a:ext cx="3914140" cy="762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4325" y="4286885"/>
            <a:ext cx="40716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H(x)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(x) 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(x)dx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095" y="1007745"/>
            <a:ext cx="46482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熵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服从某一特定概率分布事件的理论最小平均编码长度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>
                <a:sym typeface="+mn-ea"/>
              </a:rPr>
              <a:t>熵在信息学中就是信息熵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6300470" y="156845"/>
          <a:ext cx="4251325" cy="38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575"/>
                <a:gridCol w="1054735"/>
                <a:gridCol w="1064260"/>
                <a:gridCol w="10877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F(50.0%)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C(25.0%)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R(12.5%)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S(12.5%)</a:t>
                      </a:r>
                      <a:endParaRPr lang="en-US" altLang="zh-CN" sz="1600" b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85840" y="1303020"/>
          <a:ext cx="468122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3925"/>
                <a:gridCol w="922655"/>
                <a:gridCol w="932180"/>
                <a:gridCol w="941070"/>
                <a:gridCol w="9613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/>
                        <a:t>one-hot</a:t>
                      </a:r>
                      <a:endParaRPr lang="en-US" altLang="en-US" sz="14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F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C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R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S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实际值q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预测值p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1/2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1/4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875655" y="657860"/>
            <a:ext cx="5689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把来自一个分布q的消息使用另一个分布p的最佳代码传达的平均消息长度）称为交叉熵。</a:t>
            </a:r>
            <a:endParaRPr lang="zh-CN" altLang="en-US"/>
          </a:p>
        </p:txBody>
      </p:sp>
      <p:pic>
        <p:nvPicPr>
          <p:cNvPr id="11" name="图片 10" descr="Screenshot from 2023-07-01 11-26-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80" y="2522855"/>
            <a:ext cx="6400165" cy="847725"/>
          </a:xfrm>
          <a:prstGeom prst="rect">
            <a:avLst/>
          </a:prstGeom>
        </p:spPr>
      </p:pic>
      <p:pic>
        <p:nvPicPr>
          <p:cNvPr id="12" name="图片 11" descr="pg0 (11)"/>
          <p:cNvPicPr>
            <a:picLocks noChangeAspect="1"/>
          </p:cNvPicPr>
          <p:nvPr/>
        </p:nvPicPr>
        <p:blipFill>
          <a:blip r:embed="rId3"/>
          <a:srcRect l="4043" t="5257" r="3845" b="4304"/>
          <a:stretch>
            <a:fillRect/>
          </a:stretch>
        </p:blipFill>
        <p:spPr>
          <a:xfrm>
            <a:off x="6009005" y="3147060"/>
            <a:ext cx="3185795" cy="25158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68190" y="5740400"/>
            <a:ext cx="75907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用p表示q所需最佳编码平均长度</a:t>
            </a:r>
            <a:endParaRPr lang="en-US" altLang="zh-CN"/>
          </a:p>
          <a:p>
            <a:r>
              <a:rPr lang="en-US" altLang="zh-CN"/>
              <a:t>H</a:t>
            </a:r>
            <a:r>
              <a:rPr lang="en-US" altLang="zh-CN" baseline="-25000"/>
              <a:t>p</a:t>
            </a:r>
            <a:r>
              <a:rPr lang="en-US" altLang="zh-CN"/>
              <a:t>(q)=-{1*log</a:t>
            </a:r>
            <a:r>
              <a:rPr lang="en-US" altLang="zh-CN" baseline="-25000"/>
              <a:t>2</a:t>
            </a:r>
            <a:r>
              <a:rPr lang="en-US" altLang="zh-CN"/>
              <a:t>0.5+0*log</a:t>
            </a:r>
            <a:r>
              <a:rPr lang="en-US" altLang="zh-CN" baseline="-25000"/>
              <a:t>2</a:t>
            </a:r>
            <a:r>
              <a:rPr lang="en-US" altLang="zh-CN"/>
              <a:t>0.25+0*log</a:t>
            </a:r>
            <a:r>
              <a:rPr lang="en-US" altLang="zh-CN" baseline="-25000"/>
              <a:t>2</a:t>
            </a:r>
            <a:r>
              <a:rPr lang="en-US" altLang="zh-CN"/>
              <a:t>0.125+0*log</a:t>
            </a:r>
            <a:r>
              <a:rPr lang="en-US" altLang="zh-CN" baseline="-25000"/>
              <a:t>2</a:t>
            </a:r>
            <a:r>
              <a:rPr lang="en-US" altLang="zh-CN"/>
              <a:t>0.125}=1</a:t>
            </a:r>
            <a:endParaRPr lang="en-US" altLang="zh-CN"/>
          </a:p>
          <a:p>
            <a:r>
              <a:rPr lang="en-US" altLang="zh-CN">
                <a:sym typeface="+mn-ea"/>
              </a:rPr>
              <a:t>H</a:t>
            </a:r>
            <a:r>
              <a:rPr lang="en-US" altLang="en-US" baseline="-25000">
                <a:sym typeface="+mn-ea"/>
              </a:rPr>
              <a:t>q</a:t>
            </a:r>
            <a:r>
              <a:rPr lang="en-US" altLang="zh-CN">
                <a:sym typeface="+mn-ea"/>
              </a:rPr>
              <a:t>(q)=-{1*log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en-US">
                <a:sym typeface="+mn-ea"/>
              </a:rPr>
              <a:t>1</a:t>
            </a:r>
            <a:r>
              <a:rPr lang="en-US" altLang="zh-CN">
                <a:sym typeface="+mn-ea"/>
              </a:rPr>
              <a:t>+0*log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0.25+0*log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0.125+0*log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0.125}=</a:t>
            </a:r>
            <a:r>
              <a:rPr lang="en-US" altLang="en-US">
                <a:sym typeface="+mn-ea"/>
              </a:rPr>
              <a:t>0</a:t>
            </a:r>
            <a:endParaRPr lang="en-US" altLang="en-US">
              <a:sym typeface="+mn-ea"/>
            </a:endParaRPr>
          </a:p>
          <a:p>
            <a:r>
              <a:rPr lang="en-US" altLang="zh-CN">
                <a:sym typeface="+mn-ea"/>
              </a:rPr>
              <a:t>H</a:t>
            </a:r>
            <a:r>
              <a:rPr lang="en-US" altLang="en-US" baseline="-25000">
                <a:sym typeface="+mn-ea"/>
              </a:rPr>
              <a:t>q</a:t>
            </a:r>
            <a:r>
              <a:rPr lang="en-US" altLang="zh-CN">
                <a:sym typeface="+mn-ea"/>
              </a:rPr>
              <a:t>(</a:t>
            </a:r>
            <a:r>
              <a:rPr lang="en-US" altLang="en-US">
                <a:sym typeface="+mn-ea"/>
              </a:rPr>
              <a:t>p</a:t>
            </a:r>
            <a:r>
              <a:rPr lang="en-US" altLang="zh-CN">
                <a:sym typeface="+mn-ea"/>
              </a:rPr>
              <a:t>)</a:t>
            </a:r>
            <a:r>
              <a:rPr lang="en-US" altLang="en-US">
                <a:sym typeface="+mn-ea"/>
              </a:rPr>
              <a:t>=</a:t>
            </a:r>
            <a:r>
              <a:rPr lang="en-US" altLang="en-US">
                <a:latin typeface="AR PL UKai CN" panose="02000503000000000000" charset="-122"/>
                <a:ea typeface="AR PL UKai CN" panose="02000503000000000000" charset="-122"/>
                <a:sym typeface="+mn-ea"/>
              </a:rPr>
              <a:t>∞</a:t>
            </a:r>
            <a:endParaRPr lang="en-US" altLang="zh-CN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KL散度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57480" y="1070610"/>
          <a:ext cx="468122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3925"/>
                <a:gridCol w="922655"/>
                <a:gridCol w="932180"/>
                <a:gridCol w="941070"/>
                <a:gridCol w="9613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/>
                        <a:t>one-hot</a:t>
                      </a:r>
                      <a:endParaRPr lang="en-US" altLang="en-US" sz="14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F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C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R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S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实际值p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预测值p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1/2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1/4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2885" y="2461895"/>
            <a:ext cx="238569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>
                <a:sym typeface="+mn-ea"/>
              </a:rPr>
              <a:t>实际值p</a:t>
            </a:r>
            <a:r>
              <a:rPr lang="en-US" altLang="zh-CN">
                <a:sym typeface="+mn-ea"/>
              </a:rPr>
              <a:t>最小编码长度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9720" y="2898775"/>
            <a:ext cx="38188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H(p) = -1*log</a:t>
            </a:r>
            <a:r>
              <a:rPr lang="en-US" altLang="zh-CN" baseline="-25000"/>
              <a:t>2</a:t>
            </a:r>
            <a:r>
              <a:rPr lang="en-US" altLang="zh-CN"/>
              <a:t>1+......=0</a:t>
            </a:r>
            <a:endParaRPr lang="en-US" altLang="zh-CN"/>
          </a:p>
          <a:p>
            <a:r>
              <a:rPr lang="en-US" altLang="zh-CN"/>
              <a:t>用预测值q编码实际值p期望长度</a:t>
            </a:r>
            <a:endParaRPr lang="en-US" altLang="zh-CN"/>
          </a:p>
          <a:p>
            <a:r>
              <a:rPr lang="en-US" altLang="zh-CN">
                <a:sym typeface="+mn-ea"/>
              </a:rPr>
              <a:t>H</a:t>
            </a:r>
            <a:r>
              <a:rPr lang="en-US" altLang="en-US" baseline="-25000">
                <a:sym typeface="+mn-ea"/>
              </a:rPr>
              <a:t>q</a:t>
            </a:r>
            <a:r>
              <a:rPr lang="en-US" altLang="zh-CN">
                <a:sym typeface="+mn-ea"/>
              </a:rPr>
              <a:t>(</a:t>
            </a:r>
            <a:r>
              <a:rPr lang="en-US" altLang="en-US">
                <a:sym typeface="+mn-ea"/>
              </a:rPr>
              <a:t>p</a:t>
            </a:r>
            <a:r>
              <a:rPr lang="en-US" altLang="zh-CN">
                <a:sym typeface="+mn-ea"/>
              </a:rPr>
              <a:t>)</a:t>
            </a:r>
            <a:r>
              <a:rPr lang="en-US" altLang="zh-CN"/>
              <a:t> = 1</a:t>
            </a:r>
            <a:endParaRPr lang="en-US" altLang="zh-CN"/>
          </a:p>
        </p:txBody>
      </p:sp>
      <p:pic>
        <p:nvPicPr>
          <p:cNvPr id="4" name="图片 3" descr="Screenshot from 2023-07-01 11-45-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4507865"/>
            <a:ext cx="3590290" cy="7334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4185" y="3907155"/>
            <a:ext cx="35039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KL散度：</a:t>
            </a:r>
            <a:r>
              <a:rPr lang="zh-CN" altLang="en-US"/>
              <a:t>熵和交叉熵之间的差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99720" y="5241290"/>
            <a:ext cx="35039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KL散度：预测值为了表示实际值编码长度期望变长了多少</a:t>
            </a:r>
            <a:endParaRPr lang="en-US" altLang="en-US">
              <a:sym typeface="+mn-ea"/>
            </a:endParaRPr>
          </a:p>
        </p:txBody>
      </p:sp>
      <p:pic>
        <p:nvPicPr>
          <p:cNvPr id="9" name="图片 8" descr="Screenshot from 2023-07-01 15-17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65" y="1346835"/>
            <a:ext cx="6512560" cy="416496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67640" y="597535"/>
            <a:ext cx="468249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实际值p信息熵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∫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预测值q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信息熵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zh-CN" sz="2400">
                <a:sym typeface="+mn-ea"/>
              </a:rPr>
              <a:t>预测值</a:t>
            </a:r>
            <a:r>
              <a:rPr lang="en-US" altLang="en-US" sz="2400">
                <a:sym typeface="+mn-ea"/>
              </a:rPr>
              <a:t>q</a:t>
            </a:r>
            <a:r>
              <a:rPr lang="en-US" altLang="zh-CN" sz="2400">
                <a:sym typeface="+mn-ea"/>
              </a:rPr>
              <a:t>编码实际值</a:t>
            </a:r>
            <a:r>
              <a:rPr lang="en-US" altLang="en-US" sz="2400">
                <a:sym typeface="+mn-ea"/>
              </a:rPr>
              <a:t>p</a:t>
            </a:r>
            <a:r>
              <a:rPr lang="en-US" altLang="zh-CN" sz="2400">
                <a:sym typeface="+mn-ea"/>
              </a:rPr>
              <a:t>期望长度</a:t>
            </a:r>
            <a:endParaRPr lang="en-US" altLang="zh-CN" sz="2400">
              <a:sym typeface="+mn-ea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||q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en-US" sz="2400">
                <a:sym typeface="+mn-ea"/>
              </a:rPr>
              <a:t>KL散度(q编码p - p编码p)</a:t>
            </a:r>
            <a:endParaRPr lang="en-US" altLang="zh-CN" sz="2400">
              <a:sym typeface="+mn-ea"/>
            </a:endParaRPr>
          </a:p>
          <a:p>
            <a:pPr algn="ctr"/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KL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||q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 = 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||q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q/p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p,q均为高斯分布</a:t>
            </a:r>
            <a:endParaRPr lang="en-US" altLang="zh-CN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p~N(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μ</a:t>
            </a:r>
            <a:r>
              <a:rPr lang="en-US" altLang="zh-CN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1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,δ</a:t>
            </a:r>
            <a:r>
              <a:rPr lang="en-US" altLang="zh-CN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1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)，q~N(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μ</a:t>
            </a:r>
            <a:r>
              <a:rPr lang="en-US" altLang="en-US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,δ</a:t>
            </a:r>
            <a:r>
              <a:rPr lang="en-US" altLang="en-US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)</a:t>
            </a:r>
            <a:endParaRPr lang="en-US" altLang="zh-CN" sz="2400">
              <a:latin typeface="Abyssinica SIL" panose="02000000000000000000" charset="0"/>
              <a:cs typeface="Abyssinica SIL" panose="02000000000000000000" charset="0"/>
            </a:endParaRPr>
          </a:p>
        </p:txBody>
      </p:sp>
      <p:pic>
        <p:nvPicPr>
          <p:cNvPr id="3" name="图片 2" descr="Screenshot from 2023-07-01 15-30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1105" y="1433195"/>
            <a:ext cx="4271010" cy="1214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03900" y="234315"/>
            <a:ext cx="40716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∫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exp(-x</a:t>
            </a:r>
            <a:r>
              <a:rPr lang="en-US" sz="2400" baseline="30000">
                <a:latin typeface="Abyssinica SIL" panose="02000000000000000000" charset="0"/>
                <a:cs typeface="Abyssinica SIL" panose="02000000000000000000" charset="0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)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dx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=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π</a:t>
            </a:r>
            <a:r>
              <a:rPr lang="en-US" altLang="zh-CN" sz="2400" baseline="30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1/2</a:t>
            </a:r>
            <a:endParaRPr lang="en-US" altLang="zh-CN" sz="2400">
              <a:latin typeface="AR PL UKai CN" panose="02000503000000000000" charset="-122"/>
              <a:ea typeface="AR PL UKai CN" panose="02000503000000000000" charset="-122"/>
              <a:cs typeface="Abyssinica SIL" panose="02000000000000000000" charset="0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x</a:t>
            </a:r>
            <a:r>
              <a:rPr lang="en-US" altLang="zh-CN" sz="2400" baseline="30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exp(-x</a:t>
            </a:r>
            <a:r>
              <a:rPr lang="en-US" sz="2400" baseline="30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=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π</a:t>
            </a:r>
            <a:r>
              <a:rPr lang="en-US" altLang="zh-CN" sz="2400" baseline="30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1/2</a:t>
            </a:r>
            <a:r>
              <a:rPr lang="en-US" altLang="en-US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/2</a:t>
            </a:r>
            <a:endParaRPr lang="en-US" altLang="en-US" sz="2400">
              <a:latin typeface="AR PL UKai CN" panose="02000503000000000000" charset="-122"/>
              <a:ea typeface="AR PL UKai CN" panose="02000503000000000000" charset="-122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en-US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H(p(x))=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p(x)log</a:t>
            </a:r>
            <a:r>
              <a:rPr lang="en-US" altLang="zh-CN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p(x)dx</a:t>
            </a:r>
            <a:endParaRPr lang="en-US" altLang="zh-CN" sz="2400">
              <a:latin typeface="AR PL UKai CN" panose="02000503000000000000" charset="-122"/>
              <a:ea typeface="AR PL UKai CN" panose="02000503000000000000" charset="-122"/>
              <a:cs typeface="Abyssinica SIL" panose="02000000000000000000" charset="0"/>
            </a:endParaRPr>
          </a:p>
        </p:txBody>
      </p:sp>
      <p:pic>
        <p:nvPicPr>
          <p:cNvPr id="5" name="图片 4" descr="Screenshot from 2023-07-01 17-19-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690" y="2526665"/>
            <a:ext cx="6593840" cy="28022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13450" y="5303520"/>
            <a:ext cx="4474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q~N(0,1)   p(</a:t>
            </a:r>
            <a:r>
              <a:rPr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μ,δ</a:t>
            </a:r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)</a:t>
            </a:r>
            <a:endParaRPr lang="en-US" altLang="en-US">
              <a:latin typeface="Abyssinica SIL" panose="02000000000000000000" charset="0"/>
              <a:ea typeface="AR PL UKai CN" panose="02000503000000000000" charset="-122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zh-CN">
                <a:latin typeface="Abyssinica SIL" panose="02000000000000000000" charset="0"/>
                <a:cs typeface="Abyssinica SIL" panose="02000000000000000000" charset="0"/>
              </a:rPr>
              <a:t>KL(p,q)= -log</a:t>
            </a:r>
            <a:r>
              <a:rPr lang="en-US" altLang="zh-CN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δ </a:t>
            </a:r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+ </a:t>
            </a:r>
            <a:r>
              <a:rPr lang="en-US" altLang="zh-CN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δ</a:t>
            </a:r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/2 + </a:t>
            </a:r>
            <a:r>
              <a:rPr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μ</a:t>
            </a:r>
            <a:r>
              <a:rPr lang="en-US" baseline="30000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2</a:t>
            </a:r>
            <a:r>
              <a:rPr 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/2 - 1/2</a:t>
            </a:r>
            <a:endParaRPr lang="en-US">
              <a:latin typeface="Abyssinica SIL" panose="02000000000000000000" charset="0"/>
              <a:ea typeface="AR PL UKai CN" panose="02000503000000000000" charset="-122"/>
              <a:cs typeface="Abyssinica SIL" panose="02000000000000000000" charset="0"/>
              <a:sym typeface="+mn-ea"/>
            </a:endParaRPr>
          </a:p>
        </p:txBody>
      </p:sp>
      <p:pic>
        <p:nvPicPr>
          <p:cNvPr id="10" name="图片 9" descr="Screenshot from 2023-07-01 17-54-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535" y="5948680"/>
            <a:ext cx="5824855" cy="90551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变分自编码器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350" y="3793490"/>
            <a:ext cx="5579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目标</a:t>
            </a:r>
            <a:r>
              <a:rPr lang="en-US" altLang="en-US"/>
              <a:t>1</a:t>
            </a:r>
            <a:r>
              <a:rPr lang="en-US" altLang="zh-CN"/>
              <a:t>：</a:t>
            </a:r>
            <a:r>
              <a:rPr lang="zh-CN" altLang="en-US"/>
              <a:t>构建从隐变量 </a:t>
            </a:r>
            <a:r>
              <a:rPr lang="en-US"/>
              <a:t>Z</a:t>
            </a:r>
            <a:r>
              <a:rPr lang="zh-CN" altLang="en-US"/>
              <a:t>生成目标数据 X 的模型</a:t>
            </a:r>
            <a:endParaRPr lang="zh-CN" altLang="en-US"/>
          </a:p>
          <a:p>
            <a:pPr algn="ctr"/>
            <a:r>
              <a:rPr lang="en-US" altLang="zh-CN"/>
              <a:t>Loss1 =BCE( X , X</a:t>
            </a:r>
            <a:r>
              <a:rPr lang="en-US" altLang="zh-CN" baseline="30000"/>
              <a:t>R</a:t>
            </a:r>
            <a:r>
              <a:rPr lang="en-US" altLang="zh-CN"/>
              <a:t>) </a:t>
            </a:r>
            <a:endParaRPr lang="en-US" altLang="zh-CN"/>
          </a:p>
          <a:p>
            <a:pPr algn="ctr"/>
            <a:r>
              <a:rPr lang="en-US" altLang="zh-CN"/>
              <a:t>X和X</a:t>
            </a:r>
            <a:r>
              <a:rPr lang="en-US" altLang="zh-CN" baseline="30000"/>
              <a:t>R</a:t>
            </a:r>
            <a:r>
              <a:rPr lang="en-US" altLang="zh-CN"/>
              <a:t>的二值交叉熵</a:t>
            </a:r>
            <a:endParaRPr lang="en-US" altLang="zh-CN"/>
          </a:p>
        </p:txBody>
      </p:sp>
      <p:pic>
        <p:nvPicPr>
          <p:cNvPr id="11" name="图片 10" descr="pg0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1075690"/>
            <a:ext cx="5704840" cy="1143000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2"/>
          <a:srcRect l="12120" b="9305"/>
          <a:stretch>
            <a:fillRect/>
          </a:stretch>
        </p:blipFill>
        <p:spPr>
          <a:xfrm>
            <a:off x="7294245" y="315595"/>
            <a:ext cx="4226560" cy="2642870"/>
          </a:xfrm>
          <a:prstGeom prst="rect">
            <a:avLst/>
          </a:prstGeom>
        </p:spPr>
      </p:pic>
      <p:pic>
        <p:nvPicPr>
          <p:cNvPr id="5" name="图片 4" descr="3"/>
          <p:cNvPicPr>
            <a:picLocks noChangeAspect="1"/>
          </p:cNvPicPr>
          <p:nvPr/>
        </p:nvPicPr>
        <p:blipFill>
          <a:blip r:embed="rId3"/>
          <a:srcRect l="12767" b="8934"/>
          <a:stretch>
            <a:fillRect/>
          </a:stretch>
        </p:blipFill>
        <p:spPr>
          <a:xfrm>
            <a:off x="7325360" y="3686810"/>
            <a:ext cx="4195445" cy="265366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变分自编码器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7710" y="1311910"/>
            <a:ext cx="5579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主要目标：</a:t>
            </a:r>
            <a:r>
              <a:rPr lang="zh-CN" altLang="en-US"/>
              <a:t>构建从隐变量 </a:t>
            </a:r>
            <a:r>
              <a:rPr lang="en-US"/>
              <a:t>Z</a:t>
            </a:r>
            <a:r>
              <a:rPr lang="zh-CN" altLang="en-US"/>
              <a:t>生成目标数据 X 的模型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假设：样本服从某些常见的分布(eg:正态)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6290" y="4050665"/>
            <a:ext cx="43922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p(Z) </a:t>
            </a:r>
            <a:r>
              <a:rPr lang="en-US" altLang="zh-CN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：先验分布，</a:t>
            </a:r>
            <a:r>
              <a:rPr lang="en-US" altLang="zh-CN">
                <a:solidFill>
                  <a:schemeClr val="tx1"/>
                </a:solidFill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假设为</a:t>
            </a:r>
            <a:r>
              <a:rPr lang="en-US" altLang="en-US">
                <a:solidFill>
                  <a:schemeClr val="tx1"/>
                </a:solidFill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标准</a:t>
            </a:r>
            <a:r>
              <a:rPr lang="en-US" altLang="zh-CN">
                <a:solidFill>
                  <a:schemeClr val="tx1"/>
                </a:solidFill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正态分布</a:t>
            </a:r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</a:rPr>
              <a:t>p(X|Z)</a:t>
            </a:r>
            <a:r>
              <a:rPr lang="zh-CN" altLang="en-US"/>
              <a:t> </a:t>
            </a:r>
            <a:r>
              <a:rPr lang="en-US" altLang="zh-CN"/>
              <a:t>:后验分布,</a:t>
            </a:r>
            <a:r>
              <a:rPr lang="zh-CN" altLang="en-US"/>
              <a:t>由 Z 来生成 X的模型</a:t>
            </a:r>
            <a:endParaRPr lang="zh-CN" altLang="en-US"/>
          </a:p>
        </p:txBody>
      </p:sp>
      <p:pic>
        <p:nvPicPr>
          <p:cNvPr id="11" name="图片 10" descr="pg0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2233930"/>
            <a:ext cx="5704840" cy="114300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5958840" y="2491740"/>
          <a:ext cx="1360170" cy="374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85"/>
                <a:gridCol w="680085"/>
              </a:tblGrid>
              <a:tr h="37782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cs typeface="+mn-lt"/>
                        </a:rPr>
                        <a:t>x1</a:t>
                      </a:r>
                      <a:endParaRPr lang="en-US" altLang="en-US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8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x2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x3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x4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右箭头 3"/>
          <p:cNvSpPr/>
          <p:nvPr/>
        </p:nvSpPr>
        <p:spPr>
          <a:xfrm>
            <a:off x="7505065" y="3582035"/>
            <a:ext cx="1187450" cy="468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078345" y="1452880"/>
            <a:ext cx="3799840" cy="7810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任意模型均可映射为高维标准正态分布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8886825" y="2491740"/>
          <a:ext cx="1360170" cy="374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85"/>
                <a:gridCol w="680085"/>
              </a:tblGrid>
              <a:tr h="37782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cs typeface="+mn-lt"/>
                        </a:rPr>
                        <a:t>x1</a:t>
                      </a:r>
                      <a:endParaRPr lang="en-US" altLang="en-US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</a:rPr>
                        <a:t>N(0,1)</a:t>
                      </a:r>
                      <a:endParaRPr lang="en-US" altLang="en-US" sz="10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x2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x3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x4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</a:t>
            </a:r>
            <a:r>
              <a:rPr lang="en-US" altLang="en-US" sz="4000"/>
              <a:t>07/10</a:t>
            </a:r>
            <a:endParaRPr lang="en-US" altLang="en-US" sz="40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论文关键点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标签自适应混合方法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Label-Adaptive Mixup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4" name="图片 24" descr="Screenshot from 2023-07-10 14-39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287780"/>
            <a:ext cx="4090670" cy="5474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17390" y="2319655"/>
            <a:ext cx="46113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>
                <a:cs typeface="宋体" charset="0"/>
                <a:sym typeface="+mn-ea"/>
              </a:rPr>
              <a:t>修改</a:t>
            </a:r>
            <a:r>
              <a:rPr lang="en-US">
                <a:latin typeface="Calibri" charset="0"/>
                <a:cs typeface="宋体" charset="0"/>
                <a:sym typeface="+mn-ea"/>
              </a:rPr>
              <a:t>hu-bert</a:t>
            </a:r>
            <a:r>
              <a:rPr lang="zh-CN">
                <a:cs typeface="宋体" charset="0"/>
                <a:sym typeface="+mn-ea"/>
              </a:rPr>
              <a:t>提出标签自适应混合方法中心损失</a:t>
            </a:r>
            <a:r>
              <a:rPr lang="en-US">
                <a:latin typeface="Calibri" charset="0"/>
                <a:cs typeface="宋体" charset="0"/>
                <a:sym typeface="+mn-ea"/>
              </a:rPr>
              <a:t>+</a:t>
            </a:r>
            <a:r>
              <a:rPr lang="zh-CN">
                <a:cs typeface="宋体" charset="0"/>
                <a:sym typeface="+mn-ea"/>
              </a:rPr>
              <a:t>识别损失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31" descr="Screenshot from 2023-07-10 14-59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3" y="463233"/>
            <a:ext cx="5295265" cy="392366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加噪声(现实意义的)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多次分类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60" name="图片 60" descr="1160281-20181216215120003-10447073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1041718"/>
            <a:ext cx="5514340" cy="321881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/>
        </p:nvGraphicFramePr>
        <p:xfrm>
          <a:off x="6024880" y="1205230"/>
          <a:ext cx="535940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9850"/>
                <a:gridCol w="1339850"/>
                <a:gridCol w="1339850"/>
                <a:gridCol w="1339850"/>
              </a:tblGrid>
              <a:tr h="38100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四分类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6024880" y="3048000"/>
          <a:ext cx="178562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810"/>
                <a:gridCol w="892810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二</a:t>
                      </a:r>
                      <a:r>
                        <a:rPr lang="en-US" altLang="zh-CN"/>
                        <a:t>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8140065" y="3048000"/>
          <a:ext cx="178562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810"/>
                <a:gridCol w="892810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二</a:t>
                      </a:r>
                      <a:r>
                        <a:rPr lang="en-US" altLang="zh-CN"/>
                        <a:t>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S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10161905" y="3048000"/>
          <a:ext cx="178562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810"/>
                <a:gridCol w="892810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二</a:t>
                      </a:r>
                      <a:r>
                        <a:rPr lang="en-US" altLang="zh-CN"/>
                        <a:t>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H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曲线连接符 6"/>
          <p:cNvCxnSpPr>
            <a:endCxn id="4" idx="0"/>
          </p:cNvCxnSpPr>
          <p:nvPr/>
        </p:nvCxnSpPr>
        <p:spPr>
          <a:xfrm rot="5400000" flipV="1">
            <a:off x="6222365" y="2352675"/>
            <a:ext cx="1082040" cy="308610"/>
          </a:xfrm>
          <a:prstGeom prst="curvedConnector3">
            <a:avLst>
              <a:gd name="adj1" fmla="val 5005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曲线连接符 7"/>
          <p:cNvCxnSpPr>
            <a:endCxn id="5" idx="0"/>
          </p:cNvCxnSpPr>
          <p:nvPr/>
        </p:nvCxnSpPr>
        <p:spPr>
          <a:xfrm>
            <a:off x="6598920" y="1976120"/>
            <a:ext cx="2433955" cy="107188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endCxn id="6" idx="0"/>
          </p:cNvCxnSpPr>
          <p:nvPr/>
        </p:nvCxnSpPr>
        <p:spPr>
          <a:xfrm>
            <a:off x="6609080" y="1955165"/>
            <a:ext cx="4445635" cy="1092835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3" descr="Screenshot from 2023-07-10 20-25-12"/>
          <p:cNvPicPr>
            <a:picLocks noChangeAspect="1"/>
          </p:cNvPicPr>
          <p:nvPr/>
        </p:nvPicPr>
        <p:blipFill>
          <a:blip r:embed="rId2"/>
          <a:srcRect b="3842"/>
          <a:stretch>
            <a:fillRect/>
          </a:stretch>
        </p:blipFill>
        <p:spPr>
          <a:xfrm>
            <a:off x="6269355" y="3896995"/>
            <a:ext cx="4643755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 流形算法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5460" y="1361440"/>
            <a:ext cx="864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流形学习（manifold learning）假设数据在高维空间的分布位于某一更低维的流形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9091</Words>
  <Application>WPS 演示</Application>
  <PresentationFormat>宽屏</PresentationFormat>
  <Paragraphs>1933</Paragraphs>
  <Slides>99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99</vt:i4>
      </vt:variant>
    </vt:vector>
  </HeadingPairs>
  <TitlesOfParts>
    <vt:vector size="116" baseType="lpstr">
      <vt:lpstr>Arial</vt:lpstr>
      <vt:lpstr>宋体</vt:lpstr>
      <vt:lpstr>Wingdings</vt:lpstr>
      <vt:lpstr>宋体</vt:lpstr>
      <vt:lpstr>Arial Unicode MS</vt:lpstr>
      <vt:lpstr>Calibri Light</vt:lpstr>
      <vt:lpstr>DejaVu Sans</vt:lpstr>
      <vt:lpstr>Droid Sans Fallback</vt:lpstr>
      <vt:lpstr>Calibri</vt:lpstr>
      <vt:lpstr>微软雅黑</vt:lpstr>
      <vt:lpstr>Nimbus Roman</vt:lpstr>
      <vt:lpstr>Wingdings</vt:lpstr>
      <vt:lpstr>AR PL UKai CN</vt:lpstr>
      <vt:lpstr>DejaVu Math TeX Gyre</vt:lpstr>
      <vt:lpstr>Abyssinica SIL</vt:lpstr>
      <vt:lpstr>aakar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Transformer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MFCC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2023.6.3</vt:lpstr>
      <vt:lpstr>PowerPoint 演示文稿</vt:lpstr>
      <vt:lpstr>PowerPoint 演示文稿</vt:lpstr>
      <vt:lpstr>PowerPoint 演示文稿</vt:lpstr>
      <vt:lpstr>2023.6.6</vt:lpstr>
      <vt:lpstr>PowerPoint 演示文稿</vt:lpstr>
      <vt:lpstr>PowerPoint 演示文稿</vt:lpstr>
      <vt:lpstr>2023.6.9</vt:lpstr>
      <vt:lpstr>PowerPoint 演示文稿</vt:lpstr>
      <vt:lpstr>PowerPoint 演示文稿</vt:lpstr>
      <vt:lpstr>PowerPoint 演示文稿</vt:lpstr>
      <vt:lpstr>2023.6.10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lilei</dc:creator>
  <cp:lastModifiedBy>lilei</cp:lastModifiedBy>
  <cp:revision>1</cp:revision>
  <dcterms:created xsi:type="dcterms:W3CDTF">2023-07-27T14:57:31Z</dcterms:created>
  <dcterms:modified xsi:type="dcterms:W3CDTF">2023-07-27T14:57:31Z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2052-10.1.0.6757</vt:lpwstr>
  </property>
</Properties>
</file>