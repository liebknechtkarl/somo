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ä¸­åº¦æ ·å¼ 2 - å¼ºè°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æ æ ·å¼ï¼ç½æ ¼å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0C629F8-D033-49BD-BC54-670DC23E2C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0C629F8-D033-49BD-BC54-670DC23E2C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51816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自然语言处理（Natural Language Processing，NLP）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6690" y="1268095"/>
            <a:ext cx="370649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研究对象：人与计算机之间用自然语言进行有效通信的理论和方法。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研究目的：从文本数据中提取信息。让计算机处理或“理解”自然语言，执行自动翻译、文本分类和情感分析等。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技术范畴：问答系统（Question Answering, QA）、语音识别（Speech Recognition）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793615" y="1519555"/>
            <a:ext cx="3332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数据收集</a:t>
            </a:r>
            <a:endParaRPr lang="en-US" altLang="zh-CN"/>
          </a:p>
        </p:txBody>
      </p:sp>
      <p:sp>
        <p:nvSpPr>
          <p:cNvPr id="11" name="下箭头 10"/>
          <p:cNvSpPr/>
          <p:nvPr/>
        </p:nvSpPr>
        <p:spPr>
          <a:xfrm>
            <a:off x="6298565" y="188785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876800" y="2514600"/>
            <a:ext cx="3165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数据标注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002530" y="3684905"/>
            <a:ext cx="291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文本标准化（Normalization）</a:t>
            </a:r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6298565" y="2994660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002530" y="4882515"/>
            <a:ext cx="3176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文本向量化/特征化（Vectorization/Featuring）</a:t>
            </a:r>
            <a:endParaRPr lang="zh-CN" altLang="en-US"/>
          </a:p>
        </p:txBody>
      </p:sp>
      <p:sp>
        <p:nvSpPr>
          <p:cNvPr id="5" name="下箭头 4"/>
          <p:cNvSpPr/>
          <p:nvPr/>
        </p:nvSpPr>
        <p:spPr>
          <a:xfrm>
            <a:off x="6298565" y="433006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89220" y="613156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建模</a:t>
            </a:r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6298565" y="5456555"/>
            <a:ext cx="323215" cy="552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4298950" y="3735705"/>
            <a:ext cx="812165" cy="27070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164205" y="4807585"/>
            <a:ext cx="1051560" cy="7080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不断迭代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椭圆形标注 12"/>
          <p:cNvSpPr/>
          <p:nvPr/>
        </p:nvSpPr>
        <p:spPr>
          <a:xfrm>
            <a:off x="7564120" y="4471035"/>
            <a:ext cx="1551940" cy="489585"/>
          </a:xfrm>
          <a:prstGeom prst="wedgeEllipseCallout">
            <a:avLst>
              <a:gd name="adj1" fmla="val -41369"/>
              <a:gd name="adj2" fmla="val 7119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读取信息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4" name="图片 13" descr="Screenshot from 2022-12-31 14-41-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815" y="1273175"/>
            <a:ext cx="3818890" cy="3056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1160145" y="1361440"/>
            <a:ext cx="9734550" cy="4314825"/>
            <a:chOff x="106" y="391"/>
            <a:chExt cx="12856" cy="4484"/>
          </a:xfrm>
        </p:grpSpPr>
        <p:grpSp>
          <p:nvGrpSpPr>
            <p:cNvPr id="9" name="组合 8"/>
            <p:cNvGrpSpPr/>
            <p:nvPr/>
          </p:nvGrpSpPr>
          <p:grpSpPr>
            <a:xfrm>
              <a:off x="106" y="391"/>
              <a:ext cx="12856" cy="4485"/>
              <a:chOff x="450" y="2424"/>
              <a:chExt cx="12856" cy="4485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450" y="2424"/>
                <a:ext cx="5327" cy="3800"/>
                <a:chOff x="369" y="851"/>
                <a:chExt cx="5327" cy="3800"/>
              </a:xfrm>
            </p:grpSpPr>
            <p:sp>
              <p:nvSpPr>
                <p:cNvPr id="17" name="椭圆 16"/>
                <p:cNvSpPr/>
                <p:nvPr/>
              </p:nvSpPr>
              <p:spPr>
                <a:xfrm>
                  <a:off x="369" y="2226"/>
                  <a:ext cx="1582" cy="119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sym typeface="+mn-ea"/>
                    </a:rPr>
                    <a:t>数据标注</a:t>
                  </a:r>
                  <a:endParaRPr lang="en-US" altLang="zh-CN" sz="12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1" name="圆角矩形 10"/>
                <p:cNvSpPr/>
                <p:nvPr/>
              </p:nvSpPr>
              <p:spPr>
                <a:xfrm>
                  <a:off x="2427" y="2167"/>
                  <a:ext cx="3269" cy="67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400">
                      <a:solidFill>
                        <a:schemeClr val="tx1"/>
                      </a:solidFill>
                      <a:sym typeface="+mn-ea"/>
                    </a:rPr>
                    <a:t>去停用词（the、a、an...)</a:t>
                  </a:r>
                  <a:endParaRPr lang="en-US" altLang="en-US" sz="14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2" name="圆角矩形 11"/>
                <p:cNvSpPr/>
                <p:nvPr/>
              </p:nvSpPr>
              <p:spPr>
                <a:xfrm>
                  <a:off x="2426" y="851"/>
                  <a:ext cx="3269" cy="901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400">
                      <a:solidFill>
                        <a:schemeClr val="tx1"/>
                      </a:solidFill>
                      <a:sym typeface="+mn-ea"/>
                    </a:rPr>
                    <a:t> 基本函数（strip去字符，split分割合并...）</a:t>
                  </a:r>
                  <a:endParaRPr lang="en-US" altLang="en-US" sz="14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3" name="圆角矩形 12"/>
                <p:cNvSpPr/>
                <p:nvPr/>
              </p:nvSpPr>
              <p:spPr>
                <a:xfrm>
                  <a:off x="2426" y="3978"/>
                  <a:ext cx="3270" cy="67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en-US" sz="1400">
                      <a:solidFill>
                        <a:schemeClr val="tx1"/>
                      </a:solidFill>
                      <a:sym typeface="+mn-ea"/>
                    </a:rPr>
                    <a:t>命名实体识别</a:t>
                  </a:r>
                  <a:endParaRPr lang="en-US" altLang="en-US" sz="14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cxnSp>
              <p:nvCxnSpPr>
                <p:cNvPr id="14" name="曲线连接符 13"/>
                <p:cNvCxnSpPr>
                  <a:stCxn id="17" idx="0"/>
                  <a:endCxn id="12" idx="1"/>
                </p:cNvCxnSpPr>
                <p:nvPr/>
              </p:nvCxnSpPr>
              <p:spPr>
                <a:xfrm rot="16200000">
                  <a:off x="1331" y="1131"/>
                  <a:ext cx="924" cy="1266"/>
                </a:xfrm>
                <a:prstGeom prst="curvedConnector2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曲线连接符 15"/>
                <p:cNvCxnSpPr>
                  <a:stCxn id="17" idx="4"/>
                  <a:endCxn id="13" idx="1"/>
                </p:cNvCxnSpPr>
                <p:nvPr/>
              </p:nvCxnSpPr>
              <p:spPr>
                <a:xfrm rot="5400000" flipV="1">
                  <a:off x="1347" y="3236"/>
                  <a:ext cx="893" cy="1266"/>
                </a:xfrm>
                <a:prstGeom prst="curvedConnector2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" name="图片 5" descr="Screenshot from 2023-02-11 16-56-2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090" y="5329"/>
                <a:ext cx="4773" cy="1580"/>
              </a:xfrm>
              <a:prstGeom prst="rect">
                <a:avLst/>
              </a:prstGeom>
            </p:spPr>
          </p:pic>
          <p:pic>
            <p:nvPicPr>
              <p:cNvPr id="8" name="图片 7" descr="Screenshot from 2023-02-11 17-03-3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0" y="3960"/>
                <a:ext cx="7217" cy="869"/>
              </a:xfrm>
              <a:prstGeom prst="rect">
                <a:avLst/>
              </a:prstGeom>
            </p:spPr>
          </p:pic>
        </p:grpSp>
        <p:sp>
          <p:nvSpPr>
            <p:cNvPr id="10" name="圆角矩形 9"/>
            <p:cNvSpPr/>
            <p:nvPr/>
          </p:nvSpPr>
          <p:spPr>
            <a:xfrm>
              <a:off x="2164" y="2623"/>
              <a:ext cx="3270" cy="67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词性标注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61214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TF-IDF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1320" y="1616710"/>
            <a:ext cx="4445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TF</a:t>
            </a:r>
            <a:r>
              <a:rPr lang="en-US" altLang="zh-CN"/>
              <a:t>(</a:t>
            </a:r>
            <a:r>
              <a:rPr lang="zh-CN" altLang="en-US"/>
              <a:t>词频</a:t>
            </a:r>
            <a:r>
              <a:rPr lang="en-US" altLang="zh-CN"/>
              <a:t>,</a:t>
            </a:r>
            <a:r>
              <a:rPr lang="zh-CN" altLang="en-US"/>
              <a:t>Term Frequency)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表示词条（关键字）在文本中出现的频率。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334010" y="2407920"/>
            <a:ext cx="3873500" cy="803910"/>
            <a:chOff x="458" y="4424"/>
            <a:chExt cx="6100" cy="1266"/>
          </a:xfrm>
        </p:grpSpPr>
        <p:sp>
          <p:nvSpPr>
            <p:cNvPr id="11" name="文本框 10"/>
            <p:cNvSpPr txBox="1"/>
            <p:nvPr/>
          </p:nvSpPr>
          <p:spPr>
            <a:xfrm>
              <a:off x="458" y="4841"/>
              <a:ext cx="116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TF</a:t>
              </a:r>
              <a:r>
                <a:rPr lang="en-US" altLang="zh-CN" baseline="-25000"/>
                <a:t>w</a:t>
              </a:r>
              <a:r>
                <a:rPr lang="en-US" altLang="zh-CN"/>
                <a:t>=</a:t>
              </a:r>
              <a:endParaRPr lang="en-US" altLang="zh-CN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626" y="4424"/>
              <a:ext cx="49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在某一类中词条</a:t>
              </a:r>
              <a:r>
                <a:rPr lang="en-US" altLang="en-US"/>
                <a:t>w</a:t>
              </a:r>
              <a:r>
                <a:rPr lang="en-US" altLang="zh-CN"/>
                <a:t>出现的次数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071" y="5110"/>
              <a:ext cx="39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/>
                <a:t>该类中所有的词条数目</a:t>
              </a:r>
              <a:endParaRPr 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1754" y="5004"/>
              <a:ext cx="45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5513070" y="1616710"/>
            <a:ext cx="5851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IDF</a:t>
            </a:r>
            <a:r>
              <a:rPr lang="en-US" altLang="zh-CN"/>
              <a:t>:</a:t>
            </a:r>
            <a:r>
              <a:rPr lang="zh-CN" altLang="en-US"/>
              <a:t>逆向文件频率(Inverse Document Frequency)</a:t>
            </a:r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5266055" y="2407920"/>
            <a:ext cx="6776720" cy="906780"/>
            <a:chOff x="8054" y="4526"/>
            <a:chExt cx="10672" cy="1428"/>
          </a:xfrm>
        </p:grpSpPr>
        <p:grpSp>
          <p:nvGrpSpPr>
            <p:cNvPr id="19" name="组合 18"/>
            <p:cNvGrpSpPr/>
            <p:nvPr/>
          </p:nvGrpSpPr>
          <p:grpSpPr>
            <a:xfrm>
              <a:off x="8054" y="4526"/>
              <a:ext cx="5905" cy="1429"/>
              <a:chOff x="654" y="4424"/>
              <a:chExt cx="5905" cy="1429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654" y="4837"/>
                <a:ext cx="1694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en-US"/>
                  <a:t>IDF</a:t>
                </a:r>
                <a:r>
                  <a:rPr lang="en-US" altLang="zh-CN"/>
                  <a:t>=</a:t>
                </a:r>
                <a:r>
                  <a:rPr lang="en-US" altLang="en-US"/>
                  <a:t>log</a:t>
                </a:r>
                <a:endParaRPr lang="en-US" altLang="en-US"/>
              </a:p>
              <a:p>
                <a:endParaRPr lang="en-US" altLang="en-US"/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626" y="4424"/>
                <a:ext cx="493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/>
                  <a:t>语料库的文档总数</a:t>
                </a:r>
                <a:endParaRPr 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153" y="5110"/>
                <a:ext cx="394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/>
                  <a:t>包含词条</a:t>
                </a:r>
                <a:r>
                  <a:rPr lang="en-US" altLang="en-US"/>
                  <a:t>w</a:t>
                </a:r>
                <a:r>
                  <a:rPr lang="en-US"/>
                  <a:t>的文档数</a:t>
                </a:r>
                <a:r>
                  <a:rPr lang="en-US" altLang="en-US"/>
                  <a:t>+1</a:t>
                </a:r>
                <a:endParaRPr lang="en-US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 flipV="1">
                <a:off x="2234" y="5004"/>
                <a:ext cx="3778" cy="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3"/>
            <p:cNvSpPr txBox="1"/>
            <p:nvPr/>
          </p:nvSpPr>
          <p:spPr>
            <a:xfrm>
              <a:off x="13606" y="4873"/>
              <a:ext cx="5120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p>
              <a:r>
                <a:rPr lang="en-US" altLang="zh-CN" sz="1400">
                  <a:sym typeface="+mn-ea"/>
                </a:rPr>
                <a:t>(</a:t>
              </a:r>
              <a:r>
                <a:rPr lang="zh-CN" altLang="en-US" sz="1400">
                  <a:sym typeface="+mn-ea"/>
                </a:rPr>
                <a:t>分母之所以要加1,是为了避免分母为0</a:t>
              </a:r>
              <a:r>
                <a:rPr lang="en-US" altLang="zh-CN" sz="1400">
                  <a:sym typeface="+mn-ea"/>
                </a:rPr>
                <a:t>)</a:t>
              </a:r>
              <a:endParaRPr lang="en-US" altLang="zh-CN" sz="1400">
                <a:sym typeface="+mn-ea"/>
              </a:endParaRPr>
            </a:p>
          </p:txBody>
        </p:sp>
      </p:grpSp>
      <p:sp>
        <p:nvSpPr>
          <p:cNvPr id="26" name="椭圆形标注 25"/>
          <p:cNvSpPr/>
          <p:nvPr/>
        </p:nvSpPr>
        <p:spPr>
          <a:xfrm>
            <a:off x="7835265" y="782955"/>
            <a:ext cx="3134360" cy="687070"/>
          </a:xfrm>
          <a:prstGeom prst="wedgeEllipseCallout">
            <a:avLst>
              <a:gd name="adj1" fmla="val -41369"/>
              <a:gd name="adj2" fmla="val 7119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IDF越大，说明词条越具有很好的类别区分能力。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" name="左大括号 26"/>
          <p:cNvSpPr/>
          <p:nvPr/>
        </p:nvSpPr>
        <p:spPr>
          <a:xfrm rot="16200000">
            <a:off x="5147310" y="186690"/>
            <a:ext cx="312420" cy="65690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384425" y="372745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TF-IDF</a:t>
            </a:r>
            <a:endParaRPr lang="zh-CN" altLang="en-US"/>
          </a:p>
        </p:txBody>
      </p:sp>
      <p:sp>
        <p:nvSpPr>
          <p:cNvPr id="55" name="燕尾形 54"/>
          <p:cNvSpPr/>
          <p:nvPr/>
        </p:nvSpPr>
        <p:spPr>
          <a:xfrm>
            <a:off x="561975" y="4211955"/>
            <a:ext cx="2986405" cy="535305"/>
          </a:xfrm>
          <a:prstGeom prst="chevr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+mj-lt"/>
                <a:cs typeface="+mj-lt"/>
                <a:sym typeface="+mn-ea"/>
              </a:rPr>
              <a:t>某一特定文件内的高词语频率</a:t>
            </a:r>
            <a:endParaRPr lang="en-US" altLang="zh-CN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0" name="燕尾形 29"/>
          <p:cNvSpPr/>
          <p:nvPr/>
        </p:nvSpPr>
        <p:spPr>
          <a:xfrm>
            <a:off x="3811270" y="4211955"/>
            <a:ext cx="2986405" cy="535305"/>
          </a:xfrm>
          <a:prstGeom prst="chevr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+mj-lt"/>
                <a:cs typeface="+mj-lt"/>
                <a:sym typeface="+mn-ea"/>
              </a:rPr>
              <a:t>该词语在整个文件集合中的低文件频率</a:t>
            </a:r>
            <a:endParaRPr lang="en-US" altLang="zh-CN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60" name="爆炸形 1 59"/>
          <p:cNvSpPr/>
          <p:nvPr/>
        </p:nvSpPr>
        <p:spPr>
          <a:xfrm>
            <a:off x="6927215" y="3905250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高权重的TF-IDF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1" name="燕尾形 30"/>
          <p:cNvSpPr/>
          <p:nvPr/>
        </p:nvSpPr>
        <p:spPr>
          <a:xfrm>
            <a:off x="9015730" y="4211955"/>
            <a:ext cx="2986405" cy="535305"/>
          </a:xfrm>
          <a:prstGeom prst="chevr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+mj-lt"/>
                <a:cs typeface="+mj-lt"/>
                <a:sym typeface="+mn-ea"/>
              </a:rPr>
              <a:t>过滤掉常见的词语，保留重要的词语。</a:t>
            </a:r>
            <a:endParaRPr lang="en-US" altLang="zh-CN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61214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词向量</a:t>
            </a:r>
            <a:endParaRPr lang="en-US" altLang="zh-CN"/>
          </a:p>
        </p:txBody>
      </p:sp>
      <p:pic>
        <p:nvPicPr>
          <p:cNvPr id="8" name="图片 8" descr="Figure_1"/>
          <p:cNvPicPr>
            <a:picLocks noChangeAspect="1"/>
          </p:cNvPicPr>
          <p:nvPr/>
        </p:nvPicPr>
        <p:blipFill>
          <a:blip r:embed="rId1"/>
          <a:srcRect t="27710" r="645" b="16208"/>
          <a:stretch>
            <a:fillRect/>
          </a:stretch>
        </p:blipFill>
        <p:spPr>
          <a:xfrm>
            <a:off x="4640580" y="3100070"/>
            <a:ext cx="6369685" cy="25863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383145" y="1630045"/>
            <a:ext cx="3508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TF-IDF算法是通过统计学的方式来</a:t>
            </a:r>
            <a:r>
              <a:rPr lang="en-US" altLang="zh-CN"/>
              <a:t>将</a:t>
            </a:r>
            <a:r>
              <a:rPr lang="zh-CN" altLang="en-US"/>
              <a:t>文章中的词的重要程度，转化成向量来表示一篇文章。</a:t>
            </a:r>
            <a:endParaRPr lang="zh-CN" altLang="en-US"/>
          </a:p>
        </p:txBody>
      </p:sp>
      <p:sp>
        <p:nvSpPr>
          <p:cNvPr id="5" name="爆炸形 1 4"/>
          <p:cNvSpPr/>
          <p:nvPr/>
        </p:nvSpPr>
        <p:spPr>
          <a:xfrm>
            <a:off x="4394835" y="163004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9、10两句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8000" y="1786890"/>
            <a:ext cx="3477260" cy="3982085"/>
            <a:chOff x="4717" y="1997"/>
            <a:chExt cx="4146" cy="4084"/>
          </a:xfrm>
        </p:grpSpPr>
        <p:pic>
          <p:nvPicPr>
            <p:cNvPr id="2" name="图片 1" descr="Screenshot from 2023-02-13 14-46-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7" y="1997"/>
              <a:ext cx="4147" cy="4084"/>
            </a:xfrm>
            <a:prstGeom prst="rect">
              <a:avLst/>
            </a:prstGeom>
          </p:spPr>
        </p:pic>
        <p:sp>
          <p:nvSpPr>
            <p:cNvPr id="10" name="圆角矩形 9"/>
            <p:cNvSpPr/>
            <p:nvPr/>
          </p:nvSpPr>
          <p:spPr>
            <a:xfrm>
              <a:off x="5094" y="4270"/>
              <a:ext cx="2607" cy="459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66" name="云形标注 65"/>
          <p:cNvSpPr/>
          <p:nvPr/>
        </p:nvSpPr>
        <p:spPr>
          <a:xfrm>
            <a:off x="7837805" y="162560"/>
            <a:ext cx="2205355" cy="817880"/>
          </a:xfrm>
          <a:prstGeom prst="cloudCallout">
            <a:avLst>
              <a:gd name="adj1" fmla="val -29355"/>
              <a:gd name="adj2" fmla="val 12267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一篇文章是一个向量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Screenshot from 2023-02-14 20-56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123950"/>
            <a:ext cx="4297045" cy="5513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76270" y="61214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Continuous Bag of Words (CBOW)</a:t>
            </a:r>
            <a:endParaRPr lang="en-US" altLang="zh-CN"/>
          </a:p>
        </p:txBody>
      </p:sp>
      <p:sp>
        <p:nvSpPr>
          <p:cNvPr id="66" name="云形标注 65"/>
          <p:cNvSpPr/>
          <p:nvPr/>
        </p:nvSpPr>
        <p:spPr>
          <a:xfrm>
            <a:off x="9076055" y="229870"/>
            <a:ext cx="2447925" cy="1219835"/>
          </a:xfrm>
          <a:prstGeom prst="cloudCallout">
            <a:avLst>
              <a:gd name="adj1" fmla="val -82062"/>
              <a:gd name="adj2" fmla="val 460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挑一个要预测的词，来学习这个词前后文中词语和预测词的关系。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3002915" y="1213485"/>
          <a:ext cx="3091180" cy="1828165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45590"/>
                <a:gridCol w="1545590"/>
              </a:tblGrid>
              <a:tr h="34988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b="0">
                          <a:ln>
                            <a:noFill/>
                          </a:ln>
                          <a:solidFill>
                            <a:srgbClr val="FF0000"/>
                          </a:solidFill>
                        </a:rPr>
                        <a:t>数据集（向量化）</a:t>
                      </a:r>
                      <a:endParaRPr lang="en-US" altLang="en-US" sz="1200" b="0">
                        <a:ln>
                          <a:noFill/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cPr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200" b="0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[前2索引，前1索引，</a:t>
                      </a:r>
                      <a:endParaRPr lang="en-US" altLang="en-US" sz="1200" b="0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en-US" sz="1200" b="0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后1索引，后2索引]  </a:t>
                      </a:r>
                      <a:endParaRPr lang="en-US" altLang="en-US" sz="1200" b="0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ln>
                            <a:noFill/>
                          </a:ln>
                          <a:solidFill>
                            <a:prstClr val="black"/>
                          </a:solidFill>
                        </a:rPr>
                        <a:t>......</a:t>
                      </a:r>
                      <a:endParaRPr lang="en-US" altLang="en-US" b="0">
                        <a:ln>
                          <a:noFill/>
                        </a:ln>
                        <a:solidFill>
                          <a:prstClr val="black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49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  <a:sym typeface="+mn-ea"/>
                        </a:rPr>
                        <a:t>本身索引</a:t>
                      </a:r>
                      <a:endParaRPr lang="en-US" sz="120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 b="0">
                          <a:solidFill>
                            <a:schemeClr val="tx1"/>
                          </a:solidFill>
                          <a:latin typeface="宋体" charset="0"/>
                          <a:cs typeface="宋体" charset="0"/>
                          <a:sym typeface="+mn-ea"/>
                        </a:rPr>
                        <a:t>......</a:t>
                      </a:r>
                      <a:endParaRPr lang="en-US" altLang="en-US" sz="135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20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{去重元素：索引}</a:t>
                      </a:r>
                      <a:endParaRPr sz="120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......</a:t>
                      </a:r>
                      <a:endParaRPr lang="en-US" altLang="zh-CN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{索引：去重元素}</a:t>
                      </a:r>
                      <a:endParaRPr lang="en-US" altLang="zh-CN" sz="120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ln>
                            <a:noFill/>
                          </a:ln>
                          <a:solidFill>
                            <a:prstClr val="black"/>
                          </a:solidFill>
                          <a:sym typeface="+mn-ea"/>
                        </a:rPr>
                        <a:t>......</a:t>
                      </a:r>
                      <a:endParaRPr lang="en-US" altLang="en-US" sz="1350">
                        <a:ln>
                          <a:noFill/>
                        </a:ln>
                        <a:solidFill>
                          <a:prstClr val="black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下箭头 10"/>
          <p:cNvSpPr/>
          <p:nvPr/>
        </p:nvSpPr>
        <p:spPr>
          <a:xfrm rot="16200000">
            <a:off x="2300605" y="1772285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4386580" y="328422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爆炸形 1 59"/>
          <p:cNvSpPr/>
          <p:nvPr/>
        </p:nvSpPr>
        <p:spPr>
          <a:xfrm>
            <a:off x="3504565" y="431101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68745" y="1449705"/>
            <a:ext cx="5419090" cy="1577975"/>
            <a:chOff x="1286" y="2042"/>
            <a:chExt cx="8534" cy="2485"/>
          </a:xfrm>
        </p:grpSpPr>
        <p:sp>
          <p:nvSpPr>
            <p:cNvPr id="21" name="椭圆 20"/>
            <p:cNvSpPr/>
            <p:nvPr/>
          </p:nvSpPr>
          <p:spPr>
            <a:xfrm>
              <a:off x="4159" y="2042"/>
              <a:ext cx="2188" cy="11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200">
                  <a:solidFill>
                    <a:schemeClr val="tx1"/>
                  </a:solidFill>
                  <a:sym typeface="+mn-ea"/>
                </a:rPr>
                <a:t>目标</a:t>
              </a:r>
              <a:endParaRPr lang="en-US" altLang="en-US" sz="12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286" y="3358"/>
              <a:ext cx="3898" cy="116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 sz="1400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用前后文的词向量来预测句中的某个词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  <a:p>
              <a:pPr algn="ctr"/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5922" y="3358"/>
              <a:ext cx="3898" cy="116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一起出现的向量在向量图上相距较近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</p:grpSp>
      <p:cxnSp>
        <p:nvCxnSpPr>
          <p:cNvPr id="29" name="肘形连接符 28"/>
          <p:cNvCxnSpPr>
            <a:stCxn id="21" idx="2"/>
            <a:endCxn id="22" idx="0"/>
          </p:cNvCxnSpPr>
          <p:nvPr/>
        </p:nvCxnSpPr>
        <p:spPr>
          <a:xfrm rot="10800000" flipV="1">
            <a:off x="7706360" y="1802765"/>
            <a:ext cx="586740" cy="4826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21" idx="6"/>
            <a:endCxn id="23" idx="0"/>
          </p:cNvCxnSpPr>
          <p:nvPr/>
        </p:nvCxnSpPr>
        <p:spPr>
          <a:xfrm>
            <a:off x="9682480" y="1802765"/>
            <a:ext cx="967740" cy="4826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波形 30"/>
          <p:cNvSpPr/>
          <p:nvPr/>
        </p:nvSpPr>
        <p:spPr>
          <a:xfrm>
            <a:off x="9556115" y="3617595"/>
            <a:ext cx="2478405" cy="1530350"/>
          </a:xfrm>
          <a:prstGeom prst="wav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（V</a:t>
            </a:r>
            <a:r>
              <a:rPr lang="en-US" sz="1400">
                <a:solidFill>
                  <a:schemeClr val="tx1"/>
                </a:solidFill>
                <a:sym typeface="+mn-ea"/>
              </a:rPr>
              <a:t>5+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V2+V8+V6）/4==V4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2" name="图片 31" descr="multi-agent"/>
          <p:cNvPicPr>
            <a:picLocks noChangeAspect="1"/>
          </p:cNvPicPr>
          <p:nvPr/>
        </p:nvPicPr>
        <p:blipFill>
          <a:blip r:embed="rId2"/>
          <a:srcRect l="53250" t="31950" r="2583" b="1935"/>
          <a:stretch>
            <a:fillRect/>
          </a:stretch>
        </p:blipFill>
        <p:spPr>
          <a:xfrm>
            <a:off x="6333490" y="3063240"/>
            <a:ext cx="2910205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g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" y="370205"/>
            <a:ext cx="5582285" cy="5678170"/>
          </a:xfrm>
          <a:prstGeom prst="rect">
            <a:avLst/>
          </a:prstGeom>
        </p:spPr>
      </p:pic>
      <p:pic>
        <p:nvPicPr>
          <p:cNvPr id="15" name="图片 14" descr="Figure_2500"/>
          <p:cNvPicPr>
            <a:picLocks noChangeAspect="1"/>
          </p:cNvPicPr>
          <p:nvPr/>
        </p:nvPicPr>
        <p:blipFill>
          <a:blip r:embed="rId2"/>
          <a:srcRect l="7399" t="9801" r="4278" b="6362"/>
          <a:stretch>
            <a:fillRect/>
          </a:stretch>
        </p:blipFill>
        <p:spPr>
          <a:xfrm>
            <a:off x="6517005" y="3516630"/>
            <a:ext cx="4653915" cy="3313430"/>
          </a:xfrm>
          <a:prstGeom prst="rect">
            <a:avLst/>
          </a:prstGeom>
        </p:spPr>
      </p:pic>
      <p:sp>
        <p:nvSpPr>
          <p:cNvPr id="9" name="爆炸形 1 8"/>
          <p:cNvSpPr/>
          <p:nvPr/>
        </p:nvSpPr>
        <p:spPr>
          <a:xfrm>
            <a:off x="6742430" y="383730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训练2500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6" name="图片 15" descr="Figure_1"/>
          <p:cNvPicPr>
            <a:picLocks noChangeAspect="1"/>
          </p:cNvPicPr>
          <p:nvPr/>
        </p:nvPicPr>
        <p:blipFill>
          <a:blip r:embed="rId3"/>
          <a:srcRect l="8442" t="8116" r="8648" b="6250"/>
          <a:stretch>
            <a:fillRect/>
          </a:stretch>
        </p:blipFill>
        <p:spPr>
          <a:xfrm>
            <a:off x="6624955" y="78740"/>
            <a:ext cx="4438015" cy="3437890"/>
          </a:xfrm>
          <a:prstGeom prst="rect">
            <a:avLst/>
          </a:prstGeom>
        </p:spPr>
      </p:pic>
      <p:sp>
        <p:nvSpPr>
          <p:cNvPr id="60" name="爆炸形 1 59"/>
          <p:cNvSpPr/>
          <p:nvPr/>
        </p:nvSpPr>
        <p:spPr>
          <a:xfrm>
            <a:off x="7012940" y="37020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7119620" y="2595880"/>
            <a:ext cx="4372610" cy="1900555"/>
            <a:chOff x="12041" y="4457"/>
            <a:chExt cx="6886" cy="2993"/>
          </a:xfrm>
        </p:grpSpPr>
        <p:pic>
          <p:nvPicPr>
            <p:cNvPr id="12" name="图片 11" descr="v2-f28e9751177b9e1ab389edebe1f3261b_r"/>
            <p:cNvPicPr>
              <a:picLocks noChangeAspect="1"/>
            </p:cNvPicPr>
            <p:nvPr/>
          </p:nvPicPr>
          <p:blipFill>
            <a:blip r:embed="rId1"/>
            <a:srcRect r="361" b="19900"/>
            <a:stretch>
              <a:fillRect/>
            </a:stretch>
          </p:blipFill>
          <p:spPr>
            <a:xfrm>
              <a:off x="12041" y="4457"/>
              <a:ext cx="6886" cy="2132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2210" y="6870"/>
              <a:ext cx="65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/>
                <a:t>A*B=C</a:t>
              </a:r>
              <a:endParaRPr lang="en-US" altLang="zh-CN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176270" y="1040130"/>
            <a:ext cx="5839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Embedding</a:t>
            </a:r>
            <a:endParaRPr lang="en-US" altLang="zh-CN"/>
          </a:p>
          <a:p>
            <a:pPr algn="ctr"/>
            <a:r>
              <a:rPr lang="en-US" altLang="en-US"/>
              <a:t>（嵌入式、嵌入层）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36270" y="20650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one-hot</a:t>
            </a:r>
            <a:r>
              <a:rPr lang="en-US" altLang="zh-CN"/>
              <a:t>（独热）</a:t>
            </a:r>
            <a:r>
              <a:rPr lang="zh-CN" altLang="en-US"/>
              <a:t>编码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9700" y="2595880"/>
            <a:ext cx="38525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zh-CN" altLang="en-US"/>
              <a:t>小普喜欢星海湾的朋友</a:t>
            </a:r>
            <a:endParaRPr lang="zh-CN" altLang="en-US"/>
          </a:p>
          <a:p>
            <a:pPr algn="dist"/>
            <a:r>
              <a:rPr lang="zh-CN" altLang="en-US"/>
              <a:t>0123456789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260" y="3555365"/>
            <a:ext cx="192976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/>
              <a:t>小普喜欢星海湾的朋友</a:t>
            </a:r>
            <a:endParaRPr lang="zh-CN" altLang="en-US" sz="1200"/>
          </a:p>
          <a:p>
            <a:pPr algn="dist"/>
            <a:r>
              <a:rPr lang="en-US" altLang="zh-CN" sz="1200"/>
              <a:t>[</a:t>
            </a:r>
            <a:r>
              <a:rPr lang="zh-CN" altLang="en-US" sz="1200"/>
              <a:t>1000000000]</a:t>
            </a:r>
            <a:endParaRPr lang="zh-CN" altLang="en-US" sz="1200"/>
          </a:p>
          <a:p>
            <a:pPr algn="dist"/>
            <a:r>
              <a:rPr lang="zh-CN" altLang="en-US" sz="1200"/>
              <a:t>[0100000000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[0010000000]</a:t>
            </a:r>
            <a:endParaRPr lang="zh-CN" altLang="en-US" sz="1200"/>
          </a:p>
          <a:p>
            <a:pPr algn="dist"/>
            <a:r>
              <a:rPr lang="zh-CN" altLang="en-US" sz="1200"/>
              <a:t>[0001000000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[0000100000]</a:t>
            </a:r>
            <a:endParaRPr lang="zh-CN" altLang="en-US" sz="1200"/>
          </a:p>
          <a:p>
            <a:pPr algn="dist"/>
            <a:r>
              <a:rPr lang="zh-CN" altLang="en-US" sz="1200"/>
              <a:t>[0000010000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[0000001000]</a:t>
            </a:r>
            <a:endParaRPr lang="zh-CN" altLang="en-US" sz="1200"/>
          </a:p>
          <a:p>
            <a:pPr algn="dist"/>
            <a:r>
              <a:rPr lang="zh-CN" altLang="en-US" sz="1200"/>
              <a:t>[0000000100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[0000000010]</a:t>
            </a:r>
            <a:endParaRPr lang="zh-CN" altLang="en-US" sz="1200"/>
          </a:p>
          <a:p>
            <a:pPr algn="dist"/>
            <a:r>
              <a:rPr lang="zh-CN" altLang="en-US" sz="1200"/>
              <a:t>[0000000001</a:t>
            </a:r>
            <a:r>
              <a:rPr lang="en-US" altLang="zh-CN" sz="1200"/>
              <a:t>]</a:t>
            </a:r>
            <a:endParaRPr lang="en-US" altLang="zh-CN" sz="1200"/>
          </a:p>
        </p:txBody>
      </p:sp>
      <p:sp>
        <p:nvSpPr>
          <p:cNvPr id="8" name="文本框 7"/>
          <p:cNvSpPr txBox="1"/>
          <p:nvPr/>
        </p:nvSpPr>
        <p:spPr>
          <a:xfrm>
            <a:off x="2072640" y="3555365"/>
            <a:ext cx="191960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/>
              <a:t>星海湾的朋友喜欢小普</a:t>
            </a:r>
            <a:endParaRPr lang="en-US" altLang="zh-CN" sz="1200"/>
          </a:p>
          <a:p>
            <a:pPr algn="dist"/>
            <a:r>
              <a:rPr lang="zh-CN" altLang="en-US" sz="1200"/>
              <a:t>[0000000010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[0000000001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[0000001000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[0000000100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[1000000000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[0100000000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[0010000000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[0001000000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[0000100000</a:t>
            </a:r>
            <a:r>
              <a:rPr lang="en-US" altLang="zh-CN" sz="1200"/>
              <a:t>]</a:t>
            </a:r>
            <a:endParaRPr lang="en-US" altLang="zh-CN" sz="1200"/>
          </a:p>
          <a:p>
            <a:pPr algn="dist"/>
            <a:r>
              <a:rPr lang="zh-CN" altLang="en-US" sz="1200"/>
              <a:t>[0000010000</a:t>
            </a:r>
            <a:r>
              <a:rPr lang="en-US" altLang="zh-CN" sz="1200"/>
              <a:t>]</a:t>
            </a:r>
            <a:endParaRPr lang="en-US" altLang="zh-CN" sz="1200"/>
          </a:p>
        </p:txBody>
      </p:sp>
      <p:sp>
        <p:nvSpPr>
          <p:cNvPr id="31" name="波形 30"/>
          <p:cNvSpPr/>
          <p:nvPr/>
        </p:nvSpPr>
        <p:spPr>
          <a:xfrm>
            <a:off x="281305" y="5621655"/>
            <a:ext cx="2378710" cy="1195705"/>
          </a:xfrm>
          <a:prstGeom prst="wav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计算简单，维度爆炸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过于稀疏，占用资源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云形标注 9"/>
          <p:cNvSpPr/>
          <p:nvPr/>
        </p:nvSpPr>
        <p:spPr>
          <a:xfrm>
            <a:off x="4167505" y="1819910"/>
            <a:ext cx="2272665" cy="1084580"/>
          </a:xfrm>
          <a:prstGeom prst="cloudCallout">
            <a:avLst>
              <a:gd name="adj1" fmla="val 112307"/>
              <a:gd name="adj2" fmla="val 3302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我们的CBOW编码是将30维降为二维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56320" y="195580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Embedding层</a:t>
            </a:r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167505" y="3448685"/>
            <a:ext cx="2619375" cy="833120"/>
          </a:xfrm>
          <a:prstGeom prst="right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此处本质是降维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16" name="图片 15" descr="nlp-w2v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05" y="4587875"/>
            <a:ext cx="4095750" cy="2229485"/>
          </a:xfrm>
          <a:prstGeom prst="rect">
            <a:avLst/>
          </a:prstGeom>
        </p:spPr>
      </p:pic>
      <p:sp>
        <p:nvSpPr>
          <p:cNvPr id="17" name="云形标注 16"/>
          <p:cNvSpPr/>
          <p:nvPr/>
        </p:nvSpPr>
        <p:spPr>
          <a:xfrm>
            <a:off x="3303270" y="5796280"/>
            <a:ext cx="2272665" cy="1084580"/>
          </a:xfrm>
          <a:prstGeom prst="cloudCallout">
            <a:avLst>
              <a:gd name="adj1" fmla="val -58158"/>
              <a:gd name="adj2" fmla="val -4484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词向量都是彼此正交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，体现不出相似关系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pg0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9825" y="1156335"/>
            <a:ext cx="4457065" cy="59239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76270" y="1040130"/>
            <a:ext cx="5839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Embedding</a:t>
            </a:r>
            <a:endParaRPr lang="en-US" altLang="zh-CN"/>
          </a:p>
          <a:p>
            <a:pPr algn="ctr"/>
            <a:r>
              <a:rPr lang="en-US" altLang="en-US"/>
              <a:t>（嵌入式、嵌入层）</a:t>
            </a:r>
            <a:endParaRPr lang="en-US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9755" y="1685290"/>
            <a:ext cx="35852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keras.layers.Embedding</a:t>
            </a:r>
            <a:r>
              <a:rPr lang="en-US" altLang="zh-CN"/>
              <a:t>函数</a:t>
            </a:r>
            <a:endParaRPr lang="en-US" altLang="zh-CN"/>
          </a:p>
        </p:txBody>
      </p:sp>
      <p:graphicFrame>
        <p:nvGraphicFramePr>
          <p:cNvPr id="18" name="表格 17"/>
          <p:cNvGraphicFramePr/>
          <p:nvPr/>
        </p:nvGraphicFramePr>
        <p:xfrm>
          <a:off x="1899285" y="2239645"/>
          <a:ext cx="1214120" cy="4004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060"/>
                <a:gridCol w="607060"/>
              </a:tblGrid>
              <a:tr h="57213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latin typeface="Calibri" charset="0"/>
                          <a:ea typeface="Calibri" charset="0"/>
                          <a:cs typeface="Calibri" charset="0"/>
                        </a:rPr>
                        <a:t>Embedding Dim（2）</a:t>
                      </a:r>
                      <a:endParaRPr lang="en-US" altLang="en-US" sz="1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Calibri" charset="0"/>
                          <a:cs typeface="Calibri" charset="0"/>
                        </a:rPr>
                        <a:t> .</a:t>
                      </a:r>
                      <a:r>
                        <a:rPr lang="en-US" altLang="en-US" sz="2400" b="0">
                          <a:latin typeface="Calibri" charset="0"/>
                          <a:cs typeface="Calibri" charset="0"/>
                        </a:rPr>
                        <a:t>..</a:t>
                      </a:r>
                      <a:endParaRPr lang="en-US" altLang="en-US" sz="24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Calibri" charset="0"/>
                          <a:cs typeface="Calibri" charset="0"/>
                        </a:rPr>
                        <a:t> </a:t>
                      </a:r>
                      <a:endParaRPr lang="en-US" altLang="en-US" sz="1000" b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-635" y="2957195"/>
            <a:ext cx="183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元素9→索引0→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-635" y="3542030"/>
            <a:ext cx="1837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</a:t>
            </a:r>
            <a:r>
              <a:rPr lang="en-US" altLang="en-US"/>
              <a:t>3</a:t>
            </a:r>
            <a:r>
              <a:rPr lang="en-US" altLang="zh-CN"/>
              <a:t>→索引1→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-635" y="5220335"/>
            <a:ext cx="196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</a:t>
            </a:r>
            <a:r>
              <a:rPr lang="en-US" altLang="en-US"/>
              <a:t>w</a:t>
            </a:r>
            <a:r>
              <a:rPr lang="en-US" altLang="zh-CN"/>
              <a:t>→索引</a:t>
            </a:r>
            <a:r>
              <a:rPr lang="en-US" altLang="en-US"/>
              <a:t>28</a:t>
            </a:r>
            <a:r>
              <a:rPr lang="en-US" altLang="zh-CN"/>
              <a:t>→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-635" y="5795010"/>
            <a:ext cx="2092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元素</a:t>
            </a:r>
            <a:r>
              <a:rPr lang="en-US" altLang="en-US"/>
              <a:t>n</a:t>
            </a:r>
            <a:r>
              <a:rPr lang="en-US" altLang="zh-CN"/>
              <a:t>→索引</a:t>
            </a:r>
            <a:r>
              <a:rPr lang="en-US" altLang="en-US"/>
              <a:t>29</a:t>
            </a:r>
            <a:r>
              <a:rPr lang="en-US" altLang="zh-CN"/>
              <a:t>→</a:t>
            </a:r>
            <a:endParaRPr lang="en-US" altLang="zh-CN"/>
          </a:p>
        </p:txBody>
      </p:sp>
      <p:sp>
        <p:nvSpPr>
          <p:cNvPr id="23" name="右大括号 22"/>
          <p:cNvSpPr/>
          <p:nvPr/>
        </p:nvSpPr>
        <p:spPr>
          <a:xfrm>
            <a:off x="3176270" y="2871470"/>
            <a:ext cx="343535" cy="33731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519805" y="4235450"/>
            <a:ext cx="13106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n_vocab</a:t>
            </a:r>
            <a:endParaRPr lang="zh-CN" altLang="en-US"/>
          </a:p>
          <a:p>
            <a:pPr algn="ctr"/>
            <a:r>
              <a:rPr lang="en-US" altLang="zh-CN"/>
              <a:t>（</a:t>
            </a:r>
            <a:r>
              <a:rPr lang="zh-CN" altLang="en-US"/>
              <a:t>30</a:t>
            </a:r>
            <a:r>
              <a:rPr lang="en-US" altLang="zh-CN"/>
              <a:t>）</a:t>
            </a:r>
            <a:endParaRPr lang="en-US" altLang="zh-CN"/>
          </a:p>
        </p:txBody>
      </p:sp>
      <p:grpSp>
        <p:nvGrpSpPr>
          <p:cNvPr id="34" name="组合 33"/>
          <p:cNvGrpSpPr/>
          <p:nvPr/>
        </p:nvGrpSpPr>
        <p:grpSpPr>
          <a:xfrm>
            <a:off x="124460" y="6365875"/>
            <a:ext cx="4867275" cy="448310"/>
            <a:chOff x="196" y="10025"/>
            <a:chExt cx="7665" cy="706"/>
          </a:xfrm>
        </p:grpSpPr>
        <p:sp>
          <p:nvSpPr>
            <p:cNvPr id="25" name="右箭头 24"/>
            <p:cNvSpPr/>
            <p:nvPr/>
          </p:nvSpPr>
          <p:spPr>
            <a:xfrm>
              <a:off x="1584" y="10132"/>
              <a:ext cx="1229" cy="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流程图: 终止 26"/>
            <p:cNvSpPr/>
            <p:nvPr/>
          </p:nvSpPr>
          <p:spPr>
            <a:xfrm>
              <a:off x="196" y="10027"/>
              <a:ext cx="1279" cy="705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索引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30" name="右箭头 29"/>
            <p:cNvSpPr/>
            <p:nvPr/>
          </p:nvSpPr>
          <p:spPr>
            <a:xfrm>
              <a:off x="4986" y="10134"/>
              <a:ext cx="1229" cy="4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流程图: 终止 31"/>
            <p:cNvSpPr/>
            <p:nvPr/>
          </p:nvSpPr>
          <p:spPr>
            <a:xfrm>
              <a:off x="2991" y="10026"/>
              <a:ext cx="1911" cy="705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独热编码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流程图: 终止 32"/>
            <p:cNvSpPr/>
            <p:nvPr/>
          </p:nvSpPr>
          <p:spPr>
            <a:xfrm>
              <a:off x="6321" y="10025"/>
              <a:ext cx="1541" cy="705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solidFill>
                    <a:schemeClr val="tx1"/>
                  </a:solidFill>
                </a:rPr>
                <a:t>词向量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云形标注 35"/>
          <p:cNvSpPr/>
          <p:nvPr/>
        </p:nvSpPr>
        <p:spPr>
          <a:xfrm>
            <a:off x="3239770" y="1872615"/>
            <a:ext cx="2526030" cy="1084580"/>
          </a:xfrm>
          <a:prstGeom prst="cloudCallout">
            <a:avLst>
              <a:gd name="adj1" fmla="val -37985"/>
              <a:gd name="adj2" fmla="val 9625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此处</a:t>
            </a:r>
            <a:r>
              <a:rPr lang="en-US" sz="1400">
                <a:solidFill>
                  <a:schemeClr val="tx1"/>
                </a:solidFill>
                <a:sym typeface="+mn-ea"/>
              </a:rPr>
              <a:t>Embedding层是把向量中每一个标签值映射为一个</a:t>
            </a:r>
            <a:r>
              <a:rPr lang="en-US" altLang="en-US" sz="1400">
                <a:solidFill>
                  <a:schemeClr val="tx1"/>
                </a:solidFill>
                <a:sym typeface="+mn-ea"/>
              </a:rPr>
              <a:t>2</a:t>
            </a:r>
            <a:r>
              <a:rPr lang="en-US" sz="1400">
                <a:solidFill>
                  <a:schemeClr val="tx1"/>
                </a:solidFill>
                <a:sym typeface="+mn-ea"/>
              </a:rPr>
              <a:t>维向量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5916295" y="1935480"/>
            <a:ext cx="1715135" cy="1313815"/>
          </a:xfrm>
          <a:prstGeom prst="wedgeRoundRectCallout">
            <a:avLst>
              <a:gd name="adj1" fmla="val 84431"/>
              <a:gd name="adj2" fmla="val -3052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fc输入为4X2矩阵embeded，输出为4X30矩阵，与每个元素的预测概率正相关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6536690" y="5220335"/>
            <a:ext cx="1271905" cy="1253490"/>
          </a:xfrm>
          <a:prstGeom prst="wedgeRoundRectCallout">
            <a:avLst>
              <a:gd name="adj1" fmla="val 84431"/>
              <a:gd name="adj2" fmla="val -3052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one-hot矩阵相当于每个元素概率列表</a:t>
            </a:r>
            <a:endParaRPr lang="en-US" altLang="en-US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3176270" y="471170"/>
            <a:ext cx="583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Skin-Gram</a:t>
            </a:r>
            <a:endParaRPr lang="en-US" altLang="zh-CN"/>
          </a:p>
        </p:txBody>
      </p:sp>
      <p:graphicFrame>
        <p:nvGraphicFramePr>
          <p:cNvPr id="11" name="表格 10"/>
          <p:cNvGraphicFramePr/>
          <p:nvPr/>
        </p:nvGraphicFramePr>
        <p:xfrm>
          <a:off x="678180" y="1779905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678180" y="2174875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/>
        </p:nvGraphicFramePr>
        <p:xfrm>
          <a:off x="678180" y="2583180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/>
        </p:nvGraphicFramePr>
        <p:xfrm>
          <a:off x="678180" y="2984500"/>
          <a:ext cx="2248535" cy="15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555"/>
                <a:gridCol w="250190"/>
                <a:gridCol w="249555"/>
                <a:gridCol w="250190"/>
                <a:gridCol w="249555"/>
                <a:gridCol w="249555"/>
                <a:gridCol w="250190"/>
                <a:gridCol w="249555"/>
                <a:gridCol w="250190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a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t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g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q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e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h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9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u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latin typeface="宋体" charset="0"/>
                          <a:cs typeface="宋体" charset="0"/>
                        </a:rPr>
                        <a:t>f</a:t>
                      </a:r>
                      <a:endParaRPr lang="en-US" altLang="en-US" sz="1000" b="0">
                        <a:latin typeface="宋体" charset="0"/>
                        <a:ea typeface="宋体" charset="0"/>
                        <a:cs typeface="宋体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" name="图片 21" descr="pg0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770" y="1022985"/>
            <a:ext cx="4671060" cy="548513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751840" y="471170"/>
            <a:ext cx="5027930" cy="6347460"/>
            <a:chOff x="117" y="637"/>
            <a:chExt cx="7918" cy="9996"/>
          </a:xfrm>
        </p:grpSpPr>
        <p:sp>
          <p:nvSpPr>
            <p:cNvPr id="7" name="文本框 6"/>
            <p:cNvSpPr txBox="1"/>
            <p:nvPr/>
          </p:nvSpPr>
          <p:spPr>
            <a:xfrm>
              <a:off x="513" y="1506"/>
              <a:ext cx="75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目标：预测文本中某个字周围可能出现的词</a:t>
              </a:r>
              <a:endParaRPr lang="zh-CN" altLang="en-US"/>
            </a:p>
          </p:txBody>
        </p:sp>
        <p:sp>
          <p:nvSpPr>
            <p:cNvPr id="9" name="圆角矩形标注 8"/>
            <p:cNvSpPr/>
            <p:nvPr/>
          </p:nvSpPr>
          <p:spPr>
            <a:xfrm>
              <a:off x="3414" y="637"/>
              <a:ext cx="2596" cy="685"/>
            </a:xfrm>
            <a:prstGeom prst="wedgeRoundRectCallout">
              <a:avLst>
                <a:gd name="adj1" fmla="val -39676"/>
                <a:gd name="adj2" fmla="val 8211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400">
                  <a:solidFill>
                    <a:schemeClr val="tx1"/>
                  </a:solidFill>
                  <a:sym typeface="+mn-ea"/>
                </a:rPr>
                <a:t>对比CBOW</a:t>
              </a:r>
              <a:endParaRPr lang="en-US" altLang="en-US" sz="14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1" name="爆炸形 1 20"/>
            <p:cNvSpPr/>
            <p:nvPr/>
          </p:nvSpPr>
          <p:spPr>
            <a:xfrm>
              <a:off x="4081" y="2837"/>
              <a:ext cx="3289" cy="1810"/>
            </a:xfrm>
            <a:prstGeom prst="irregularSeal1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sz="1000">
                  <a:solidFill>
                    <a:schemeClr val="tx1"/>
                  </a:solidFill>
                  <a:sym typeface="+mn-ea"/>
                </a:rPr>
                <a:t>依据深褐色已知元素，预测浅褐色未知元素</a:t>
              </a:r>
              <a:endParaRPr lang="en-US" altLang="en-US" sz="1000">
                <a:solidFill>
                  <a:schemeClr val="tx1"/>
                </a:solidFill>
                <a:sym typeface="+mn-ea"/>
              </a:endParaRPr>
            </a:p>
          </p:txBody>
        </p:sp>
        <p:pic>
          <p:nvPicPr>
            <p:cNvPr id="24" name="图片 23" descr="Figure_1"/>
            <p:cNvPicPr>
              <a:picLocks noChangeAspect="1"/>
            </p:cNvPicPr>
            <p:nvPr/>
          </p:nvPicPr>
          <p:blipFill>
            <a:blip r:embed="rId2"/>
            <a:srcRect l="8594" t="10243" r="8757" b="7017"/>
            <a:stretch>
              <a:fillRect/>
            </a:stretch>
          </p:blipFill>
          <p:spPr>
            <a:xfrm>
              <a:off x="117" y="5401"/>
              <a:ext cx="6968" cy="5232"/>
            </a:xfrm>
            <a:prstGeom prst="rect">
              <a:avLst/>
            </a:prstGeom>
          </p:spPr>
        </p:pic>
      </p:grpSp>
      <p:sp>
        <p:nvSpPr>
          <p:cNvPr id="26" name="爆炸形 1 25"/>
          <p:cNvSpPr/>
          <p:nvPr/>
        </p:nvSpPr>
        <p:spPr>
          <a:xfrm>
            <a:off x="2767965" y="4900295"/>
            <a:ext cx="2088515" cy="114935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训练2500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dfb714c1537176247a46450a89e77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370840"/>
            <a:ext cx="4987925" cy="62350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递归神经网络 </a:t>
            </a:r>
            <a:endParaRPr lang="zh-CN" altLang="en-US"/>
          </a:p>
          <a:p>
            <a:pPr algn="ctr"/>
            <a:r>
              <a:rPr lang="zh-CN" altLang="en-US"/>
              <a:t>(RNN, Recurssion Neural Network)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9220" y="937260"/>
            <a:ext cx="49815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使用前馈神经网络时，神经网络会认为我们</a:t>
            </a:r>
            <a:r>
              <a:rPr lang="en-US" altLang="zh-CN"/>
              <a:t>（t+1）</a:t>
            </a:r>
            <a:r>
              <a:rPr lang="zh-CN" altLang="en-US"/>
              <a:t>时刻输入的内容与</a:t>
            </a:r>
            <a:r>
              <a:rPr lang="en-US" altLang="zh-CN"/>
              <a:t>t</a:t>
            </a:r>
            <a:r>
              <a:rPr lang="zh-CN" altLang="en-US"/>
              <a:t>时刻输入的内容完全无关</a:t>
            </a:r>
            <a:r>
              <a:rPr lang="en-US" altLang="zh-CN"/>
              <a:t>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NLP分析时，</a:t>
            </a:r>
            <a:r>
              <a:rPr lang="en-US" altLang="zh-CN"/>
              <a:t>需要</a:t>
            </a:r>
            <a:r>
              <a:rPr lang="zh-CN" altLang="en-US"/>
              <a:t>合理运用之前的输入。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9220" y="5792470"/>
            <a:ext cx="51320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/>
              <a:t> 想象设计了一个基于简单RNN的句子自动补全器</a:t>
            </a:r>
            <a:r>
              <a:rPr lang="en-US" altLang="zh-CN"/>
              <a:t>，显然第二步的预测值和第一步输入值（‘Sea’）有关。</a:t>
            </a:r>
            <a:endParaRPr lang="en-US" altLang="zh-CN"/>
          </a:p>
        </p:txBody>
      </p:sp>
      <p:pic>
        <p:nvPicPr>
          <p:cNvPr id="8" name="图片 7" descr="multi-agent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3795" y="1072515"/>
            <a:ext cx="3304540" cy="3837940"/>
          </a:xfrm>
          <a:prstGeom prst="rect">
            <a:avLst/>
          </a:prstGeom>
        </p:spPr>
      </p:pic>
      <p:pic>
        <p:nvPicPr>
          <p:cNvPr id="11" name="图片 10" descr="multi-agent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5" y="2070735"/>
            <a:ext cx="3999865" cy="3152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40259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Seq2Seq 模型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2435" y="962660"/>
            <a:ext cx="5370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Seq2Seq 是一种循环神经网络的变种，包括编码器 (Encoder) 和解码器 (Decoder) 两部分。</a:t>
            </a:r>
            <a:endParaRPr lang="zh-CN" altLang="en-US"/>
          </a:p>
        </p:txBody>
      </p:sp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499235"/>
            <a:ext cx="6343015" cy="2923540"/>
          </a:xfrm>
          <a:prstGeom prst="rect">
            <a:avLst/>
          </a:prstGeom>
        </p:spPr>
      </p:pic>
      <p:sp>
        <p:nvSpPr>
          <p:cNvPr id="26" name="爆炸形 1 25"/>
          <p:cNvSpPr/>
          <p:nvPr/>
        </p:nvSpPr>
        <p:spPr>
          <a:xfrm>
            <a:off x="1958975" y="5086985"/>
            <a:ext cx="4024630" cy="154432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Seq2Seq核心是训练Encoder和Decoder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283210" y="4277360"/>
            <a:ext cx="2109470" cy="809625"/>
          </a:xfrm>
          <a:prstGeom prst="cloudCallout">
            <a:avLst>
              <a:gd name="adj1" fmla="val 30072"/>
              <a:gd name="adj2" fmla="val -14286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编码器本质是压缩器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24701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例程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76580" y="615315"/>
            <a:ext cx="4006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目标：</a:t>
            </a:r>
            <a:r>
              <a:rPr lang="en-US" altLang="zh-CN"/>
              <a:t>训练转化日期格式的模型	</a:t>
            </a:r>
            <a:endParaRPr lang="en-US" altLang="zh-CN"/>
          </a:p>
          <a:p>
            <a:pPr algn="l"/>
            <a:r>
              <a:rPr lang="en-US" altLang="zh-CN">
                <a:solidFill>
                  <a:srgbClr val="FF0000"/>
                </a:solidFill>
              </a:rPr>
              <a:t>31-04-26</a:t>
            </a:r>
            <a:r>
              <a:rPr lang="en-US" altLang="zh-CN"/>
              <a:t>转化为</a:t>
            </a:r>
            <a:r>
              <a:rPr lang="en-US" altLang="zh-CN">
                <a:solidFill>
                  <a:srgbClr val="FF0000"/>
                </a:solidFill>
              </a:rPr>
              <a:t>26/Apr/2031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pg0 (2)"/>
          <p:cNvPicPr>
            <a:picLocks noChangeAspect="1"/>
          </p:cNvPicPr>
          <p:nvPr/>
        </p:nvPicPr>
        <p:blipFill>
          <a:blip r:embed="rId1"/>
          <a:srcRect l="4044" t="4102" r="3883" b="4113"/>
          <a:stretch>
            <a:fillRect/>
          </a:stretch>
        </p:blipFill>
        <p:spPr>
          <a:xfrm>
            <a:off x="158750" y="1260475"/>
            <a:ext cx="4841240" cy="536956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5065395" y="1334770"/>
          <a:ext cx="703770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20"/>
                <a:gridCol w="581660"/>
                <a:gridCol w="581660"/>
                <a:gridCol w="581660"/>
                <a:gridCol w="581025"/>
                <a:gridCol w="581025"/>
                <a:gridCol w="581660"/>
                <a:gridCol w="581025"/>
                <a:gridCol w="581025"/>
                <a:gridCol w="581660"/>
                <a:gridCol w="581025"/>
                <a:gridCol w="581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sym typeface="+mn-ea"/>
                        </a:rPr>
                        <a:t>Apr</a:t>
                      </a:r>
                      <a:endParaRPr lang="en-US" altLang="zh-CN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EOS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标签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RNN模型：预测航迹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-2540" y="1280160"/>
            <a:ext cx="4481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模型：依据已知飞机的三维航迹（坐标），预测接下来的航迹数据</a:t>
            </a:r>
            <a:r>
              <a:rPr lang="en-US"/>
              <a:t>。</a:t>
            </a:r>
            <a:endParaRPr lang="en-US"/>
          </a:p>
        </p:txBody>
      </p:sp>
      <p:pic>
        <p:nvPicPr>
          <p:cNvPr id="5" name="图片 4" descr="multi-ag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3670" y="1859915"/>
            <a:ext cx="4482465" cy="3538855"/>
          </a:xfrm>
          <a:prstGeom prst="rect">
            <a:avLst/>
          </a:prstGeom>
        </p:spPr>
      </p:pic>
      <p:pic>
        <p:nvPicPr>
          <p:cNvPr id="4" name="图片 3" descr="multi-ag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505" y="1108075"/>
            <a:ext cx="3666490" cy="2675890"/>
          </a:xfrm>
          <a:prstGeom prst="rect">
            <a:avLst/>
          </a:prstGeom>
        </p:spPr>
      </p:pic>
      <p:pic>
        <p:nvPicPr>
          <p:cNvPr id="7" name="图片 6" descr="Screenshot from 2023-03-03 16-00-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745" y="1582420"/>
            <a:ext cx="3533140" cy="3371215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/>
        </p:nvGraphicFramePr>
        <p:xfrm>
          <a:off x="8939530" y="1340485"/>
          <a:ext cx="2840355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785"/>
                <a:gridCol w="946785"/>
                <a:gridCol w="946785"/>
              </a:tblGrid>
              <a:tr h="297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y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z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图片 5" descr="Figure_1"/>
          <p:cNvPicPr>
            <a:picLocks noChangeAspect="1"/>
          </p:cNvPicPr>
          <p:nvPr/>
        </p:nvPicPr>
        <p:blipFill>
          <a:blip r:embed="rId4"/>
          <a:srcRect l="10321" t="4063" r="6749" b="3237"/>
          <a:stretch>
            <a:fillRect/>
          </a:stretch>
        </p:blipFill>
        <p:spPr>
          <a:xfrm>
            <a:off x="4122420" y="3847465"/>
            <a:ext cx="4431665" cy="26327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920" y="568960"/>
            <a:ext cx="10570210" cy="56178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RNN</a:t>
            </a:r>
            <a:r>
              <a:rPr lang="en-US" altLang="en-US"/>
              <a:t>原理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97880" y="911225"/>
            <a:ext cx="414274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Φ ( U x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W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t-1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b)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V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c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L= yt - Ot</a:t>
            </a:r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pic>
        <p:nvPicPr>
          <p:cNvPr id="7" name="图片 6" descr="ddpg (2)"/>
          <p:cNvPicPr>
            <a:picLocks noChangeAspect="1"/>
          </p:cNvPicPr>
          <p:nvPr/>
        </p:nvPicPr>
        <p:blipFill>
          <a:blip r:embed="rId1"/>
          <a:srcRect r="53088" b="66143"/>
          <a:stretch>
            <a:fillRect/>
          </a:stretch>
        </p:blipFill>
        <p:spPr>
          <a:xfrm>
            <a:off x="125095" y="788670"/>
            <a:ext cx="5605780" cy="4635500"/>
          </a:xfrm>
          <a:prstGeom prst="rect">
            <a:avLst/>
          </a:prstGeom>
        </p:spPr>
      </p:pic>
      <p:sp>
        <p:nvSpPr>
          <p:cNvPr id="10" name="圆角矩形标注 9"/>
          <p:cNvSpPr/>
          <p:nvPr/>
        </p:nvSpPr>
        <p:spPr>
          <a:xfrm>
            <a:off x="4625975" y="1842770"/>
            <a:ext cx="1729105" cy="442595"/>
          </a:xfrm>
          <a:prstGeom prst="wedgeRoundRectCallout">
            <a:avLst>
              <a:gd name="adj1" fmla="val -38909"/>
              <a:gd name="adj2" fmla="val 8730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隐层单元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2677795" y="596900"/>
            <a:ext cx="1729105" cy="314325"/>
          </a:xfrm>
          <a:prstGeom prst="wedgeRoundRectCallout">
            <a:avLst>
              <a:gd name="adj1" fmla="val -36008"/>
              <a:gd name="adj2" fmla="val 10423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t时间步预测值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1741170" y="5210175"/>
            <a:ext cx="1219200" cy="442595"/>
          </a:xfrm>
          <a:prstGeom prst="wedgeRoundRectCallout">
            <a:avLst>
              <a:gd name="adj1" fmla="val 41443"/>
              <a:gd name="adj2" fmla="val -8472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t时间步输入值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966325" y="133921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L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损失函数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y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训练集的标签</a:t>
            </a:r>
            <a:endParaRPr lang="zh-CN" altLang="en-US" sz="1400">
              <a:solidFill>
                <a:schemeClr val="tx1"/>
              </a:solidFill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V、W、U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权值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4" name="图片 13" descr="Screenshot from 2023-03-04 20-21-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725" y="2444115"/>
            <a:ext cx="3590290" cy="1323975"/>
          </a:xfrm>
          <a:prstGeom prst="rect">
            <a:avLst/>
          </a:prstGeom>
        </p:spPr>
      </p:pic>
      <p:pic>
        <p:nvPicPr>
          <p:cNvPr id="15" name="图片 14" descr="Screenshot from 2023-03-04 20-22-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490" y="6029325"/>
            <a:ext cx="8250555" cy="817880"/>
          </a:xfrm>
          <a:prstGeom prst="rect">
            <a:avLst/>
          </a:prstGeom>
        </p:spPr>
      </p:pic>
      <p:pic>
        <p:nvPicPr>
          <p:cNvPr id="17" name="图片 16" descr="Screenshot from 2023-03-04 20-22-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490" y="5229860"/>
            <a:ext cx="8164195" cy="799465"/>
          </a:xfrm>
          <a:prstGeom prst="rect">
            <a:avLst/>
          </a:prstGeom>
        </p:spPr>
      </p:pic>
      <p:sp>
        <p:nvSpPr>
          <p:cNvPr id="26" name="爆炸形 1 25"/>
          <p:cNvSpPr/>
          <p:nvPr/>
        </p:nvSpPr>
        <p:spPr>
          <a:xfrm>
            <a:off x="6287770" y="3556000"/>
            <a:ext cx="4674235" cy="148971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累乘会导致激活函数导数的累乘，进而会导致“梯度消失“和“梯度爆炸“现象的发生。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0920" y="292100"/>
            <a:ext cx="5090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递归神经网络 </a:t>
            </a:r>
            <a:endParaRPr lang="zh-CN" altLang="en-US"/>
          </a:p>
          <a:p>
            <a:pPr algn="ctr"/>
            <a:r>
              <a:rPr lang="zh-CN" altLang="en-US"/>
              <a:t>(RNN, Recurssion Neural Network)</a:t>
            </a:r>
            <a:endParaRPr lang="zh-CN" altLang="en-US"/>
          </a:p>
        </p:txBody>
      </p:sp>
      <p:pic>
        <p:nvPicPr>
          <p:cNvPr id="4" name="图片 3" descr="netForwatch.onn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" y="257175"/>
            <a:ext cx="2080260" cy="6343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96530" y="768985"/>
            <a:ext cx="414274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Φ ( U x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W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t-1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b)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V S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c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L= yt - Ot</a:t>
            </a:r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pic>
        <p:nvPicPr>
          <p:cNvPr id="7" name="图片 6" descr="multi-agent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183640"/>
            <a:ext cx="4923790" cy="5228590"/>
          </a:xfrm>
          <a:prstGeom prst="rect">
            <a:avLst/>
          </a:prstGeom>
        </p:spPr>
      </p:pic>
      <p:pic>
        <p:nvPicPr>
          <p:cNvPr id="8" name="图片 7" descr="Figure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540" y="2632075"/>
            <a:ext cx="4513580" cy="33851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3-04 21-09-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5" y="1581785"/>
            <a:ext cx="3485515" cy="285686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899795" y="44323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样本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Screenshot from 2023-03-04 21-10-59"/>
          <p:cNvPicPr>
            <a:picLocks noChangeAspect="1"/>
          </p:cNvPicPr>
          <p:nvPr/>
        </p:nvPicPr>
        <p:blipFill>
          <a:blip r:embed="rId2"/>
          <a:srcRect r="46892" b="3546"/>
          <a:stretch>
            <a:fillRect/>
          </a:stretch>
        </p:blipFill>
        <p:spPr>
          <a:xfrm>
            <a:off x="4694555" y="1389380"/>
            <a:ext cx="3363595" cy="274637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100320" y="26035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输出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 descr="Screenshot from 2023-03-04 21-12-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25" y="4330065"/>
            <a:ext cx="5466715" cy="22955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Screenshot from 2023-03-04 20-22-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3490" y="6029325"/>
            <a:ext cx="8250555" cy="817880"/>
          </a:xfrm>
          <a:prstGeom prst="rect">
            <a:avLst/>
          </a:prstGeom>
        </p:spPr>
      </p:pic>
      <p:pic>
        <p:nvPicPr>
          <p:cNvPr id="17" name="图片 16" descr="Screenshot from 2023-03-04 20-22-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490" y="5229860"/>
            <a:ext cx="8164195" cy="7994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47715" y="911225"/>
            <a:ext cx="414274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H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Φ ( U x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W </a:t>
            </a:r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H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t-1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b)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= V </a:t>
            </a:r>
            <a:r>
              <a:rPr lang="en-US" altLang="en-US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H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+ c</a:t>
            </a:r>
            <a:endParaRPr lang="en-US" altLang="zh-CN" sz="28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L= y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r>
              <a:rPr lang="en-US" altLang="zh-CN" sz="28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 - O</a:t>
            </a:r>
            <a:r>
              <a:rPr lang="en-US" altLang="zh-CN" sz="2800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  <a:p>
            <a:pPr algn="ctr"/>
            <a:endParaRPr lang="en-US" altLang="zh-CN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pic>
        <p:nvPicPr>
          <p:cNvPr id="2" name="图片 1" descr="multi-agent (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6670"/>
            <a:ext cx="2139950" cy="6804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4108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2" name="图片 1" descr="Screenshot from 2023-03-07 19-18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779145"/>
            <a:ext cx="6248400" cy="33267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2285" y="779145"/>
            <a:ext cx="38246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记忆（Ct）：每个LSTM单元保留一个不输出的内部状态，也称为细胞状态。是对于所有输入信息的“概括总结”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隐藏状态Ht：直接与输出状态相关。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815965" y="4105910"/>
            <a:ext cx="45567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通过训练让“门”学习保存哪些信息</a:t>
            </a:r>
            <a:r>
              <a:rPr lang="en-US" altLang="zh-CN">
                <a:sym typeface="+mn-ea"/>
              </a:rPr>
              <a:t>？</a:t>
            </a:r>
            <a:r>
              <a:rPr lang="zh-CN" altLang="en-US">
                <a:sym typeface="+mn-ea"/>
              </a:rPr>
              <a:t>丢弃哪些信息</a:t>
            </a:r>
            <a:r>
              <a:rPr lang="en-US" altLang="zh-CN">
                <a:sym typeface="+mn-ea"/>
              </a:rPr>
              <a:t>？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保存的信息哪些输出？哪些不输出？</a:t>
            </a:r>
            <a:endParaRPr lang="en-US" altLang="zh-CN"/>
          </a:p>
        </p:txBody>
      </p:sp>
      <p:sp>
        <p:nvSpPr>
          <p:cNvPr id="11" name="圆角矩形标注 10"/>
          <p:cNvSpPr/>
          <p:nvPr/>
        </p:nvSpPr>
        <p:spPr>
          <a:xfrm>
            <a:off x="1271905" y="4329430"/>
            <a:ext cx="2666365" cy="581660"/>
          </a:xfrm>
          <a:prstGeom prst="wedgeRoundRectCallout">
            <a:avLst>
              <a:gd name="adj1" fmla="val 33694"/>
              <a:gd name="adj2" fmla="val -103535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相对于RNN，LSTM有各种“门”处理信息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" name="下箭头 7"/>
          <p:cNvSpPr/>
          <p:nvPr/>
        </p:nvSpPr>
        <p:spPr>
          <a:xfrm rot="16200000">
            <a:off x="4714875" y="414655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64965" y="93980"/>
            <a:ext cx="38620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输入门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It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、忘记门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Ft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和输出门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Ot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</p:txBody>
      </p:sp>
      <p:pic>
        <p:nvPicPr>
          <p:cNvPr id="2" name="图片 1" descr="Screenshot from 2023-03-07 19-25-50"/>
          <p:cNvPicPr>
            <a:picLocks noChangeAspect="1"/>
          </p:cNvPicPr>
          <p:nvPr/>
        </p:nvPicPr>
        <p:blipFill>
          <a:blip r:embed="rId1"/>
          <a:srcRect l="3099" t="5377" r="1306" b="1586"/>
          <a:stretch>
            <a:fillRect/>
          </a:stretch>
        </p:blipFill>
        <p:spPr>
          <a:xfrm>
            <a:off x="316230" y="737870"/>
            <a:ext cx="4602480" cy="30543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03595" y="685800"/>
            <a:ext cx="53174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当前时间步的输入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Xt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和前一个时间步的隐状态 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Ht-1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作为数据送入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LSTM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， 由三个具有sigmoid激活函数的全连接层处理， 以计算输入门、遗忘门和输出门的值。 这三个门的值都在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(0,1)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的范围内。</a:t>
            </a:r>
            <a:endParaRPr lang="zh-CN" altLang="en-US"/>
          </a:p>
        </p:txBody>
      </p:sp>
      <p:pic>
        <p:nvPicPr>
          <p:cNvPr id="5" name="图片 4" descr="Screenshot from 2023-03-07 19-30-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4610100"/>
            <a:ext cx="4330065" cy="1308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15355" y="2002155"/>
            <a:ext cx="45974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遗忘门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:</a:t>
            </a:r>
            <a:r>
              <a:rPr>
                <a:latin typeface="Nimbus Roman" panose="00000500000000000000" charset="0"/>
                <a:cs typeface="Nimbus Roman" panose="00000500000000000000" charset="0"/>
              </a:rPr>
              <a:t>根据新的输入和上一时刻的输出决定遗忘掉之前的哪些记忆</a:t>
            </a:r>
            <a:r>
              <a:rPr lang="en-US">
                <a:latin typeface="Nimbus Roman" panose="00000500000000000000" charset="0"/>
                <a:cs typeface="Nimbus Roman" panose="00000500000000000000" charset="0"/>
              </a:rPr>
              <a:t>。</a:t>
            </a:r>
            <a:endParaRPr lang="en-US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en-US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sym typeface="+mn-ea"/>
              </a:rPr>
              <a:t>输入门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决定让多少新的信息加入到 cell 状态 中来。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  <a:sym typeface="+mn-ea"/>
              </a:rPr>
              <a:t>输出门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  <a:sym typeface="+mn-ea"/>
              </a:rPr>
              <a:t>：</a:t>
            </a:r>
            <a:r>
              <a:rPr lang="zh-CN" altLang="en-US">
                <a:sym typeface="+mn-ea"/>
              </a:rPr>
              <a:t>计算当前时刻的输出值的神经层。</a:t>
            </a:r>
            <a:endParaRPr lang="en-US">
              <a:latin typeface="Nimbus Roman" panose="00000500000000000000" charset="0"/>
              <a:cs typeface="Nimbus Roman" panose="00000500000000000000" charset="0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6151880" y="4610100"/>
            <a:ext cx="2461895" cy="1058545"/>
          </a:xfrm>
          <a:prstGeom prst="cloudCallout">
            <a:avLst>
              <a:gd name="adj1" fmla="val -79894"/>
              <a:gd name="adj2" fmla="val 266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建立I、F、O与隐状态Ht-1&amp;样本Xt之间的关系。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Screenshot from 2023-03-07 19-32-06"/>
          <p:cNvPicPr>
            <a:picLocks noChangeAspect="1"/>
          </p:cNvPicPr>
          <p:nvPr/>
        </p:nvPicPr>
        <p:blipFill>
          <a:blip r:embed="rId1"/>
          <a:srcRect l="6883" t="7102" r="1962" b="2744"/>
          <a:stretch>
            <a:fillRect/>
          </a:stretch>
        </p:blipFill>
        <p:spPr>
          <a:xfrm>
            <a:off x="367030" y="755650"/>
            <a:ext cx="4906010" cy="31686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03350" y="2108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候选记忆元</a:t>
            </a:r>
            <a:endParaRPr lang="zh-CN" altLang="en-US"/>
          </a:p>
        </p:txBody>
      </p:sp>
      <p:pic>
        <p:nvPicPr>
          <p:cNvPr id="8" name="图片 7" descr="Screenshot from 2023-03-07 19-34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" y="4171950"/>
            <a:ext cx="4844415" cy="5721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3895" y="5072380"/>
            <a:ext cx="46786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将输入的xt 和 ht-1 整合，然后通过一个tanh神经网络层来创建一个新的状态候选向量</a:t>
            </a:r>
            <a:r>
              <a:rPr lang="zh-CN" altLang="en-US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Ĉ</a:t>
            </a:r>
            <a:r>
              <a:rPr lang="en-US" altLang="zh-CN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</a:rPr>
              <a:t>t</a:t>
            </a:r>
            <a:endParaRPr lang="en-US" altLang="zh-CN" baseline="-25000">
              <a:latin typeface="Nimbus Roman" panose="00000500000000000000" charset="0"/>
              <a:ea typeface="AR PL UKai CN" panose="02000503000000000000" charset="-122"/>
              <a:cs typeface="Nimbus Roman" panose="000005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40345" y="2108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记忆元</a:t>
            </a:r>
            <a:endParaRPr lang="zh-CN" altLang="en-US"/>
          </a:p>
        </p:txBody>
      </p:sp>
      <p:pic>
        <p:nvPicPr>
          <p:cNvPr id="5" name="图片 4" descr="Screenshot from 2023-03-07 21-01-23"/>
          <p:cNvPicPr>
            <a:picLocks noChangeAspect="1"/>
          </p:cNvPicPr>
          <p:nvPr/>
        </p:nvPicPr>
        <p:blipFill>
          <a:blip r:embed="rId3"/>
          <a:srcRect l="1683" t="3387" r="6686" b="3634"/>
          <a:stretch>
            <a:fillRect/>
          </a:stretch>
        </p:blipFill>
        <p:spPr>
          <a:xfrm>
            <a:off x="6359525" y="901700"/>
            <a:ext cx="5191125" cy="2761615"/>
          </a:xfrm>
          <a:prstGeom prst="rect">
            <a:avLst/>
          </a:prstGeom>
        </p:spPr>
      </p:pic>
      <p:pic>
        <p:nvPicPr>
          <p:cNvPr id="9" name="图片 8" descr="Screenshot from 2023-03-07 21-02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860" y="3924300"/>
            <a:ext cx="2944495" cy="5067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032625" y="4744085"/>
            <a:ext cx="46729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 输入门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I</a:t>
            </a:r>
            <a:r>
              <a:rPr lang="en-US" altLang="zh-CN" baseline="-25000">
                <a:latin typeface="Nimbus Roman" panose="00000500000000000000" charset="0"/>
                <a:cs typeface="Nimbus Roman" panose="00000500000000000000" charset="0"/>
              </a:rPr>
              <a:t>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控制采用多少来自</a:t>
            </a:r>
            <a:r>
              <a:rPr lang="zh-CN" altLang="en-US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Ĉ</a:t>
            </a:r>
            <a:r>
              <a:rPr lang="en-US" altLang="zh-CN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的新数据</a:t>
            </a:r>
            <a:endParaRPr lang="zh-CN" altLang="en-US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 遗忘门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F</a:t>
            </a:r>
            <a:r>
              <a:rPr lang="en-US" altLang="zh-CN" baseline="-25000">
                <a:latin typeface="Nimbus Roman" panose="00000500000000000000" charset="0"/>
                <a:cs typeface="Nimbus Roman" panose="00000500000000000000" charset="0"/>
              </a:rPr>
              <a:t>t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控制保留多少过去的记忆元</a:t>
            </a:r>
            <a:r>
              <a:rPr lang="en-US" altLang="zh-CN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C</a:t>
            </a:r>
            <a:r>
              <a:rPr lang="en-US" altLang="zh-CN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t</a:t>
            </a:r>
            <a:r>
              <a:rPr lang="en-US" altLang="en-US" baseline="-25000">
                <a:latin typeface="Nimbus Roman" panose="00000500000000000000" charset="0"/>
                <a:ea typeface="AR PL UKai CN" panose="02000503000000000000" charset="-122"/>
                <a:cs typeface="Nimbus Roman" panose="00000500000000000000" charset="0"/>
                <a:sym typeface="+mn-ea"/>
              </a:rPr>
              <a:t>-1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的内容。</a:t>
            </a:r>
            <a:endParaRPr lang="zh-CN" altLang="en-US">
              <a:latin typeface="Nimbus Roman" panose="00000500000000000000" charset="0"/>
              <a:cs typeface="Nimbus Roman" panose="00000500000000000000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3-07 21-0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825500"/>
            <a:ext cx="6371590" cy="34855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26000" y="19875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隐状态</a:t>
            </a:r>
            <a:endParaRPr lang="zh-CN" altLang="en-US"/>
          </a:p>
        </p:txBody>
      </p:sp>
      <p:pic>
        <p:nvPicPr>
          <p:cNvPr id="4" name="图片 3" descr="Screenshot from 2023-03-07 21-09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4564380"/>
            <a:ext cx="1514475" cy="361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66000" y="928370"/>
            <a:ext cx="34086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隐状态会传递到输出层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记忆元完全属于内部信息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41084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Seq2Seq 模型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32435" y="962660"/>
            <a:ext cx="53708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Seq2Seq 是一种循环神经网络的变种，包括编码器 (Encoder) 和解码器 (Decoder) 两部分。</a:t>
            </a:r>
            <a:endParaRPr lang="zh-CN" altLang="en-US"/>
          </a:p>
        </p:txBody>
      </p:sp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499235"/>
            <a:ext cx="6343015" cy="2923540"/>
          </a:xfrm>
          <a:prstGeom prst="rect">
            <a:avLst/>
          </a:prstGeom>
        </p:spPr>
      </p:pic>
      <p:sp>
        <p:nvSpPr>
          <p:cNvPr id="26" name="爆炸形 1 25"/>
          <p:cNvSpPr/>
          <p:nvPr/>
        </p:nvSpPr>
        <p:spPr>
          <a:xfrm>
            <a:off x="1958975" y="5086985"/>
            <a:ext cx="4024630" cy="154432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Seq2Seq核心是训练Encoder和Decoder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云形标注 35"/>
          <p:cNvSpPr/>
          <p:nvPr/>
        </p:nvSpPr>
        <p:spPr>
          <a:xfrm>
            <a:off x="283210" y="4277360"/>
            <a:ext cx="2109470" cy="809625"/>
          </a:xfrm>
          <a:prstGeom prst="cloudCallout">
            <a:avLst>
              <a:gd name="adj1" fmla="val 30072"/>
              <a:gd name="adj2" fmla="val -14286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编码器本质是压缩器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826000" y="24701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例程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76580" y="615315"/>
            <a:ext cx="4006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目标：</a:t>
            </a:r>
            <a:r>
              <a:rPr lang="en-US" altLang="zh-CN"/>
              <a:t>训练转化日期格式的模型	</a:t>
            </a:r>
            <a:endParaRPr lang="en-US" altLang="zh-CN"/>
          </a:p>
          <a:p>
            <a:pPr algn="l"/>
            <a:r>
              <a:rPr lang="en-US" altLang="zh-CN">
                <a:solidFill>
                  <a:srgbClr val="FF0000"/>
                </a:solidFill>
              </a:rPr>
              <a:t>31-04-26</a:t>
            </a:r>
            <a:r>
              <a:rPr lang="en-US" altLang="zh-CN"/>
              <a:t>转化为</a:t>
            </a:r>
            <a:r>
              <a:rPr lang="en-US" altLang="zh-CN">
                <a:solidFill>
                  <a:srgbClr val="FF0000"/>
                </a:solidFill>
              </a:rPr>
              <a:t>26/Apr/2031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" name="图片 3" descr="pg0 (2)"/>
          <p:cNvPicPr>
            <a:picLocks noChangeAspect="1"/>
          </p:cNvPicPr>
          <p:nvPr/>
        </p:nvPicPr>
        <p:blipFill>
          <a:blip r:embed="rId1"/>
          <a:srcRect l="4044" t="4102" r="3883" b="4113"/>
          <a:stretch>
            <a:fillRect/>
          </a:stretch>
        </p:blipFill>
        <p:spPr>
          <a:xfrm>
            <a:off x="158750" y="1260475"/>
            <a:ext cx="4841240" cy="536956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/>
        </p:nvGraphicFramePr>
        <p:xfrm>
          <a:off x="5065395" y="1334770"/>
          <a:ext cx="703770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20"/>
                <a:gridCol w="581660"/>
                <a:gridCol w="581660"/>
                <a:gridCol w="581660"/>
                <a:gridCol w="581025"/>
                <a:gridCol w="581025"/>
                <a:gridCol w="581660"/>
                <a:gridCol w="581025"/>
                <a:gridCol w="581025"/>
                <a:gridCol w="581660"/>
                <a:gridCol w="581025"/>
                <a:gridCol w="581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sym typeface="+mn-ea"/>
                        </a:rPr>
                        <a:t>Apr</a:t>
                      </a:r>
                      <a:endParaRPr lang="en-US" altLang="zh-CN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EOS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标签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3-08 21-30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730" y="390525"/>
            <a:ext cx="4040505" cy="633476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压缩器encoder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175" y="1488440"/>
            <a:ext cx="31934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作用：</a:t>
            </a:r>
            <a:r>
              <a:rPr lang="zh-CN" altLang="en-US"/>
              <a:t>将原始的词向量按顺序组装起来变成句向量。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7175" y="2552065"/>
            <a:ext cx="319341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i</a:t>
            </a:r>
            <a:r>
              <a:rPr lang="en-US" altLang="en-US"/>
              <a:t>n</a:t>
            </a:r>
            <a:r>
              <a:rPr lang="en-US"/>
              <a:t>put</a:t>
            </a:r>
            <a:r>
              <a:t>{tensor:(32,8)}</a:t>
            </a:r>
            <a:r>
              <a:rPr lang="en-US">
                <a:sym typeface="+mn-ea"/>
              </a:rPr>
              <a:t>：</a:t>
            </a:r>
            <a:r>
              <a:t>32样本，每个样本8个one-hot</a:t>
            </a:r>
            <a:r>
              <a:rPr lang="en-US"/>
              <a:t>编码（</a:t>
            </a:r>
            <a:r>
              <a:t>27元素</a:t>
            </a:r>
            <a:r>
              <a:rPr lang="en-US"/>
              <a:t>）</a:t>
            </a:r>
            <a:r>
              <a:t> </a:t>
            </a: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1&amp;30：初始隐藏状态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2&amp;31：初始细胞状态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33：输出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/>
              <a:t>86-10-14</a:t>
            </a:r>
            <a:endParaRPr lang="en-US"/>
          </a:p>
        </p:txBody>
      </p:sp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640" y="304800"/>
            <a:ext cx="4685030" cy="2562860"/>
          </a:xfrm>
          <a:prstGeom prst="rect">
            <a:avLst/>
          </a:prstGeom>
        </p:spPr>
      </p:pic>
      <p:sp>
        <p:nvSpPr>
          <p:cNvPr id="9" name="流程图: 可选过程 8"/>
          <p:cNvSpPr/>
          <p:nvPr/>
        </p:nvSpPr>
        <p:spPr>
          <a:xfrm>
            <a:off x="7983220" y="3222625"/>
            <a:ext cx="3493135" cy="156591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</a:t>
            </a:r>
            <a:r>
              <a:rPr 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将样本每个字符作为Xi依次输入压缩器LSTM，获取的最后一个记忆和最后一个隐状态作为</a:t>
            </a:r>
            <a:r>
              <a:rPr lang="en-US">
                <a:ln>
                  <a:noFill/>
                </a:ln>
                <a:solidFill>
                  <a:srgbClr val="FF0000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初始记忆和初始隐状态输入解压器</a:t>
            </a:r>
            <a:endParaRPr lang="en-US" altLang="en-US">
              <a:ln>
                <a:noFill/>
              </a:ln>
              <a:solidFill>
                <a:srgbClr val="FF0000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3-09 15-49-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715" y="12700"/>
            <a:ext cx="4461510" cy="6670040"/>
          </a:xfrm>
          <a:prstGeom prst="rect">
            <a:avLst/>
          </a:prstGeom>
        </p:spPr>
      </p:pic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455" y="210820"/>
            <a:ext cx="4685030" cy="25628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-71120" y="2207895"/>
            <a:ext cx="21431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/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/>
              <a:t>0：词向量</a:t>
            </a:r>
            <a:endParaRPr 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/>
              <a:t>1&amp;22</a:t>
            </a:r>
            <a:r>
              <a:rPr lang="en-US"/>
              <a:t>：</a:t>
            </a:r>
            <a:r>
              <a:rPr lang="en-US" altLang="en-US"/>
              <a:t>隐状态h</a:t>
            </a:r>
            <a:endParaRPr lang="en-US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en-US"/>
              <a:t>2&amp;20：记忆c</a:t>
            </a:r>
            <a:endParaRPr lang="en-US" altLang="en-US"/>
          </a:p>
        </p:txBody>
      </p:sp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解压器decoder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流程图: 可选过程 8"/>
          <p:cNvSpPr/>
          <p:nvPr/>
        </p:nvSpPr>
        <p:spPr>
          <a:xfrm>
            <a:off x="5566410" y="3223895"/>
            <a:ext cx="4601845" cy="1565910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Split--&gt;Sigmoid--&gt;Mul（右）     遗忘门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Split--&gt;Sigmoid--&gt;Mul（左）    输入门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Split--&gt;Tanh--&gt;Mul	      候选记忆</a:t>
            </a:r>
            <a:endParaRPr lang="en-US" altLang="en-US">
              <a:ln>
                <a:noFill/>
              </a:ln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algn="l"/>
            <a:r>
              <a:rPr lang="en-US" altLang="en-US">
                <a:ln>
                  <a:noFill/>
                </a:ln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Split--&gt;Sigmoid--&gt;Mul--&gt;22	      输出</a:t>
            </a:r>
            <a:r>
              <a:rPr lang="en-US" altLang="en-US">
                <a:ln>
                  <a:noFill/>
                </a:ln>
                <a:solidFill>
                  <a:srgbClr val="FF0000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	</a:t>
            </a:r>
            <a:endParaRPr lang="en-US" altLang="en-US">
              <a:ln>
                <a:noFill/>
              </a:ln>
              <a:solidFill>
                <a:srgbClr val="FF0000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pic>
        <p:nvPicPr>
          <p:cNvPr id="4" name="图片 3" descr="Screenshot from 2023-03-09 16-18-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065" y="1190625"/>
            <a:ext cx="1914525" cy="3495040"/>
          </a:xfrm>
          <a:prstGeom prst="rect">
            <a:avLst/>
          </a:prstGeom>
        </p:spPr>
      </p:pic>
      <p:sp>
        <p:nvSpPr>
          <p:cNvPr id="36" name="云形标注 35"/>
          <p:cNvSpPr/>
          <p:nvPr/>
        </p:nvSpPr>
        <p:spPr>
          <a:xfrm>
            <a:off x="10074910" y="5055235"/>
            <a:ext cx="2109470" cy="809625"/>
          </a:xfrm>
          <a:prstGeom prst="cloudCallout">
            <a:avLst>
              <a:gd name="adj1" fmla="val 12522"/>
              <a:gd name="adj2" fmla="val -10560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将隐状态转为概率分布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" name="表格 14"/>
          <p:cNvGraphicFramePr/>
          <p:nvPr/>
        </p:nvGraphicFramePr>
        <p:xfrm>
          <a:off x="4900930" y="139065"/>
          <a:ext cx="703770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620"/>
                <a:gridCol w="581660"/>
                <a:gridCol w="581660"/>
                <a:gridCol w="581660"/>
                <a:gridCol w="581025"/>
                <a:gridCol w="581025"/>
                <a:gridCol w="581660"/>
                <a:gridCol w="581025"/>
                <a:gridCol w="581025"/>
                <a:gridCol w="581660"/>
                <a:gridCol w="581025"/>
                <a:gridCol w="581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en-US" altLang="en-US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  <a:endParaRPr lang="en-US" altLang="zh-CN" sz="14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sym typeface="+mn-ea"/>
                        </a:rPr>
                        <a:t>Apr</a:t>
                      </a:r>
                      <a:endParaRPr lang="en-US" altLang="zh-CN" sz="14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/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</a:rPr>
                        <a:t>EOS</a:t>
                      </a:r>
                      <a:endParaRPr lang="en-US" altLang="zh-CN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</a:rPr>
                        <a:t>标签</a:t>
                      </a:r>
                      <a:endParaRPr lang="en-US" altLang="zh-CN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en-US" altLang="zh-CN" sz="14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圆角矩形 12"/>
          <p:cNvSpPr/>
          <p:nvPr/>
        </p:nvSpPr>
        <p:spPr>
          <a:xfrm>
            <a:off x="4445" y="2159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解压器decoder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multi-agent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0970" y="3578860"/>
            <a:ext cx="7609840" cy="32791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2280" y="1477010"/>
            <a:ext cx="29597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>
                <a:latin typeface="Nimbus Roman" panose="00000500000000000000" charset="0"/>
                <a:cs typeface="Nimbus Roman" panose="00000500000000000000" charset="0"/>
              </a:rPr>
              <a:t>解压器输入为样本第i个字符，输出为样本i+1个字符在元素集合的概率分布</a:t>
            </a:r>
            <a:endParaRPr lang="en-US">
              <a:latin typeface="Nimbus Roman" panose="00000500000000000000" charset="0"/>
              <a:cs typeface="Nimbus Roman" panose="00000500000000000000" charset="0"/>
            </a:endParaRPr>
          </a:p>
        </p:txBody>
      </p:sp>
      <p:sp>
        <p:nvSpPr>
          <p:cNvPr id="3" name="乘号 2"/>
          <p:cNvSpPr/>
          <p:nvPr/>
        </p:nvSpPr>
        <p:spPr>
          <a:xfrm>
            <a:off x="7362825" y="139065"/>
            <a:ext cx="2744470" cy="2804795"/>
          </a:xfrm>
          <a:prstGeom prst="mathMultiply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4394835" y="2943860"/>
          <a:ext cx="7543800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1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2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3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4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5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6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7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8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9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10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100" b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latin typeface="宋体" charset="0"/>
                        </a:rPr>
                        <a:t>11</a:t>
                      </a:r>
                      <a:endParaRPr lang="en-US" altLang="en-US" sz="1100" b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>
                      <a:solidFill>
                        <a:schemeClr val="tx1"/>
                      </a:solidFill>
                      <a:prstDash val="soli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GO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Apr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EOS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cs typeface="宋体" charset="0"/>
                        </a:rPr>
                        <a:t>样本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14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9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4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Apr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charset="0"/>
                        </a:rPr>
                        <a:t>EOS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400" b="0">
                          <a:solidFill>
                            <a:schemeClr val="tx1"/>
                          </a:solidFill>
                          <a:cs typeface="宋体" charset="0"/>
                        </a:rPr>
                        <a:t>标签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宋体" charset="0"/>
                        <a:cs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9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2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5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6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4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0000"/>
                          </a:solidFill>
                          <a:latin typeface="宋体" charset="0"/>
                        </a:rPr>
                        <a:t>13</a:t>
                      </a: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400" b="0">
                        <a:solidFill>
                          <a:srgbClr val="FF0000"/>
                        </a:solidFill>
                        <a:latin typeface="宋体" charset="0"/>
                      </a:endParaRPr>
                    </a:p>
                  </a:txBody>
                  <a:tcPr marL="12700" marR="12700" marT="12700" vert="horz" anchor="t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7775575" y="4895850"/>
            <a:ext cx="3415665" cy="13430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 解压器训练时输入为标签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使用时输入为起始符GO和上一步解压器的输出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ddpg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65" y="292735"/>
            <a:ext cx="8094980" cy="64954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" y="203200"/>
            <a:ext cx="11755120" cy="59823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03.15</a:t>
            </a:r>
            <a:endParaRPr lang="en-US" altLang="en-US" sz="4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卷积神经网络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445" y="1101090"/>
            <a:ext cx="5883275" cy="3949700"/>
            <a:chOff x="7" y="1734"/>
            <a:chExt cx="9265" cy="6220"/>
          </a:xfrm>
        </p:grpSpPr>
        <p:pic>
          <p:nvPicPr>
            <p:cNvPr id="2" name="图片 13" descr="Screenshot from 2023-03-12 20-01-58"/>
            <p:cNvPicPr>
              <a:picLocks noChangeAspect="1"/>
            </p:cNvPicPr>
            <p:nvPr/>
          </p:nvPicPr>
          <p:blipFill>
            <a:blip r:embed="rId1"/>
            <a:srcRect r="20926" b="20722"/>
            <a:stretch>
              <a:fillRect/>
            </a:stretch>
          </p:blipFill>
          <p:spPr>
            <a:xfrm>
              <a:off x="7" y="1734"/>
              <a:ext cx="7225" cy="3600"/>
            </a:xfrm>
            <a:prstGeom prst="rect">
              <a:avLst/>
            </a:prstGeom>
          </p:spPr>
        </p:pic>
        <p:pic>
          <p:nvPicPr>
            <p:cNvPr id="4" name="图片 3" descr="Screenshot from 2023-03-13 11-44-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0" y="6896"/>
              <a:ext cx="8890" cy="1058"/>
            </a:xfrm>
            <a:prstGeom prst="rect">
              <a:avLst/>
            </a:prstGeom>
          </p:spPr>
        </p:pic>
        <p:pic>
          <p:nvPicPr>
            <p:cNvPr id="8" name="图片 7" descr="Screenshot from 2023-03-13 11-45-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" y="5683"/>
              <a:ext cx="8923" cy="1013"/>
            </a:xfrm>
            <a:prstGeom prst="rect">
              <a:avLst/>
            </a:prstGeom>
          </p:spPr>
        </p:pic>
        <p:pic>
          <p:nvPicPr>
            <p:cNvPr id="10" name="图片 9" descr="Screenshot from 2023-03-13 11-45-3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7" y="2580"/>
              <a:ext cx="2293" cy="2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217930"/>
            <a:ext cx="6343015" cy="292354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CNN_LSTM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1630" y="4114800"/>
            <a:ext cx="57156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本代码与上一代码功能相同，结构相同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编码器结果仍然作为初始记忆和初始隐状态输入解码器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>
                <a:sym typeface="+mn-ea"/>
              </a:rPr>
              <a:t>解码器没有变化</a:t>
            </a: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>
                <a:sym typeface="+mn-ea"/>
              </a:rPr>
              <a:t>不同之处是编码器主要内容为CNN</a:t>
            </a:r>
            <a:endParaRPr lang="en-US" altLang="zh-CN"/>
          </a:p>
        </p:txBody>
      </p:sp>
      <p:pic>
        <p:nvPicPr>
          <p:cNvPr id="5" name="图片 4" descr="dd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20" y="394335"/>
            <a:ext cx="5200650" cy="606996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CNN压缩器encoder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929005" y="2201545"/>
          <a:ext cx="26416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/>
                <a:gridCol w="660400"/>
                <a:gridCol w="660400"/>
                <a:gridCol w="660400"/>
              </a:tblGrid>
              <a:tr h="50292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字符1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350" b="0">
                          <a:solidFill>
                            <a:schemeClr val="tx1"/>
                          </a:solidFill>
                          <a:sym typeface="+mn-ea"/>
                        </a:rPr>
                        <a:t>字符</a:t>
                      </a:r>
                      <a:r>
                        <a:rPr lang="en-US" altLang="en-US" sz="1350" b="0">
                          <a:solidFill>
                            <a:schemeClr val="tx1"/>
                          </a:solidFill>
                          <a:sym typeface="+mn-ea"/>
                        </a:rPr>
                        <a:t>8</a:t>
                      </a:r>
                      <a:endParaRPr lang="en-US" altLang="zh-CN" sz="135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>
                          <a:sym typeface="+mn-ea"/>
                        </a:rPr>
                        <a:t>16维词向量</a:t>
                      </a:r>
                      <a:endParaRPr lang="en-US" altLang="en-US" sz="135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29005" y="1131570"/>
            <a:ext cx="150622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>
                <a:sym typeface="+mn-ea"/>
              </a:rPr>
              <a:t>86-10-14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30605" y="176085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{tensor:(32,1,8,16)}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29005" y="4199255"/>
            <a:ext cx="34969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卷积器：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nn.Conv2d(1,16,(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3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,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16</a:t>
            </a:r>
            <a:r>
              <a:rPr lang="zh-CN" altLang="en-US">
                <a:latin typeface="Nimbus Roman" panose="00000500000000000000" charset="0"/>
                <a:cs typeface="Nimbus Roman" panose="00000500000000000000" charset="0"/>
              </a:rPr>
              <a:t>))</a:t>
            </a:r>
            <a:endParaRPr lang="zh-CN" altLang="en-US">
              <a:latin typeface="Nimbus Roman" panose="00000500000000000000" charset="0"/>
              <a:cs typeface="Nimbus Roman" panose="00000500000000000000" charset="0"/>
            </a:endParaRPr>
          </a:p>
          <a:p>
            <a:pPr algn="l"/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输入通道1,输出通道16,卷积核大小为3</a:t>
            </a:r>
            <a:r>
              <a:rPr lang="en-US" altLang="zh-CN">
                <a:latin typeface="Arial" panose="02080604020202020204" pitchFamily="34" charset="0"/>
                <a:cs typeface="Nimbus Roman" panose="00000500000000000000" charset="0"/>
              </a:rPr>
              <a:t>×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16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30605" y="582739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{tensor:(32,16,6,1)}</a:t>
            </a:r>
            <a:endParaRPr lang="zh-CN" altLang="en-US"/>
          </a:p>
        </p:txBody>
      </p:sp>
      <p:sp>
        <p:nvSpPr>
          <p:cNvPr id="7" name="下箭头 6"/>
          <p:cNvSpPr/>
          <p:nvPr/>
        </p:nvSpPr>
        <p:spPr>
          <a:xfrm>
            <a:off x="2163445" y="3709035"/>
            <a:ext cx="323215" cy="58293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2163445" y="5121275"/>
            <a:ext cx="323215" cy="582930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9" name="图片 8" descr="ddpg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965" y="160020"/>
            <a:ext cx="3834765" cy="653796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8634095" y="1676400"/>
            <a:ext cx="3057525" cy="335153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"/>
            </a:pPr>
            <a:r>
              <a:rPr lang="en-US" altLang="en-US" sz="2000">
                <a:solidFill>
                  <a:schemeClr val="tx1"/>
                </a:solidFill>
                <a:sym typeface="+mn-ea"/>
              </a:rPr>
              <a:t>CNN局限性：要求有个句子最长的限制，句子如果超过这个长度，一般只能截断</a:t>
            </a:r>
            <a:endParaRPr lang="en-US" altLang="en-US" sz="2000">
              <a:solidFill>
                <a:schemeClr val="tx1"/>
              </a:solidFill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sym typeface="+mn-ea"/>
              </a:rPr>
              <a:t>根据CNN编码器与LSTM编码器的对比，可以看出相同训练步，CNN编码器loss略大</a:t>
            </a:r>
            <a:endParaRPr lang="en-US" altLang="en-US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-53340"/>
            <a:ext cx="12014835" cy="63849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attention解码器encoder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3-03-08 21-30-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1052830"/>
            <a:ext cx="3589655" cy="56280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80130" y="324485"/>
            <a:ext cx="59137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本代码与上一代码功能相同，</a:t>
            </a: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主体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结构相同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LSTM编码器每步输出门（33）也保存并输出到解码器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编码器内部结构相同，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编码器</a:t>
            </a:r>
            <a:r>
              <a:rPr lang="en-US" altLang="en-US">
                <a:latin typeface="Nimbus Roman" panose="00000500000000000000" charset="0"/>
                <a:cs typeface="Nimbus Roman" panose="00000500000000000000" charset="0"/>
              </a:rPr>
              <a:t>最终隐藏层和记忆</a:t>
            </a:r>
            <a:r>
              <a:rPr lang="en-US" altLang="zh-CN">
                <a:latin typeface="Nimbus Roman" panose="00000500000000000000" charset="0"/>
                <a:cs typeface="Nimbus Roman" panose="00000500000000000000" charset="0"/>
              </a:rPr>
              <a:t>仍然作为初始记忆和初始隐状态输入解码器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>
                <a:latin typeface="Nimbus Roman" panose="00000500000000000000" charset="0"/>
                <a:cs typeface="Nimbus Roman" panose="00000500000000000000" charset="0"/>
                <a:sym typeface="+mn-ea"/>
              </a:rPr>
              <a:t>解码器</a:t>
            </a:r>
            <a:r>
              <a:rPr lang="en-US" altLang="en-US">
                <a:latin typeface="Nimbus Roman" panose="00000500000000000000" charset="0"/>
                <a:cs typeface="Nimbus Roman" panose="00000500000000000000" charset="0"/>
                <a:sym typeface="+mn-ea"/>
              </a:rPr>
              <a:t>引入attention</a:t>
            </a:r>
            <a:endParaRPr lang="en-US" altLang="zh-CN">
              <a:latin typeface="Nimbus Roman" panose="00000500000000000000" charset="0"/>
              <a:cs typeface="Nimbus Roman" panose="00000500000000000000" charset="0"/>
            </a:endParaRPr>
          </a:p>
        </p:txBody>
      </p:sp>
      <p:pic>
        <p:nvPicPr>
          <p:cNvPr id="16" name="图片 15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130" y="1800860"/>
            <a:ext cx="6343015" cy="2923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03345" y="4829175"/>
            <a:ext cx="53924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中间状态</a:t>
            </a:r>
            <a:r>
              <a:rPr lang="en-US" altLang="zh-CN"/>
              <a:t>（句向量）</a:t>
            </a:r>
            <a:r>
              <a:rPr lang="zh-CN" altLang="en-US"/>
              <a:t>来自于输入网络最后的隐藏层，一般来说它是一个大小固定的向量</a:t>
            </a:r>
            <a:r>
              <a:rPr lang="en-US" altLang="zh-CN"/>
              <a:t>，</a:t>
            </a:r>
            <a:r>
              <a:rPr lang="zh-CN" altLang="en-US"/>
              <a:t>能储存的信息就是有限的</a:t>
            </a:r>
            <a:r>
              <a:rPr lang="en-US" altLang="zh-CN"/>
              <a:t>（当前瓶颈）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attention解码器encoder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958850"/>
            <a:ext cx="4965700" cy="5751830"/>
          </a:xfrm>
          <a:prstGeom prst="rect">
            <a:avLst/>
          </a:prstGeom>
        </p:spPr>
      </p:pic>
      <p:pic>
        <p:nvPicPr>
          <p:cNvPr id="11" name="图片 10" descr="Figure_1"/>
          <p:cNvPicPr>
            <a:picLocks noChangeAspect="1"/>
          </p:cNvPicPr>
          <p:nvPr/>
        </p:nvPicPr>
        <p:blipFill>
          <a:blip r:embed="rId2"/>
          <a:srcRect l="7172" t="10344" r="8854" b="4731"/>
          <a:stretch>
            <a:fillRect/>
          </a:stretch>
        </p:blipFill>
        <p:spPr>
          <a:xfrm>
            <a:off x="5129530" y="1039495"/>
            <a:ext cx="6613525" cy="5017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3978</Words>
  <Application>WPS 演示</Application>
  <PresentationFormat>宽屏</PresentationFormat>
  <Paragraphs>903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Arial</vt:lpstr>
      <vt:lpstr>宋体</vt:lpstr>
      <vt:lpstr>Wingdings</vt:lpstr>
      <vt:lpstr>宋体</vt:lpstr>
      <vt:lpstr>Arial Unicode MS</vt:lpstr>
      <vt:lpstr>Calibri Light</vt:lpstr>
      <vt:lpstr>DejaVu Sans</vt:lpstr>
      <vt:lpstr>Droid Sans Fallback</vt:lpstr>
      <vt:lpstr>Calibri</vt:lpstr>
      <vt:lpstr>微软雅黑</vt:lpstr>
      <vt:lpstr>Wingdings</vt:lpstr>
      <vt:lpstr>Nimbus Roman</vt:lpstr>
      <vt:lpstr>AR PL UKai CN</vt:lpstr>
      <vt:lpstr>aakar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lilei</dc:creator>
  <cp:lastModifiedBy>lilei</cp:lastModifiedBy>
  <cp:revision>1</cp:revision>
  <dcterms:created xsi:type="dcterms:W3CDTF">2023-07-27T14:55:34Z</dcterms:created>
  <dcterms:modified xsi:type="dcterms:W3CDTF">2023-07-27T14:55:34Z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2052-10.1.0.6757</vt:lpwstr>
  </property>
</Properties>
</file>