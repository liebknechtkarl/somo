
<file path=[Content_Types].xml><?xml version="1.0" encoding="utf-8"?>
<Types xmlns="http://schemas.openxmlformats.org/package/2006/content-types">
  <Default Extension="mp4" ContentType="video/mp4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7103745" cy="10234295"/>
  <p:defaultTextStyle>
    <a:defPPr>
      <a:defRPr lang="zh-CN"/>
    </a:defPPr>
    <a:lvl1pPr marL="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p="http://schemas.openxmlformats.org/presentationml/2006/main">
  <p:normalViewPr horzBarState="maximized">
    <p:restoredLeft sz="15987" autoAdjust="false"/>
    <p:restoredTop sz="94660"/>
  </p:normalViewPr>
  <p:slideViewPr>
    <p:cSldViewPr snapToGrid="false">
      <p:cViewPr varScale="true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2" Type="http://schemas.openxmlformats.org/officeDocument/2006/relationships/slide" Target="slides/slide2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5" Type="http://schemas.openxmlformats.org/officeDocument/2006/relationships/slide" Target="slides/slide15.xml" 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6" Type="http://schemas.openxmlformats.org/officeDocument/2006/relationships/slide" Target="slides/slide6.xml" /><Relationship Id="rId18" Type="http://schemas.openxmlformats.org/officeDocument/2006/relationships/viewProps" Target="viewProps.xml" /><Relationship Id="rId14" Type="http://schemas.openxmlformats.org/officeDocument/2006/relationships/slide" Target="slides/slide14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0" Type="http://schemas.openxmlformats.org/officeDocument/2006/relationships/slideMaster" Target="../slideMasters/slideMaster1.xml" /><Relationship Id="rId1" Type="http://schemas.openxmlformats.org/officeDocument/2006/relationships/image" Target="media/image1.png" 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rPr lang="zh-CN" altLang="en-US" smtClean="false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/>
            <a:r>
              <a:rPr lang="zh-CN" altLang="en-US" smtClean="false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82F288E0-7875-42C4-84C8-98DBBD3BF4D2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D9BB5D0-35E4-459D-AEF3-FE4D7C45CC19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 smtClean="false"/>
              <a:t>单击此处编辑母版标题样式</a:t>
            </a:r>
            <a:endParaRPr lang="zh-CN" altLang="en-US"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false"/>
              <a:t>单击此处编辑母版文本样式</a:t>
            </a:r>
            <a:endParaRPr lang="zh-CN" altLang="en-US" smtClean="false"/>
          </a:p>
          <a:p>
            <a:pPr lvl="1"/>
            <a:r>
              <a:rPr lang="zh-CN" altLang="en-US" smtClean="false"/>
              <a:t>第二级</a:t>
            </a:r>
            <a:endParaRPr lang="zh-CN" altLang="en-US" smtClean="false"/>
          </a:p>
          <a:p>
            <a:pPr lvl="2"/>
            <a:r>
              <a:rPr lang="zh-CN" altLang="en-US" smtClean="false"/>
              <a:t>第三级</a:t>
            </a:r>
            <a:endParaRPr lang="zh-CN" altLang="en-US" smtClean="false"/>
          </a:p>
          <a:p>
            <a:pPr lvl="3"/>
            <a:r>
              <a:rPr lang="zh-CN" altLang="en-US" smtClean="false"/>
              <a:t>第四级</a:t>
            </a:r>
            <a:endParaRPr lang="zh-CN" altLang="en-US" smtClean="false"/>
          </a:p>
          <a:p>
            <a:pPr lvl="4"/>
            <a:r>
              <a:rPr lang="zh-CN" altLang="en-US" smtClean="false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82F288E0-7875-42C4-84C8-98DBBD3BF4D2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11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12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D9BB5D0-35E4-459D-AEF3-FE4D7C45CC19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节标题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/>
            <a:r>
              <a:rPr lang="zh-CN" altLang="en-US" smtClean="false"/>
              <a:t>单击此处编辑母版标题样式</a:t>
            </a:r>
            <a:endParaRPr lang="zh-CN" altLang="en-US"/>
          </a:p>
        </p:txBody>
      </p:sp>
      <p:sp>
        <p:nvSpPr>
          <p:cNvPr id="28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false"/>
              <a:t>单击此处编辑母版文本样式</a:t>
            </a:r>
            <a:endParaRPr lang="zh-CN" altLang="en-US" smtClean="false"/>
          </a:p>
        </p:txBody>
      </p:sp>
      <p:sp>
        <p:nvSpPr>
          <p:cNvPr id="29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82F288E0-7875-42C4-84C8-98DBBD3BF4D2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30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31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D9BB5D0-35E4-459D-AEF3-FE4D7C45CC19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两栏内容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 smtClean="false"/>
              <a:t>单击此处编辑母版标题样式</a:t>
            </a:r>
            <a:endParaRPr lang="zh-CN" altLang="en-US"/>
          </a:p>
        </p:txBody>
      </p:sp>
      <p:sp>
        <p:nvSpPr>
          <p:cNvPr id="34" name="内容占位符 2"/>
          <p:cNvSpPr>
            <a:spLocks noGrp="true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false"/>
              <a:t>单击此处编辑母版文本样式</a:t>
            </a:r>
            <a:endParaRPr lang="zh-CN" altLang="en-US" smtClean="false"/>
          </a:p>
          <a:p>
            <a:pPr lvl="1"/>
            <a:r>
              <a:rPr lang="zh-CN" altLang="en-US" smtClean="false"/>
              <a:t>第二级</a:t>
            </a:r>
            <a:endParaRPr lang="zh-CN" altLang="en-US" smtClean="false"/>
          </a:p>
          <a:p>
            <a:pPr lvl="2"/>
            <a:r>
              <a:rPr lang="zh-CN" altLang="en-US" smtClean="false"/>
              <a:t>第三级</a:t>
            </a:r>
            <a:endParaRPr lang="zh-CN" altLang="en-US" smtClean="false"/>
          </a:p>
          <a:p>
            <a:pPr lvl="3"/>
            <a:r>
              <a:rPr lang="zh-CN" altLang="en-US" smtClean="false"/>
              <a:t>第四级</a:t>
            </a:r>
            <a:endParaRPr lang="zh-CN" altLang="en-US" smtClean="false"/>
          </a:p>
          <a:p>
            <a:pPr lvl="4"/>
            <a:r>
              <a:rPr lang="zh-CN" altLang="en-US" smtClean="false"/>
              <a:t>第五级</a:t>
            </a:r>
            <a:endParaRPr lang="zh-CN" altLang="en-US"/>
          </a:p>
        </p:txBody>
      </p:sp>
      <p:sp>
        <p:nvSpPr>
          <p:cNvPr id="35" name="内容占位符 3"/>
          <p:cNvSpPr>
            <a:spLocks noGrp="true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false"/>
              <a:t>单击此处编辑母版文本样式</a:t>
            </a:r>
            <a:endParaRPr lang="zh-CN" altLang="en-US" smtClean="false"/>
          </a:p>
          <a:p>
            <a:pPr lvl="1"/>
            <a:r>
              <a:rPr lang="zh-CN" altLang="en-US" smtClean="false"/>
              <a:t>第二级</a:t>
            </a:r>
            <a:endParaRPr lang="zh-CN" altLang="en-US" smtClean="false"/>
          </a:p>
          <a:p>
            <a:pPr lvl="2"/>
            <a:r>
              <a:rPr lang="zh-CN" altLang="en-US" smtClean="false"/>
              <a:t>第三级</a:t>
            </a:r>
            <a:endParaRPr lang="zh-CN" altLang="en-US" smtClean="false"/>
          </a:p>
          <a:p>
            <a:pPr lvl="3"/>
            <a:r>
              <a:rPr lang="zh-CN" altLang="en-US" smtClean="false"/>
              <a:t>第四级</a:t>
            </a:r>
            <a:endParaRPr lang="zh-CN" altLang="en-US" smtClean="false"/>
          </a:p>
          <a:p>
            <a:pPr lvl="4"/>
            <a:r>
              <a:rPr lang="zh-CN" altLang="en-US" smtClean="false"/>
              <a:t>第五级</a:t>
            </a:r>
            <a:endParaRPr lang="zh-CN" altLang="en-US"/>
          </a:p>
        </p:txBody>
      </p:sp>
      <p:sp>
        <p:nvSpPr>
          <p:cNvPr id="36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82F288E0-7875-42C4-84C8-98DBBD3BF4D2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37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38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D9BB5D0-35E4-459D-AEF3-FE4D7C45CC19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比较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/>
            <a:r>
              <a:rPr lang="zh-CN" altLang="en-US" smtClean="false"/>
              <a:t>单击此处编辑母版标题样式</a:t>
            </a:r>
            <a:endParaRPr lang="zh-CN" altLang="en-US"/>
          </a:p>
        </p:txBody>
      </p:sp>
      <p:sp>
        <p:nvSpPr>
          <p:cNvPr id="41" name="文本占位符 2"/>
          <p:cNvSpPr>
            <a:spLocks noGrp="true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false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false"/>
              <a:t>单击此处编辑母版文本样式</a:t>
            </a:r>
            <a:endParaRPr lang="zh-CN" altLang="en-US" smtClean="false"/>
          </a:p>
        </p:txBody>
      </p:sp>
      <p:sp>
        <p:nvSpPr>
          <p:cNvPr id="42" name="内容占位符 3"/>
          <p:cNvSpPr>
            <a:spLocks noGrp="true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false"/>
              <a:t>单击此处编辑母版文本样式</a:t>
            </a:r>
            <a:endParaRPr lang="zh-CN" altLang="en-US" smtClean="false"/>
          </a:p>
          <a:p>
            <a:pPr lvl="1"/>
            <a:r>
              <a:rPr lang="zh-CN" altLang="en-US" smtClean="false"/>
              <a:t>第二级</a:t>
            </a:r>
            <a:endParaRPr lang="zh-CN" altLang="en-US" smtClean="false"/>
          </a:p>
          <a:p>
            <a:pPr lvl="2"/>
            <a:r>
              <a:rPr lang="zh-CN" altLang="en-US" smtClean="false"/>
              <a:t>第三级</a:t>
            </a:r>
            <a:endParaRPr lang="zh-CN" altLang="en-US" smtClean="false"/>
          </a:p>
          <a:p>
            <a:pPr lvl="3"/>
            <a:r>
              <a:rPr lang="zh-CN" altLang="en-US" smtClean="false"/>
              <a:t>第四级</a:t>
            </a:r>
            <a:endParaRPr lang="zh-CN" altLang="en-US" smtClean="false"/>
          </a:p>
          <a:p>
            <a:pPr lvl="4"/>
            <a:r>
              <a:rPr lang="zh-CN" altLang="en-US" smtClean="false"/>
              <a:t>第五级</a:t>
            </a:r>
            <a:endParaRPr lang="zh-CN" altLang="en-US"/>
          </a:p>
        </p:txBody>
      </p:sp>
      <p:sp>
        <p:nvSpPr>
          <p:cNvPr id="43" name="文本占位符 4"/>
          <p:cNvSpPr>
            <a:spLocks noGrp="true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false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false"/>
              <a:t>单击此处编辑母版文本样式</a:t>
            </a:r>
            <a:endParaRPr lang="zh-CN" altLang="en-US" smtClean="false"/>
          </a:p>
        </p:txBody>
      </p:sp>
      <p:sp>
        <p:nvSpPr>
          <p:cNvPr id="44" name="内容占位符 5"/>
          <p:cNvSpPr>
            <a:spLocks noGrp="true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false"/>
              <a:t>单击此处编辑母版文本样式</a:t>
            </a:r>
            <a:endParaRPr lang="zh-CN" altLang="en-US" smtClean="false"/>
          </a:p>
          <a:p>
            <a:pPr lvl="1"/>
            <a:r>
              <a:rPr lang="zh-CN" altLang="en-US" smtClean="false"/>
              <a:t>第二级</a:t>
            </a:r>
            <a:endParaRPr lang="zh-CN" altLang="en-US" smtClean="false"/>
          </a:p>
          <a:p>
            <a:pPr lvl="2"/>
            <a:r>
              <a:rPr lang="zh-CN" altLang="en-US" smtClean="false"/>
              <a:t>第三级</a:t>
            </a:r>
            <a:endParaRPr lang="zh-CN" altLang="en-US" smtClean="false"/>
          </a:p>
          <a:p>
            <a:pPr lvl="3"/>
            <a:r>
              <a:rPr lang="zh-CN" altLang="en-US" smtClean="false"/>
              <a:t>第四级</a:t>
            </a:r>
            <a:endParaRPr lang="zh-CN" altLang="en-US" smtClean="false"/>
          </a:p>
          <a:p>
            <a:pPr lvl="4"/>
            <a:r>
              <a:rPr lang="zh-CN" altLang="en-US" smtClean="false"/>
              <a:t>第五级</a:t>
            </a:r>
            <a:endParaRPr lang="zh-CN" altLang="en-US"/>
          </a:p>
        </p:txBody>
      </p:sp>
      <p:sp>
        <p:nvSpPr>
          <p:cNvPr id="45" name="日期占位符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82F288E0-7875-42C4-84C8-98DBBD3BF4D2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46" name="页脚占位符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47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D9BB5D0-35E4-459D-AEF3-FE4D7C45CC19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仅标题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 smtClean="false"/>
              <a:t>单击此处编辑母版标题样式</a:t>
            </a:r>
            <a:endParaRPr lang="zh-CN" altLang="en-US"/>
          </a:p>
        </p:txBody>
      </p:sp>
      <p:sp>
        <p:nvSpPr>
          <p:cNvPr id="50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82F288E0-7875-42C4-84C8-98DBBD3BF4D2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51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52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D9BB5D0-35E4-459D-AEF3-FE4D7C45CC19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空白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日期占位符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82F288E0-7875-42C4-84C8-98DBBD3BF4D2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55" name="页脚占位符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56" name="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D9BB5D0-35E4-459D-AEF3-FE4D7C45CC19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picTx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pPr/>
            <a:r>
              <a:rPr lang="zh-CN" altLang="en-US" smtClean="false"/>
              <a:t>单击此处编辑母版标题样式</a:t>
            </a:r>
            <a:endParaRPr lang="zh-CN" altLang="en-US"/>
          </a:p>
        </p:txBody>
      </p:sp>
      <p:sp>
        <p:nvSpPr>
          <p:cNvPr id="59" name="图片占位符 2"/>
          <p:cNvSpPr>
            <a:spLocks noGrp="true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zh-CN" altLang="en-US"/>
          </a:p>
        </p:txBody>
      </p:sp>
      <p:sp>
        <p:nvSpPr>
          <p:cNvPr id="60" name="文本占位符 3"/>
          <p:cNvSpPr>
            <a:spLocks noGrp="true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false"/>
              <a:t>单击此处编辑母版文本样式</a:t>
            </a:r>
            <a:endParaRPr lang="zh-CN" altLang="en-US" smtClean="false"/>
          </a:p>
        </p:txBody>
      </p:sp>
      <p:sp>
        <p:nvSpPr>
          <p:cNvPr id="61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82F288E0-7875-42C4-84C8-98DBBD3BF4D2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62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63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D9BB5D0-35E4-459D-AEF3-FE4D7C45CC19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vertTitleAndTx">
  <p:cSld name="竖版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竖排标题 1"/>
          <p:cNvSpPr>
            <a:spLocks noGrp="true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/>
            <a:r>
              <a:rPr lang="zh-CN" altLang="en-US" smtClean="false"/>
              <a:t>单击此处编辑母版标题样式</a:t>
            </a:r>
            <a:endParaRPr lang="zh-CN" altLang="en-US"/>
          </a:p>
        </p:txBody>
      </p:sp>
      <p:sp>
        <p:nvSpPr>
          <p:cNvPr id="66" name="竖排文字占位符 2"/>
          <p:cNvSpPr>
            <a:spLocks noGrp="true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false"/>
              <a:t>单击此处编辑母版文本样式</a:t>
            </a:r>
            <a:endParaRPr lang="zh-CN" altLang="en-US" smtClean="false"/>
          </a:p>
          <a:p>
            <a:pPr lvl="1"/>
            <a:r>
              <a:rPr lang="zh-CN" altLang="en-US" smtClean="false"/>
              <a:t>第二级</a:t>
            </a:r>
            <a:endParaRPr lang="zh-CN" altLang="en-US" smtClean="false"/>
          </a:p>
          <a:p>
            <a:pPr lvl="2"/>
            <a:r>
              <a:rPr lang="zh-CN" altLang="en-US" smtClean="false"/>
              <a:t>第三级</a:t>
            </a:r>
            <a:endParaRPr lang="zh-CN" altLang="en-US" smtClean="false"/>
          </a:p>
          <a:p>
            <a:pPr lvl="3"/>
            <a:r>
              <a:rPr lang="zh-CN" altLang="en-US" smtClean="false"/>
              <a:t>第四级</a:t>
            </a:r>
            <a:endParaRPr lang="zh-CN" altLang="en-US" smtClean="false"/>
          </a:p>
          <a:p>
            <a:pPr lvl="4"/>
            <a:r>
              <a:rPr lang="zh-CN" altLang="en-US" smtClean="false"/>
              <a:t>第五级</a:t>
            </a:r>
            <a:endParaRPr lang="zh-CN" altLang="en-US"/>
          </a:p>
        </p:txBody>
      </p:sp>
      <p:sp>
        <p:nvSpPr>
          <p:cNvPr id="67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82F288E0-7875-42C4-84C8-98DBBD3BF4D2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68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69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D9BB5D0-35E4-459D-AEF3-FE4D7C45CC19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objOnly">
  <p:cSld name="内容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内容占位符 1"/>
          <p:cNvSpPr>
            <a:spLocks noGrp="true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false"/>
              <a:t>单击此处编辑母版文本样式</a:t>
            </a:r>
            <a:endParaRPr lang="zh-CN" altLang="en-US" smtClean="false"/>
          </a:p>
          <a:p>
            <a:pPr lvl="1"/>
            <a:r>
              <a:rPr lang="zh-CN" altLang="en-US" smtClean="false"/>
              <a:t>第二级</a:t>
            </a:r>
            <a:endParaRPr lang="zh-CN" altLang="en-US" smtClean="false"/>
          </a:p>
          <a:p>
            <a:pPr lvl="2"/>
            <a:r>
              <a:rPr lang="zh-CN" altLang="en-US" smtClean="false"/>
              <a:t>第三级</a:t>
            </a:r>
            <a:endParaRPr lang="zh-CN" altLang="en-US" smtClean="false"/>
          </a:p>
          <a:p>
            <a:pPr lvl="3"/>
            <a:r>
              <a:rPr lang="zh-CN" altLang="en-US" smtClean="false"/>
              <a:t>第四级</a:t>
            </a:r>
            <a:endParaRPr lang="zh-CN" altLang="en-US" smtClean="false"/>
          </a:p>
          <a:p>
            <a:pPr lvl="4"/>
            <a:r>
              <a:rPr lang="zh-CN" altLang="en-US" smtClean="false"/>
              <a:t>第五级</a:t>
            </a:r>
            <a:endParaRPr lang="zh-CN" altLang="en-US"/>
          </a:p>
        </p:txBody>
      </p:sp>
      <p:sp>
        <p:nvSpPr>
          <p:cNvPr id="72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82F288E0-7875-42C4-84C8-98DBBD3BF4D2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73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74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D9BB5D0-35E4-459D-AEF3-FE4D7C45CC19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>
  <p:cSld name="首页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4"/>
          <p:cNvSpPr txBox="true"/>
          <p:nvPr/>
        </p:nvSpPr>
        <p:spPr>
          <a:xfrm>
            <a:off x="987943" y="147977"/>
            <a:ext cx="5266553" cy="590546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spc="225" baseline="0" dirty="false">
                <a:solidFill>
                  <a:srgbClr val="A81E3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上海理工大学机器智能研究院</a:t>
            </a:r>
            <a:endParaRPr lang="en-US" altLang="zh-CN" sz="2000" spc="225" baseline="0" dirty="false">
              <a:solidFill>
                <a:srgbClr val="A81E3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825" kern="0" spc="-15" baseline="0" dirty="false">
                <a:solidFill>
                  <a:srgbClr val="A81E33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ISTITUTE OF MACHINE INTELLIGENT, UNIVERSITY OF SHANGHAI FOR SCIENCE AND TECHNOLOGY</a:t>
            </a:r>
            <a:endParaRPr lang="zh-CN" altLang="en-US" sz="825" kern="0" spc="-15" baseline="0" dirty="false">
              <a:solidFill>
                <a:srgbClr val="A81E33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5" name="图片 5"/>
          <p:cNvPicPr>
            <a:picLocks noChangeAspect="true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" y="-15863"/>
            <a:ext cx="1088135" cy="856673"/>
          </a:xfrm>
          <a:prstGeom prst="rect">
            <a:avLst/>
          </a:prstGeom>
        </p:spPr>
      </p:pic>
      <p:sp>
        <p:nvSpPr>
          <p:cNvPr id="16" name="矩形 28"/>
          <p:cNvSpPr/>
          <p:nvPr userDrawn="true"/>
        </p:nvSpPr>
        <p:spPr>
          <a:xfrm>
            <a:off x="0" y="862811"/>
            <a:ext cx="8331200" cy="1551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 sz="1350"/>
          </a:p>
        </p:txBody>
      </p:sp>
      <p:sp>
        <p:nvSpPr>
          <p:cNvPr id="17" name="箭头: 五边形 29"/>
          <p:cNvSpPr/>
          <p:nvPr userDrawn="true"/>
        </p:nvSpPr>
        <p:spPr>
          <a:xfrm>
            <a:off x="8415867" y="849054"/>
            <a:ext cx="3776133" cy="155167"/>
          </a:xfrm>
          <a:prstGeom prst="homePlate">
            <a:avLst/>
          </a:prstGeom>
          <a:solidFill>
            <a:srgbClr val="A81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 sz="1350"/>
          </a:p>
        </p:txBody>
      </p:sp>
      <p:pic>
        <p:nvPicPr>
          <p:cNvPr id="18" name="图片 18"/>
          <p:cNvPicPr>
            <a:picLocks noChangeAspect="true"/>
          </p:cNvPicPr>
          <p:nvPr userDrawn="true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0" y="4495801"/>
            <a:ext cx="2256723" cy="234771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9" name="灯片编号占位符 5"/>
          <p:cNvSpPr>
            <a:spLocks noGrp="true"/>
          </p:cNvSpPr>
          <p:nvPr>
            <p:ph type="sldNum" sz="quarter" idx="15"/>
          </p:nvPr>
        </p:nvSpPr>
        <p:spPr>
          <a:xfrm>
            <a:off x="9275234" y="638861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Microsoft YaHei" charset="-122"/>
                <a:ea typeface="Microsoft YaHei" charset="-122"/>
              </a:defRPr>
            </a:lvl1pPr>
          </a:lstStyle>
          <a:p>
            <a:pPr/>
            <a:fld id="{C25A37DA-D453-4862-9A15-A08ACB05482A}" type="slidenum">
              <a:rPr lang="zh-CN" altLang="en-US" smtClean="false"/>
              <a:t/>
            </a:fld>
            <a:endParaRPr lang="zh-CN" altLang="en-US" dirty="fals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>
  <p:cSld name="1_首页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4"/>
          <p:cNvSpPr txBox="true"/>
          <p:nvPr/>
        </p:nvSpPr>
        <p:spPr>
          <a:xfrm>
            <a:off x="987943" y="147977"/>
            <a:ext cx="5266553" cy="590546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spc="225" baseline="0" dirty="false">
                <a:solidFill>
                  <a:srgbClr val="A81E3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上海理工大学机器智能研究院</a:t>
            </a:r>
            <a:endParaRPr lang="en-US" altLang="zh-CN" sz="2000" spc="225" baseline="0" dirty="false">
              <a:solidFill>
                <a:srgbClr val="A81E33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825" kern="0" spc="-15" baseline="0" dirty="false">
                <a:solidFill>
                  <a:srgbClr val="A81E33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ISTITUTE OF MACHINE INTELLIGENT, UNIVERSITY OF SHANGHAI FOR SCIENCE AND TECHNOLOGY</a:t>
            </a:r>
            <a:endParaRPr lang="zh-CN" altLang="en-US" sz="825" kern="0" spc="-15" baseline="0" dirty="false">
              <a:solidFill>
                <a:srgbClr val="A81E33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2" name="图片 5"/>
          <p:cNvPicPr>
            <a:picLocks noChangeAspect="true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" y="-15863"/>
            <a:ext cx="1088135" cy="856673"/>
          </a:xfrm>
          <a:prstGeom prst="rect">
            <a:avLst/>
          </a:prstGeom>
        </p:spPr>
      </p:pic>
      <p:sp>
        <p:nvSpPr>
          <p:cNvPr id="23" name="矩形 28"/>
          <p:cNvSpPr/>
          <p:nvPr userDrawn="true"/>
        </p:nvSpPr>
        <p:spPr>
          <a:xfrm>
            <a:off x="0" y="862811"/>
            <a:ext cx="8331200" cy="1551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 sz="1350"/>
          </a:p>
        </p:txBody>
      </p:sp>
      <p:sp>
        <p:nvSpPr>
          <p:cNvPr id="24" name="箭头: 五边形 29"/>
          <p:cNvSpPr/>
          <p:nvPr userDrawn="true"/>
        </p:nvSpPr>
        <p:spPr>
          <a:xfrm>
            <a:off x="8415867" y="849054"/>
            <a:ext cx="3776133" cy="155167"/>
          </a:xfrm>
          <a:prstGeom prst="homePlate">
            <a:avLst/>
          </a:prstGeom>
          <a:solidFill>
            <a:srgbClr val="A81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 sz="1350"/>
          </a:p>
        </p:txBody>
      </p:sp>
      <p:sp>
        <p:nvSpPr>
          <p:cNvPr id="25" name="灯片编号占位符 5"/>
          <p:cNvSpPr>
            <a:spLocks noGrp="true"/>
          </p:cNvSpPr>
          <p:nvPr>
            <p:ph type="sldNum" sz="quarter" idx="15"/>
          </p:nvPr>
        </p:nvSpPr>
        <p:spPr>
          <a:xfrm>
            <a:off x="9275234" y="638861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Microsoft YaHei" charset="-122"/>
                <a:ea typeface="Microsoft YaHei" charset="-122"/>
              </a:defRPr>
            </a:lvl1pPr>
          </a:lstStyle>
          <a:p>
            <a:pPr/>
            <a:fld id="{C25A37DA-D453-4862-9A15-A08ACB05482A}" type="slidenum">
              <a:rPr lang="zh-CN" altLang="en-US" smtClean="false"/>
              <a:t/>
            </a:fld>
            <a:endParaRPr lang="zh-CN" altLang="en-US" dirty="false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3" Type="http://schemas.openxmlformats.org/officeDocument/2006/relationships/slideLayout" Target="../slideLayouts/slideLayout4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11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zh-CN" altLang="en-US" smtClean="false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zh-CN" altLang="en-US" smtClean="false"/>
              <a:t>单击此处编辑母版文本样式</a:t>
            </a:r>
            <a:endParaRPr lang="zh-CN" altLang="en-US" smtClean="false"/>
          </a:p>
          <a:p>
            <a:pPr lvl="1"/>
            <a:r>
              <a:rPr lang="zh-CN" altLang="en-US" smtClean="false"/>
              <a:t>第二级</a:t>
            </a:r>
            <a:endParaRPr lang="zh-CN" altLang="en-US" smtClean="false"/>
          </a:p>
          <a:p>
            <a:pPr lvl="2"/>
            <a:r>
              <a:rPr lang="zh-CN" altLang="en-US" smtClean="false"/>
              <a:t>第三级</a:t>
            </a:r>
            <a:endParaRPr lang="zh-CN" altLang="en-US" smtClean="false"/>
          </a:p>
          <a:p>
            <a:pPr lvl="3"/>
            <a:r>
              <a:rPr lang="zh-CN" altLang="en-US" smtClean="false"/>
              <a:t>第四级</a:t>
            </a:r>
            <a:endParaRPr lang="zh-CN" altLang="en-US" smtClean="false"/>
          </a:p>
          <a:p>
            <a:pPr lvl="4"/>
            <a:r>
              <a:rPr lang="zh-CN" altLang="en-US" smtClean="false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82F288E0-7875-42C4-84C8-98DBBD3BF4D2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7D9BB5D0-35E4-459D-AEF3-FE4D7C45CC19}" type="slidenum">
              <a:rPr lang="zh-CN" altLang="en-US" smtClean="false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defTabSz="914400" rtl="false" eaLnBrk="true" latinLnBrk="false" hangingPunct="true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false" eaLnBrk="true" latinLnBrk="false" hangingPunct="true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1.xml" /></Relationship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image" Target="media/image10.png" /><Relationship Id="rId0" Type="http://schemas.openxmlformats.org/officeDocument/2006/relationships/slideLayout" Target="../slideLayouts/slideLayout11.xml" /><Relationship Id="rId1" Type="http://schemas.openxmlformats.org/officeDocument/2006/relationships/image" Target="media/image9.png" /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image" Target="media/image11.png" /><Relationship Id="rId0" Type="http://schemas.openxmlformats.org/officeDocument/2006/relationships/slideLayout" Target="../slideLayouts/slideLayout11.xml" /><Relationship Id="rId1" Type="http://schemas.openxmlformats.org/officeDocument/2006/relationships/video" Target="media/media1.mp4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1.xml" /></Relationships>
</file>

<file path=ppt/slides/_rels/slide6.xml.rels><?xml version="1.0" encoding="UTF-8" standalone="yes"?><Relationships xmlns="http://schemas.openxmlformats.org/package/2006/relationships"><Relationship Id="rId2" Type="http://schemas.openxmlformats.org/officeDocument/2006/relationships/image" Target="media/image13.jpg" /><Relationship Id="rId0" Type="http://schemas.openxmlformats.org/officeDocument/2006/relationships/slideLayout" Target="../slideLayouts/slideLayout11.xml" /><Relationship Id="rId1" Type="http://schemas.openxmlformats.org/officeDocument/2006/relationships/image" Target="media/image12.jpg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1.xml" /></Relationships>
</file>

<file path=ppt/slides/_rels/slide9.xml.rels><?xml version="1.0" encoding="UTF-8" standalone="yes"?><Relationships xmlns="http://schemas.openxmlformats.org/package/2006/relationships"><Relationship Id="rId2" Type="http://schemas.openxmlformats.org/officeDocument/2006/relationships/image" Target="media/image17.png" /><Relationship Id="rId0" Type="http://schemas.openxmlformats.org/officeDocument/2006/relationships/slideLayout" Target="../slideLayouts/slideLayout11.xml" /><Relationship Id="rId1" Type="http://schemas.openxmlformats.org/officeDocument/2006/relationships/image" Target="media/image16.png" /></Relationships>
</file>

<file path=ppt/slides/_rels/slide10.xml.rels><?xml version="1.0" encoding="UTF-8" standalone="yes"?><Relationships xmlns="http://schemas.openxmlformats.org/package/2006/relationships"><Relationship Id="rId2" Type="http://schemas.openxmlformats.org/officeDocument/2006/relationships/image" Target="media/image4.png" /><Relationship Id="rId3" Type="http://schemas.openxmlformats.org/officeDocument/2006/relationships/image" Target="media/image5.png" /><Relationship Id="rId0" Type="http://schemas.openxmlformats.org/officeDocument/2006/relationships/slideLayout" Target="../slideLayouts/slideLayout12.xml" /><Relationship Id="rId1" Type="http://schemas.openxmlformats.org/officeDocument/2006/relationships/image" Target="media/image3.png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11.xml" /></Relationships>
</file>

<file path=ppt/slides/_rels/slide12.xml.rels><?xml version="1.0" encoding="UTF-8" standalone="yes"?><Relationships xmlns="http://schemas.openxmlformats.org/package/2006/relationships"><Relationship Id="rId2" Type="http://schemas.openxmlformats.org/officeDocument/2006/relationships/image" Target="media/image8.jpg" /><Relationship Id="rId0" Type="http://schemas.openxmlformats.org/officeDocument/2006/relationships/slideLayout" Target="../slideLayouts/slideLayout11.xml" /><Relationship Id="rId1" Type="http://schemas.openxmlformats.org/officeDocument/2006/relationships/image" Target="media/image7.pn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9.png" /><Relationship Id="rId0" Type="http://schemas.openxmlformats.org/officeDocument/2006/relationships/slideLayout" Target="../slideLayouts/slideLayout1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1"/>
          <p:cNvSpPr txBox="true"/>
          <p:nvPr/>
        </p:nvSpPr>
        <p:spPr>
          <a:xfrm>
            <a:off x="1289695" y="2323288"/>
            <a:ext cx="9623035" cy="675506"/>
          </a:xfrm>
          <a:prstGeom prst="rect">
            <a:avLst/>
          </a:prstGeom>
        </p:spPr>
        <p:txBody>
          <a:bodyPr/>
          <a:lstStyle>
            <a:lvl1pPr marL="0" indent="0" algn="ctr" defTabSz="685800" rtl="false" eaLnBrk="true" latinLnBrk="false" hangingPunct="true">
              <a:lnSpc>
                <a:spcPct val="90000"/>
              </a:lnSpc>
              <a:spcBef>
                <a:spcPts val="750"/>
              </a:spcBef>
              <a:buFont typeface="Arial" panose="02080604020202020204" pitchFamily="34" charset="0"/>
              <a:buNone/>
              <a:defRPr sz="3600" b="true" kern="1200" baseline="0">
                <a:solidFill>
                  <a:schemeClr val="tx1"/>
                </a:solidFill>
                <a:latin typeface="Microsoft YaHei" charset="-122"/>
                <a:ea typeface="Microsoft YaHei" charset="-122"/>
                <a:cs typeface="Arial" panose="02080604020202020204" pitchFamily="34" charset="0"/>
              </a:defRPr>
            </a:lvl1pPr>
            <a:lvl2pPr marL="514350" indent="-171450" algn="l" defTabSz="685800" rtl="false" eaLnBrk="true" latinLnBrk="false" hangingPunct="true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false" eaLnBrk="true" latinLnBrk="false" hangingPunct="true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false" eaLnBrk="true" latinLnBrk="false" hangingPunct="true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false" eaLnBrk="true" latinLnBrk="false" hangingPunct="true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false" eaLnBrk="true" latinLnBrk="false" hangingPunct="true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false" eaLnBrk="true" latinLnBrk="false" hangingPunct="true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false" eaLnBrk="true" latinLnBrk="false" hangingPunct="true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false" eaLnBrk="true" latinLnBrk="false" hangingPunct="true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en-US" dirty="false"/>
              <a:t>语音对话系统</a:t>
            </a:r>
            <a:r>
              <a:rPr lang="en-US" altLang="zh-CN" dirty="false">
                <a:latin typeface="Arial" panose="02080604020202020204" pitchFamily="34" charset="0"/>
              </a:rPr>
              <a:t> </a:t>
            </a:r>
            <a:endParaRPr lang="zh-CN" altLang="en-US" dirty="false">
              <a:latin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文本占位符 11"/>
          <p:cNvSpPr txBox="true"/>
          <p:nvPr/>
        </p:nvSpPr>
        <p:spPr>
          <a:xfrm>
            <a:off x="1289695" y="2323288"/>
            <a:ext cx="9623035" cy="675506"/>
          </a:xfrm>
          <a:prstGeom prst="rect">
            <a:avLst/>
          </a:prstGeom>
        </p:spPr>
        <p:txBody>
          <a:bodyPr/>
          <a:lstStyle>
            <a:lvl1pPr marL="0" indent="0" algn="ctr" defTabSz="685800" rtl="false" eaLnBrk="true" latinLnBrk="false" hangingPunct="true">
              <a:lnSpc>
                <a:spcPct val="90000"/>
              </a:lnSpc>
              <a:spcBef>
                <a:spcPts val="750"/>
              </a:spcBef>
              <a:buFont typeface="Arial" panose="02080604020202020204" pitchFamily="34" charset="0"/>
              <a:buNone/>
              <a:defRPr sz="3600" b="true" kern="1200" baseline="0">
                <a:solidFill>
                  <a:schemeClr val="tx1"/>
                </a:solidFill>
                <a:latin typeface="Microsoft YaHei" charset="-122"/>
                <a:ea typeface="Microsoft YaHei" charset="-122"/>
                <a:cs typeface="Arial" panose="02080604020202020204" pitchFamily="34" charset="0"/>
              </a:defRPr>
            </a:lvl1pPr>
            <a:lvl2pPr marL="514350" indent="-171450" algn="l" defTabSz="685800" rtl="false" eaLnBrk="true" latinLnBrk="false" hangingPunct="true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false" eaLnBrk="true" latinLnBrk="false" hangingPunct="true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false" eaLnBrk="true" latinLnBrk="false" hangingPunct="true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false" eaLnBrk="true" latinLnBrk="false" hangingPunct="true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false" eaLnBrk="true" latinLnBrk="false" hangingPunct="true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false" eaLnBrk="true" latinLnBrk="false" hangingPunct="true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false" eaLnBrk="true" latinLnBrk="false" hangingPunct="true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false" eaLnBrk="true" latinLnBrk="false" hangingPunct="true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en-US" dirty="false"/>
              <a:t>语音对话</a:t>
            </a:r>
            <a:r>
              <a:rPr lang="zh-CN" altLang="en-US" dirty="false"/>
              <a:t>概述</a:t>
            </a:r>
            <a:r>
              <a:rPr lang="en-US" altLang="zh-CN" dirty="false">
                <a:latin typeface="Arial" panose="02080604020202020204" pitchFamily="34" charset="0"/>
              </a:rPr>
              <a:t> </a:t>
            </a:r>
            <a:endParaRPr lang="zh-CN" altLang="en-US" dirty="false">
              <a:latin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灯片编号占位符 1"/>
          <p:cNvSpPr>
            <a:spLocks noGrp="true"/>
          </p:cNvSpPr>
          <p:nvPr>
            <p:ph type="sldNum" sz="quarter" idx="15"/>
          </p:nvPr>
        </p:nvSpPr>
        <p:spPr/>
        <p:txBody>
          <a:bodyPr/>
          <a:p>
            <a:pPr/>
            <a:fld id="{C25A37DA-D453-4862-9A15-A08ACB05482A}" type="slidenum">
              <a:rPr lang="zh-CN" altLang="en-US" smtClean="false"/>
              <a:t/>
            </a:fld>
            <a:endParaRPr lang="zh-CN" altLang="en-US" dirty="false"/>
          </a:p>
        </p:txBody>
      </p:sp>
      <p:sp>
        <p:nvSpPr>
          <p:cNvPr id="60" name="圆角矩形 3"/>
          <p:cNvSpPr/>
          <p:nvPr/>
        </p:nvSpPr>
        <p:spPr>
          <a:xfrm>
            <a:off x="1605280" y="1554480"/>
            <a:ext cx="1485265" cy="87439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语音唤醒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61" name="圆角矩形 4"/>
          <p:cNvSpPr/>
          <p:nvPr/>
        </p:nvSpPr>
        <p:spPr>
          <a:xfrm>
            <a:off x="3896995" y="1554480"/>
            <a:ext cx="1485265" cy="87439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语音转文字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62" name="圆角矩形 6"/>
          <p:cNvSpPr/>
          <p:nvPr/>
        </p:nvSpPr>
        <p:spPr>
          <a:xfrm>
            <a:off x="6188710" y="1554480"/>
            <a:ext cx="1485265" cy="8743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文字对话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63" name="圆角矩形 10"/>
          <p:cNvSpPr/>
          <p:nvPr/>
        </p:nvSpPr>
        <p:spPr>
          <a:xfrm>
            <a:off x="8480425" y="1554480"/>
            <a:ext cx="1485265" cy="87439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文字转语音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64" name="矩形 13"/>
          <p:cNvSpPr/>
          <p:nvPr/>
        </p:nvSpPr>
        <p:spPr>
          <a:xfrm>
            <a:off x="1278890" y="1170305"/>
            <a:ext cx="9044305" cy="1540510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false" anchor="ctr"/>
          <a:p>
            <a:pPr algn="ctr"/>
            <a:endParaRPr lang="zh-CN" altLang="en-US"/>
          </a:p>
        </p:txBody>
      </p:sp>
      <p:sp>
        <p:nvSpPr>
          <p:cNvPr id="65" name="右箭头 14"/>
          <p:cNvSpPr/>
          <p:nvPr/>
        </p:nvSpPr>
        <p:spPr>
          <a:xfrm>
            <a:off x="3322320" y="1898015"/>
            <a:ext cx="328295" cy="19748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false" anchor="ctr"/>
          <a:p>
            <a:pPr algn="ctr"/>
            <a:endParaRPr lang="zh-CN" altLang="en-US"/>
          </a:p>
        </p:txBody>
      </p:sp>
      <p:sp>
        <p:nvSpPr>
          <p:cNvPr id="66" name="右箭头 15"/>
          <p:cNvSpPr/>
          <p:nvPr/>
        </p:nvSpPr>
        <p:spPr>
          <a:xfrm>
            <a:off x="5621655" y="1898015"/>
            <a:ext cx="328295" cy="19748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false" anchor="ctr"/>
          <a:p>
            <a:pPr algn="ctr"/>
            <a:endParaRPr lang="zh-CN" altLang="en-US"/>
          </a:p>
        </p:txBody>
      </p:sp>
      <p:sp>
        <p:nvSpPr>
          <p:cNvPr id="67" name="右箭头 16"/>
          <p:cNvSpPr/>
          <p:nvPr/>
        </p:nvSpPr>
        <p:spPr>
          <a:xfrm>
            <a:off x="7912735" y="1898015"/>
            <a:ext cx="328295" cy="19748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false" anchor="ctr"/>
          <a:p>
            <a:pPr algn="ctr"/>
            <a:endParaRPr lang="zh-CN" altLang="en-US"/>
          </a:p>
        </p:txBody>
      </p:sp>
      <p:pic>
        <p:nvPicPr>
          <p:cNvPr id="68" name="图片 11"/>
          <p:cNvPicPr>
            <a:picLocks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55625" y="1170305"/>
            <a:ext cx="379730" cy="815340"/>
          </a:xfrm>
          <a:prstGeom prst="rect">
            <a:avLst/>
          </a:prstGeom>
        </p:spPr>
      </p:pic>
      <p:pic>
        <p:nvPicPr>
          <p:cNvPr id="69" name="图片 12"/>
          <p:cNvPicPr>
            <a:picLocks noChangeAspect="true"/>
          </p:cNvPicPr>
          <p:nvPr/>
        </p:nvPicPr>
        <p:blipFill>
          <a:blip r:embed="rId2"/>
          <a:srcRect t="490" r="1304" b="1912"/>
          <a:stretch>
            <a:fillRect/>
          </a:stretch>
        </p:blipFill>
        <p:spPr>
          <a:xfrm>
            <a:off x="11172190" y="1170305"/>
            <a:ext cx="623570" cy="631190"/>
          </a:xfrm>
          <a:prstGeom prst="rect">
            <a:avLst/>
          </a:prstGeom>
        </p:spPr>
      </p:pic>
      <p:sp>
        <p:nvSpPr>
          <p:cNvPr id="70" name="矩形 7"/>
          <p:cNvSpPr/>
          <p:nvPr/>
        </p:nvSpPr>
        <p:spPr>
          <a:xfrm>
            <a:off x="2470785" y="2814320"/>
            <a:ext cx="4359910" cy="1540510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false" anchor="ctr"/>
          <a:p>
            <a:pPr algn="ctr"/>
            <a:endParaRPr lang="zh-CN" altLang="en-US"/>
          </a:p>
        </p:txBody>
      </p:sp>
      <p:sp>
        <p:nvSpPr>
          <p:cNvPr id="71" name="圆角矩形 8"/>
          <p:cNvSpPr/>
          <p:nvPr/>
        </p:nvSpPr>
        <p:spPr>
          <a:xfrm>
            <a:off x="2743835" y="3147695"/>
            <a:ext cx="1485265" cy="874395"/>
          </a:xfrm>
          <a:prstGeom prst="roundRect">
            <a:avLst/>
          </a:prstGeo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声纹识别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72" name="右箭头 9"/>
          <p:cNvSpPr/>
          <p:nvPr/>
        </p:nvSpPr>
        <p:spPr>
          <a:xfrm rot="16200000">
            <a:off x="3322320" y="2632710"/>
            <a:ext cx="328295" cy="19748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false" anchor="ctr"/>
          <a:p>
            <a:pPr algn="ctr"/>
            <a:endParaRPr lang="zh-CN" altLang="en-US"/>
          </a:p>
        </p:txBody>
      </p:sp>
      <p:sp>
        <p:nvSpPr>
          <p:cNvPr id="73" name="右箭头 17"/>
          <p:cNvSpPr/>
          <p:nvPr/>
        </p:nvSpPr>
        <p:spPr>
          <a:xfrm rot="16200000">
            <a:off x="5621655" y="2632710"/>
            <a:ext cx="328295" cy="19748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false" anchor="ctr"/>
          <a:p>
            <a:pPr algn="ctr"/>
            <a:endParaRPr lang="zh-CN" altLang="en-US"/>
          </a:p>
        </p:txBody>
      </p:sp>
      <p:sp>
        <p:nvSpPr>
          <p:cNvPr id="74" name="圆角矩形 18"/>
          <p:cNvSpPr/>
          <p:nvPr/>
        </p:nvSpPr>
        <p:spPr>
          <a:xfrm>
            <a:off x="5058410" y="3147060"/>
            <a:ext cx="1485265" cy="874395"/>
          </a:xfrm>
          <a:prstGeom prst="roundRect">
            <a:avLst/>
          </a:prstGeom>
          <a:pattFill prst="pct5">
            <a:fgClr>
              <a:schemeClr val="accent3">
                <a:lumMod val="40000"/>
                <a:lumOff val="60000"/>
              </a:schemeClr>
            </a:fgClr>
            <a:bgClr>
              <a:schemeClr val="bg1"/>
            </a:bgClr>
          </a:patt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图像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18446744073332159951">
            <a:hlinkClick r:id="" action="ppaction://media"/>
          </p:cNvPr>
          <p:cNvPicPr/>
          <p:nvPr>
            <a:videoFile r:link="rId1"/>
          </p:nvPr>
        </p:nvPicPr>
        <p:blipFill>
          <a:blip r:embed="rId2"/>
          <a:stretch>
            <a:fillRect/>
          </a:stretch>
        </p:blipFill>
        <p:spPr>
          <a:xfrm>
            <a:off x="1524000" y="116078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圆角矩形 12"/>
          <p:cNvSpPr/>
          <p:nvPr/>
        </p:nvSpPr>
        <p:spPr>
          <a:xfrm>
            <a:off x="14605" y="1043305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语音唤醒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79" name="文本框 22"/>
          <p:cNvSpPr txBox="true"/>
          <p:nvPr/>
        </p:nvSpPr>
        <p:spPr>
          <a:xfrm>
            <a:off x="630555" y="2738120"/>
            <a:ext cx="781050" cy="5219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false">
            <a:spAutoFit/>
          </a:bodyPr>
          <a:p>
            <a:pPr algn="ctr"/>
            <a:r>
              <a:rPr lang="zh-CN" altLang="en-US" sz="1400">
                <a:sym typeface="+mn-ea"/>
              </a:rPr>
              <a:t>休眠</a:t>
            </a:r>
            <a:endParaRPr lang="zh-CN" altLang="en-US" sz="1400">
              <a:sym typeface="+mn-ea"/>
            </a:endParaRPr>
          </a:p>
          <a:p>
            <a:pPr algn="ctr"/>
            <a:r>
              <a:rPr lang="zh-CN" altLang="en-US" sz="1400">
                <a:sym typeface="+mn-ea"/>
              </a:rPr>
              <a:t>状态</a:t>
            </a:r>
            <a:endParaRPr lang="en-US" altLang="en-US" sz="1400">
              <a:latin typeface="Microsoft YaHei" charset="-122"/>
              <a:ea typeface="Microsoft YaHei" charset="-122"/>
            </a:endParaRPr>
          </a:p>
        </p:txBody>
      </p:sp>
      <p:sp>
        <p:nvSpPr>
          <p:cNvPr id="80" name="文本框 23"/>
          <p:cNvSpPr txBox="true"/>
          <p:nvPr/>
        </p:nvSpPr>
        <p:spPr>
          <a:xfrm>
            <a:off x="591185" y="4562475"/>
            <a:ext cx="859155" cy="5219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false">
            <a:spAutoFit/>
          </a:bodyPr>
          <a:p>
            <a:pPr algn="ctr"/>
            <a:r>
              <a:rPr lang="zh-CN" altLang="en-US" sz="1400">
                <a:sym typeface="+mn-ea"/>
              </a:rPr>
              <a:t>工作</a:t>
            </a:r>
            <a:endParaRPr lang="zh-CN" altLang="en-US" sz="1400">
              <a:sym typeface="+mn-ea"/>
            </a:endParaRPr>
          </a:p>
          <a:p>
            <a:pPr algn="ctr"/>
            <a:r>
              <a:rPr lang="zh-CN" altLang="en-US" sz="1400">
                <a:sym typeface="+mn-ea"/>
              </a:rPr>
              <a:t>状态</a:t>
            </a:r>
            <a:endParaRPr lang="en-US" altLang="en-US" sz="1400">
              <a:latin typeface="Microsoft YaHei" charset="-122"/>
              <a:ea typeface="Microsoft YaHei" charset="-122"/>
            </a:endParaRPr>
          </a:p>
        </p:txBody>
      </p:sp>
      <p:sp>
        <p:nvSpPr>
          <p:cNvPr id="81" name="下箭头 3"/>
          <p:cNvSpPr/>
          <p:nvPr/>
        </p:nvSpPr>
        <p:spPr>
          <a:xfrm>
            <a:off x="544830" y="3470910"/>
            <a:ext cx="951865" cy="907415"/>
          </a:xfrm>
          <a:prstGeom prst="downArrow">
            <a:avLst/>
          </a:prstGeom>
          <a:noFill/>
          <a:extLst>
            <a:ext uri="{909E8E84-426E-40DD-AFC4-6F175D3DCCD1}"/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唤醒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2" name="文本框 1"/>
          <p:cNvSpPr txBox="true"/>
          <p:nvPr/>
        </p:nvSpPr>
        <p:spPr>
          <a:xfrm>
            <a:off x="2337435" y="1193800"/>
            <a:ext cx="9628505" cy="368300"/>
          </a:xfrm>
          <a:prstGeom prst="rect">
            <a:avLst/>
          </a:prstGeom>
          <a:noFill/>
        </p:spPr>
        <p:txBody>
          <a:bodyPr wrap="square" rtlCol="false" anchor="t">
            <a:spAutoFit/>
          </a:bodyPr>
          <a:p>
            <a:pPr/>
            <a:r>
              <a:rPr lang="zh-CN" altLang="en-US"/>
              <a:t>语音唤醒：又称关键词检测或热词检测，设备在听到特定关键词（如“Hey Siri”等）时激活。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圆角矩形 12"/>
          <p:cNvSpPr/>
          <p:nvPr/>
        </p:nvSpPr>
        <p:spPr>
          <a:xfrm>
            <a:off x="14605" y="1043305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语音唤醒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85" name="文本框 22"/>
          <p:cNvSpPr txBox="true"/>
          <p:nvPr/>
        </p:nvSpPr>
        <p:spPr>
          <a:xfrm>
            <a:off x="843915" y="2484120"/>
            <a:ext cx="781050" cy="5219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false">
            <a:spAutoFit/>
          </a:bodyPr>
          <a:p>
            <a:pPr algn="ctr"/>
            <a:r>
              <a:rPr lang="zh-CN" altLang="en-US" sz="1400">
                <a:sym typeface="+mn-ea"/>
              </a:rPr>
              <a:t>休眠</a:t>
            </a:r>
            <a:endParaRPr lang="zh-CN" altLang="en-US" sz="1400">
              <a:sym typeface="+mn-ea"/>
            </a:endParaRPr>
          </a:p>
          <a:p>
            <a:pPr algn="ctr"/>
            <a:r>
              <a:rPr lang="zh-CN" altLang="en-US" sz="1400">
                <a:sym typeface="+mn-ea"/>
              </a:rPr>
              <a:t>状态</a:t>
            </a:r>
            <a:endParaRPr lang="en-US" altLang="en-US" sz="1400">
              <a:latin typeface="Microsoft YaHei" charset="-122"/>
              <a:ea typeface="Microsoft YaHei" charset="-122"/>
            </a:endParaRPr>
          </a:p>
        </p:txBody>
      </p:sp>
      <p:sp>
        <p:nvSpPr>
          <p:cNvPr id="86" name="文本框 23"/>
          <p:cNvSpPr txBox="true"/>
          <p:nvPr/>
        </p:nvSpPr>
        <p:spPr>
          <a:xfrm>
            <a:off x="804545" y="4308475"/>
            <a:ext cx="859155" cy="5219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false">
            <a:spAutoFit/>
          </a:bodyPr>
          <a:p>
            <a:pPr algn="ctr"/>
            <a:r>
              <a:rPr lang="zh-CN" altLang="en-US" sz="1400">
                <a:sym typeface="+mn-ea"/>
              </a:rPr>
              <a:t>工作</a:t>
            </a:r>
            <a:endParaRPr lang="zh-CN" altLang="en-US" sz="1400">
              <a:sym typeface="+mn-ea"/>
            </a:endParaRPr>
          </a:p>
          <a:p>
            <a:pPr algn="ctr"/>
            <a:r>
              <a:rPr lang="zh-CN" altLang="en-US" sz="1400">
                <a:sym typeface="+mn-ea"/>
              </a:rPr>
              <a:t>状态</a:t>
            </a:r>
            <a:endParaRPr lang="en-US" altLang="en-US" sz="1400">
              <a:latin typeface="Microsoft YaHei" charset="-122"/>
              <a:ea typeface="Microsoft YaHei" charset="-122"/>
            </a:endParaRPr>
          </a:p>
        </p:txBody>
      </p:sp>
      <p:sp>
        <p:nvSpPr>
          <p:cNvPr id="87" name="下箭头 3"/>
          <p:cNvSpPr/>
          <p:nvPr/>
        </p:nvSpPr>
        <p:spPr>
          <a:xfrm>
            <a:off x="758190" y="3216910"/>
            <a:ext cx="951865" cy="907415"/>
          </a:xfrm>
          <a:prstGeom prst="downArrow">
            <a:avLst/>
          </a:prstGeom>
          <a:noFill/>
          <a:extLst>
            <a:ext uri="{909E8E84-426E-40DD-AFC4-6F175D3DCCD1}"/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唤醒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8" name="文本框 6"/>
          <p:cNvSpPr txBox="true"/>
          <p:nvPr/>
        </p:nvSpPr>
        <p:spPr>
          <a:xfrm>
            <a:off x="2795270" y="1849120"/>
            <a:ext cx="1929130" cy="30670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false">
            <a:spAutoFit/>
          </a:bodyPr>
          <a:p>
            <a:pPr algn="l"/>
            <a:r>
              <a:rPr lang="zh-CN" altLang="en-US" sz="1400">
                <a:sym typeface="+mn-ea"/>
              </a:rPr>
              <a:t>基于模式匹配</a:t>
            </a:r>
            <a:endParaRPr lang="zh-CN" altLang="en-US" sz="1400">
              <a:sym typeface="+mn-ea"/>
            </a:endParaRPr>
          </a:p>
        </p:txBody>
      </p:sp>
      <p:sp>
        <p:nvSpPr>
          <p:cNvPr id="89" name="文本框 7"/>
          <p:cNvSpPr txBox="true"/>
          <p:nvPr/>
        </p:nvSpPr>
        <p:spPr>
          <a:xfrm>
            <a:off x="2795270" y="4589780"/>
            <a:ext cx="1929130" cy="30670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false">
            <a:spAutoFit/>
          </a:bodyPr>
          <a:p>
            <a:pPr algn="l"/>
            <a:r>
              <a:rPr lang="zh-CN" altLang="en-US" sz="1400">
                <a:sym typeface="+mn-ea"/>
              </a:rPr>
              <a:t>基于隐马尔可夫模型</a:t>
            </a:r>
            <a:endParaRPr lang="zh-CN" altLang="en-US" sz="1400">
              <a:sym typeface="+mn-ea"/>
            </a:endParaRPr>
          </a:p>
        </p:txBody>
      </p:sp>
      <p:pic>
        <p:nvPicPr>
          <p:cNvPr id="90" name="图片 14" descr="dynamic-time-warping-l"/>
          <p:cNvPicPr>
            <a:picLocks noChangeAspect="true"/>
          </p:cNvPicPr>
          <p:nvPr/>
        </p:nvPicPr>
        <p:blipFill>
          <a:blip r:embed="rId1"/>
          <a:srcRect l="5123" t="22904" r="52838" b="40946"/>
          <a:stretch>
            <a:fillRect/>
          </a:stretch>
        </p:blipFill>
        <p:spPr>
          <a:xfrm>
            <a:off x="4453890" y="1425575"/>
            <a:ext cx="2777490" cy="1791335"/>
          </a:xfrm>
          <a:prstGeom prst="rect">
            <a:avLst/>
          </a:prstGeom>
        </p:spPr>
      </p:pic>
      <p:pic>
        <p:nvPicPr>
          <p:cNvPr id="91" name="图片 15" descr="dynamic-time-warping-l"/>
          <p:cNvPicPr>
            <a:picLocks noChangeAspect="true"/>
          </p:cNvPicPr>
          <p:nvPr/>
        </p:nvPicPr>
        <p:blipFill>
          <a:blip r:embed="rId1"/>
          <a:srcRect l="7473" t="59330" r="54433" b="10102"/>
          <a:stretch>
            <a:fillRect/>
          </a:stretch>
        </p:blipFill>
        <p:spPr>
          <a:xfrm>
            <a:off x="7340600" y="1403985"/>
            <a:ext cx="1989455" cy="1197610"/>
          </a:xfrm>
          <a:prstGeom prst="rect">
            <a:avLst/>
          </a:prstGeom>
        </p:spPr>
      </p:pic>
      <p:pic>
        <p:nvPicPr>
          <p:cNvPr id="92" name="图片 16" descr="dynamic-time-warping-l"/>
          <p:cNvPicPr>
            <a:picLocks noChangeAspect="true"/>
          </p:cNvPicPr>
          <p:nvPr/>
        </p:nvPicPr>
        <p:blipFill>
          <a:blip r:embed="rId1"/>
          <a:srcRect l="54205" t="35619" r="4062" b="6995"/>
          <a:stretch>
            <a:fillRect/>
          </a:stretch>
        </p:blipFill>
        <p:spPr>
          <a:xfrm>
            <a:off x="9754235" y="1131570"/>
            <a:ext cx="1687830" cy="1741170"/>
          </a:xfrm>
          <a:prstGeom prst="rect">
            <a:avLst/>
          </a:prstGeom>
        </p:spPr>
      </p:pic>
      <p:sp>
        <p:nvSpPr>
          <p:cNvPr id="93" name="文本框 17"/>
          <p:cNvSpPr txBox="true"/>
          <p:nvPr/>
        </p:nvSpPr>
        <p:spPr>
          <a:xfrm>
            <a:off x="4724400" y="1097280"/>
            <a:ext cx="2540000" cy="306705"/>
          </a:xfrm>
          <a:prstGeom prst="rect">
            <a:avLst/>
          </a:prstGeom>
          <a:noFill/>
        </p:spPr>
        <p:txBody>
          <a:bodyPr wrap="square" rtlCol="false" anchor="t">
            <a:spAutoFit/>
          </a:bodyPr>
          <a:p>
            <a:pPr algn="ctr"/>
            <a:r>
              <a:rPr lang="zh-CN" altLang="en-US" sz="1400"/>
              <a:t>动态时间规整</a:t>
            </a:r>
            <a:endParaRPr lang="zh-CN" altLang="en-US" sz="1400"/>
          </a:p>
        </p:txBody>
      </p:sp>
      <p:sp>
        <p:nvSpPr>
          <p:cNvPr id="94" name="文本框 18"/>
          <p:cNvSpPr txBox="true"/>
          <p:nvPr/>
        </p:nvSpPr>
        <p:spPr>
          <a:xfrm>
            <a:off x="9084945" y="4124325"/>
            <a:ext cx="2540000" cy="163611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false" anchor="t">
            <a:spAutoFit/>
          </a:bodyPr>
          <a:p>
            <a:pPr/>
            <a:r>
              <a:rPr lang="zh-CN" altLang="en-US"/>
              <a:t>分别对唤醒词和非唤醒词</a:t>
            </a:r>
            <a:r>
              <a:rPr lang="en-US" altLang="zh-CN"/>
              <a:t>（包括语音和文字）做</a:t>
            </a:r>
            <a:r>
              <a:rPr lang="zh-CN" altLang="en-US"/>
              <a:t>一个模型，根据两模型的结果对比，决定是否唤醒。</a:t>
            </a:r>
            <a:endParaRPr lang="zh-CN" altLang="en-US"/>
          </a:p>
        </p:txBody>
      </p:sp>
      <p:pic>
        <p:nvPicPr>
          <p:cNvPr id="95" name="图片 19" descr="v2-b39dc46d8a8ea48d41a79d41b6767fe8_r"/>
          <p:cNvPicPr>
            <a:picLocks noChangeAspect="true"/>
          </p:cNvPicPr>
          <p:nvPr/>
        </p:nvPicPr>
        <p:blipFill>
          <a:blip r:embed="rId2"/>
          <a:srcRect l="9375" t="5185" r="15071" b="6092"/>
          <a:stretch>
            <a:fillRect/>
          </a:stretch>
        </p:blipFill>
        <p:spPr>
          <a:xfrm>
            <a:off x="4924425" y="3735070"/>
            <a:ext cx="3614420" cy="24625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圆角矩形 12"/>
          <p:cNvSpPr/>
          <p:nvPr/>
        </p:nvSpPr>
        <p:spPr>
          <a:xfrm>
            <a:off x="14605" y="1043305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语音唤醒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基于DNN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98" name="图片 1" descr="v2-e3f4669d4f29c95df221b38ccc730412_r"/>
          <p:cNvPicPr>
            <a:picLocks noChangeAspect="true"/>
          </p:cNvPicPr>
          <p:nvPr/>
        </p:nvPicPr>
        <p:blipFill>
          <a:blip r:embed="rId1"/>
          <a:srcRect l="7482" t="4645" r="7482" b="16086"/>
          <a:stretch>
            <a:fillRect/>
          </a:stretch>
        </p:blipFill>
        <p:spPr>
          <a:xfrm>
            <a:off x="99060" y="3026410"/>
            <a:ext cx="3999865" cy="2181225"/>
          </a:xfrm>
          <a:prstGeom prst="rect">
            <a:avLst/>
          </a:prstGeom>
        </p:spPr>
      </p:pic>
      <p:sp>
        <p:nvSpPr>
          <p:cNvPr id="99" name="文本框 2"/>
          <p:cNvSpPr txBox="true"/>
          <p:nvPr/>
        </p:nvSpPr>
        <p:spPr>
          <a:xfrm>
            <a:off x="543560" y="5661025"/>
            <a:ext cx="2904490" cy="645160"/>
          </a:xfrm>
          <a:prstGeom prst="rect">
            <a:avLst/>
          </a:prstGeom>
          <a:noFill/>
        </p:spPr>
        <p:txBody>
          <a:bodyPr wrap="square" rtlCol="false" anchor="t">
            <a:spAutoFit/>
          </a:bodyPr>
          <a:p>
            <a:pPr algn="ctr"/>
            <a:r>
              <a:rPr lang="en-US" altLang="zh-CN"/>
              <a:t>信号X ----&gt; 特征Y</a:t>
            </a:r>
            <a:endParaRPr lang="en-US" altLang="zh-CN"/>
          </a:p>
          <a:p>
            <a:pPr algn="ctr"/>
            <a:r>
              <a:rPr lang="zh-CN" altLang="en-US"/>
              <a:t>神经网络作为特征提取器</a:t>
            </a:r>
            <a:endParaRPr lang="zh-CN" altLang="en-US"/>
          </a:p>
        </p:txBody>
      </p:sp>
      <p:sp>
        <p:nvSpPr>
          <p:cNvPr id="100" name="文本框 35"/>
          <p:cNvSpPr txBox="true"/>
          <p:nvPr/>
        </p:nvSpPr>
        <p:spPr>
          <a:xfrm>
            <a:off x="4960620" y="4516755"/>
            <a:ext cx="1282065" cy="33664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false">
            <a:spAutoFit/>
          </a:bodyPr>
          <a:p>
            <a:pPr/>
            <a:r>
              <a:rPr lang="en-US" altLang="zh-CN" sz="1400">
                <a:latin typeface="Microsoft YaHei" charset="-122"/>
                <a:ea typeface="Microsoft YaHei" charset="-122"/>
              </a:rPr>
              <a:t>target.pmdl</a:t>
            </a:r>
            <a:endParaRPr lang="en-US" altLang="zh-CN" sz="1400">
              <a:latin typeface="Microsoft YaHei" charset="-122"/>
              <a:ea typeface="Microsoft YaHei" charset="-122"/>
            </a:endParaRPr>
          </a:p>
        </p:txBody>
      </p:sp>
      <p:sp>
        <p:nvSpPr>
          <p:cNvPr id="101" name="圆角矩形 38"/>
          <p:cNvSpPr/>
          <p:nvPr/>
        </p:nvSpPr>
        <p:spPr>
          <a:xfrm>
            <a:off x="6870065" y="4342130"/>
            <a:ext cx="2297430" cy="1318895"/>
          </a:xfrm>
          <a:prstGeom prst="roundRect">
            <a:avLst/>
          </a:prstGeom>
          <a:ln>
            <a:solidFill>
              <a:srgbClr val="FF0000"/>
            </a:solidFill>
            <a:prstDash val="dash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false" anchor="ctr"/>
          <a:p>
            <a:pPr algn="ctr"/>
            <a:endParaRPr lang="zh-CN" altLang="en-US"/>
          </a:p>
        </p:txBody>
      </p:sp>
      <p:cxnSp>
        <p:nvCxnSpPr>
          <p:cNvPr id="102" name="直接箭头连接符 40"/>
          <p:cNvCxnSpPr/>
          <p:nvPr/>
        </p:nvCxnSpPr>
        <p:spPr>
          <a:xfrm>
            <a:off x="6315075" y="5352415"/>
            <a:ext cx="1057275" cy="4445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3" name="圆角矩形 42"/>
          <p:cNvSpPr/>
          <p:nvPr/>
        </p:nvSpPr>
        <p:spPr>
          <a:xfrm>
            <a:off x="7371715" y="4509770"/>
            <a:ext cx="877570" cy="99441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p>
            <a:pPr algn="ctr"/>
            <a:endParaRPr lang="en-US" altLang="zh-CN" sz="1200" b="true">
              <a:solidFill>
                <a:schemeClr val="tx1"/>
              </a:solidFill>
              <a:latin typeface="Microsoft YaHei" charset="-122"/>
              <a:ea typeface="Microsoft YaHei" charset="-122"/>
              <a:sym typeface="+mn-ea"/>
            </a:endParaRPr>
          </a:p>
          <a:p>
            <a:pPr algn="ctr"/>
            <a:r>
              <a:rPr lang="en-US" altLang="zh-CN" sz="1200" b="true">
                <a:solidFill>
                  <a:schemeClr val="tx1"/>
                </a:solidFill>
                <a:latin typeface="Microsoft YaHei" charset="-122"/>
                <a:ea typeface="Microsoft YaHei" charset="-122"/>
                <a:sym typeface="+mn-ea"/>
              </a:rPr>
              <a:t>Model</a:t>
            </a:r>
            <a:endParaRPr lang="en-US" altLang="zh-CN" sz="1200" b="true">
              <a:solidFill>
                <a:schemeClr val="tx1"/>
              </a:solidFill>
              <a:latin typeface="Microsoft YaHei" charset="-122"/>
              <a:ea typeface="Microsoft YaHei" charset="-122"/>
            </a:endParaRPr>
          </a:p>
          <a:p>
            <a:pPr algn="ctr"/>
            <a:endParaRPr lang="en-US" altLang="zh-CN" sz="1200" b="true">
              <a:solidFill>
                <a:schemeClr val="tx1"/>
              </a:solidFill>
              <a:latin typeface="Microsoft YaHei" charset="-122"/>
              <a:ea typeface="Microsoft YaHei" charset="-122"/>
            </a:endParaRPr>
          </a:p>
        </p:txBody>
      </p:sp>
      <p:cxnSp>
        <p:nvCxnSpPr>
          <p:cNvPr id="104" name="直接箭头连接符 43"/>
          <p:cNvCxnSpPr/>
          <p:nvPr/>
        </p:nvCxnSpPr>
        <p:spPr>
          <a:xfrm flipV="true">
            <a:off x="6325870" y="4664710"/>
            <a:ext cx="1046480" cy="10795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5" name="文本框 44"/>
          <p:cNvSpPr txBox="true"/>
          <p:nvPr/>
        </p:nvSpPr>
        <p:spPr>
          <a:xfrm>
            <a:off x="8249285" y="4890770"/>
            <a:ext cx="931545" cy="306705"/>
          </a:xfrm>
          <a:prstGeom prst="rect">
            <a:avLst/>
          </a:prstGeom>
          <a:noFill/>
        </p:spPr>
        <p:txBody>
          <a:bodyPr wrap="square" rtlCol="false">
            <a:spAutoFit/>
          </a:bodyPr>
          <a:p>
            <a:pPr/>
            <a:r>
              <a:rPr lang="en-US" altLang="zh-CN" sz="1400">
                <a:latin typeface="Microsoft YaHei" charset="-122"/>
                <a:ea typeface="Microsoft YaHei" charset="-122"/>
              </a:rPr>
              <a:t>success?</a:t>
            </a:r>
            <a:endParaRPr lang="en-US" altLang="zh-CN" sz="1400">
              <a:latin typeface="Microsoft YaHei" charset="-122"/>
              <a:ea typeface="Microsoft YaHei" charset="-122"/>
            </a:endParaRPr>
          </a:p>
        </p:txBody>
      </p:sp>
      <p:sp>
        <p:nvSpPr>
          <p:cNvPr id="106" name="文本框 41"/>
          <p:cNvSpPr txBox="true"/>
          <p:nvPr/>
        </p:nvSpPr>
        <p:spPr>
          <a:xfrm>
            <a:off x="5332730" y="5197475"/>
            <a:ext cx="700405" cy="306705"/>
          </a:xfrm>
          <a:prstGeom prst="rect">
            <a:avLst/>
          </a:prstGeom>
          <a:noFill/>
        </p:spPr>
        <p:txBody>
          <a:bodyPr wrap="square" rtlCol="false">
            <a:spAutoFit/>
          </a:bodyPr>
          <a:p>
            <a:pPr/>
            <a:r>
              <a:rPr lang="en-US" altLang="zh-CN" sz="1400">
                <a:latin typeface="Microsoft YaHei" charset="-122"/>
                <a:ea typeface="Microsoft YaHei" charset="-122"/>
              </a:rPr>
              <a:t>audio</a:t>
            </a:r>
            <a:endParaRPr lang="en-US" altLang="zh-CN" sz="1400">
              <a:latin typeface="Microsoft YaHei" charset="-122"/>
              <a:ea typeface="Microsoft YaHei" charset="-122"/>
            </a:endParaRPr>
          </a:p>
        </p:txBody>
      </p:sp>
      <p:sp>
        <p:nvSpPr>
          <p:cNvPr id="107" name="圆角矩形 3"/>
          <p:cNvSpPr/>
          <p:nvPr/>
        </p:nvSpPr>
        <p:spPr>
          <a:xfrm>
            <a:off x="6480175" y="1590675"/>
            <a:ext cx="1550035" cy="1318895"/>
          </a:xfrm>
          <a:prstGeom prst="roundRect">
            <a:avLst/>
          </a:prstGeom>
          <a:ln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false" anchor="ctr"/>
          <a:p>
            <a:pPr algn="ctr"/>
            <a:endParaRPr lang="zh-CN" altLang="en-US"/>
          </a:p>
        </p:txBody>
      </p:sp>
      <p:cxnSp>
        <p:nvCxnSpPr>
          <p:cNvPr id="108" name="直接箭头连接符 4"/>
          <p:cNvCxnSpPr/>
          <p:nvPr/>
        </p:nvCxnSpPr>
        <p:spPr>
          <a:xfrm>
            <a:off x="6324600" y="2605405"/>
            <a:ext cx="668655" cy="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9" name="圆角矩形 5"/>
          <p:cNvSpPr/>
          <p:nvPr/>
        </p:nvSpPr>
        <p:spPr>
          <a:xfrm>
            <a:off x="6981825" y="1758315"/>
            <a:ext cx="877570" cy="99441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p>
            <a:pPr algn="ctr"/>
            <a:r>
              <a:rPr lang="en-US" altLang="en-US" sz="1200" b="true">
                <a:solidFill>
                  <a:schemeClr val="tx1"/>
                </a:solidFill>
                <a:latin typeface="Microsoft YaHei" charset="-122"/>
                <a:ea typeface="Microsoft YaHei" charset="-122"/>
                <a:sym typeface="+mn-ea"/>
              </a:rPr>
              <a:t>train</a:t>
            </a:r>
            <a:endParaRPr lang="en-US" altLang="en-US" sz="1200" b="true">
              <a:solidFill>
                <a:schemeClr val="tx1"/>
              </a:solidFill>
              <a:latin typeface="Microsoft YaHei" charset="-122"/>
              <a:ea typeface="Microsoft YaHei" charset="-122"/>
            </a:endParaRPr>
          </a:p>
        </p:txBody>
      </p:sp>
      <p:cxnSp>
        <p:nvCxnSpPr>
          <p:cNvPr id="110" name="直接箭头连接符 6"/>
          <p:cNvCxnSpPr/>
          <p:nvPr/>
        </p:nvCxnSpPr>
        <p:spPr>
          <a:xfrm flipV="true">
            <a:off x="6335395" y="1906270"/>
            <a:ext cx="647065" cy="1905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1" name="文本框 8"/>
          <p:cNvSpPr txBox="true"/>
          <p:nvPr/>
        </p:nvSpPr>
        <p:spPr>
          <a:xfrm>
            <a:off x="5185410" y="1655445"/>
            <a:ext cx="873125" cy="306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false">
            <a:spAutoFit/>
          </a:bodyPr>
          <a:p>
            <a:pPr algn="ctr"/>
            <a:r>
              <a:rPr lang="en-US" altLang="zh-CN" sz="1400">
                <a:latin typeface="Microsoft YaHei" charset="-122"/>
                <a:ea typeface="Microsoft YaHei" charset="-122"/>
              </a:rPr>
              <a:t>audio</a:t>
            </a:r>
            <a:r>
              <a:rPr lang="en-US" altLang="en-US" sz="1400">
                <a:latin typeface="Microsoft YaHei" charset="-122"/>
                <a:ea typeface="Microsoft YaHei" charset="-122"/>
              </a:rPr>
              <a:t>1</a:t>
            </a:r>
            <a:endParaRPr lang="en-US" altLang="en-US" sz="1400">
              <a:latin typeface="Microsoft YaHei" charset="-122"/>
              <a:ea typeface="Microsoft YaHei" charset="-122"/>
            </a:endParaRPr>
          </a:p>
        </p:txBody>
      </p:sp>
      <p:sp>
        <p:nvSpPr>
          <p:cNvPr id="112" name="圆角矩形 9"/>
          <p:cNvSpPr/>
          <p:nvPr/>
        </p:nvSpPr>
        <p:spPr>
          <a:xfrm>
            <a:off x="4889500" y="1513205"/>
            <a:ext cx="1464945" cy="1485900"/>
          </a:xfrm>
          <a:prstGeom prst="roundRect">
            <a:avLst/>
          </a:prstGeom>
          <a:noFill/>
          <a:extLst>
            <a:ext uri="{909E8E84-426E-40DD-AFC4-6F175D3DCCD1}"/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false" anchor="ctr"/>
          <a:p>
            <a:pPr algn="ctr"/>
            <a:endParaRPr lang="zh-CN" altLang="en-US"/>
          </a:p>
        </p:txBody>
      </p:sp>
      <p:sp>
        <p:nvSpPr>
          <p:cNvPr id="113" name="文本框 10"/>
          <p:cNvSpPr txBox="true"/>
          <p:nvPr/>
        </p:nvSpPr>
        <p:spPr>
          <a:xfrm>
            <a:off x="5185410" y="2103120"/>
            <a:ext cx="873125" cy="306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false">
            <a:spAutoFit/>
          </a:bodyPr>
          <a:p>
            <a:pPr algn="ctr"/>
            <a:r>
              <a:rPr lang="en-US" altLang="zh-CN" sz="1400">
                <a:latin typeface="Microsoft YaHei" charset="-122"/>
                <a:ea typeface="Microsoft YaHei" charset="-122"/>
              </a:rPr>
              <a:t>audio</a:t>
            </a:r>
            <a:r>
              <a:rPr lang="en-US" altLang="en-US" sz="1400">
                <a:latin typeface="Microsoft YaHei" charset="-122"/>
                <a:ea typeface="Microsoft YaHei" charset="-122"/>
              </a:rPr>
              <a:t>2</a:t>
            </a:r>
            <a:endParaRPr lang="en-US" altLang="en-US" sz="1400">
              <a:latin typeface="Microsoft YaHei" charset="-122"/>
              <a:ea typeface="Microsoft YaHei" charset="-122"/>
            </a:endParaRPr>
          </a:p>
        </p:txBody>
      </p:sp>
      <p:sp>
        <p:nvSpPr>
          <p:cNvPr id="114" name="文本框 11"/>
          <p:cNvSpPr txBox="true"/>
          <p:nvPr/>
        </p:nvSpPr>
        <p:spPr>
          <a:xfrm>
            <a:off x="5185410" y="2502535"/>
            <a:ext cx="873125" cy="306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false">
            <a:spAutoFit/>
          </a:bodyPr>
          <a:p>
            <a:pPr algn="ctr"/>
            <a:r>
              <a:rPr lang="en-US" altLang="en-US" sz="1400">
                <a:latin typeface="Microsoft YaHei" charset="-122"/>
                <a:ea typeface="Microsoft YaHei" charset="-122"/>
              </a:rPr>
              <a:t>......</a:t>
            </a:r>
            <a:endParaRPr lang="en-US" altLang="en-US" sz="1400">
              <a:latin typeface="Microsoft YaHei" charset="-122"/>
              <a:ea typeface="Microsoft YaHei" charset="-122"/>
            </a:endParaRPr>
          </a:p>
        </p:txBody>
      </p:sp>
      <p:cxnSp>
        <p:nvCxnSpPr>
          <p:cNvPr id="115" name="肘形连接符 7"/>
          <p:cNvCxnSpPr>
            <a:stCxn id="107" idx="2"/>
            <a:endCxn id="100" idx="0"/>
          </p:cNvCxnSpPr>
          <p:nvPr/>
        </p:nvCxnSpPr>
        <p:spPr>
          <a:xfrm rot="5400000">
            <a:off x="5625148" y="2886393"/>
            <a:ext cx="1607185" cy="165354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26"/>
          <p:cNvCxnSpPr>
            <a:endCxn id="103" idx="2"/>
          </p:cNvCxnSpPr>
          <p:nvPr/>
        </p:nvCxnSpPr>
        <p:spPr>
          <a:xfrm flipH="true" flipV="true">
            <a:off x="7810500" y="5504180"/>
            <a:ext cx="8255" cy="6756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28"/>
          <p:cNvSpPr txBox="true"/>
          <p:nvPr/>
        </p:nvSpPr>
        <p:spPr>
          <a:xfrm>
            <a:off x="7240905" y="6179820"/>
            <a:ext cx="1138555" cy="2755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false">
            <a:spAutoFit/>
          </a:bodyPr>
          <a:p>
            <a:pPr algn="ctr"/>
            <a:r>
              <a:rPr lang="en-US" altLang="en-US" sz="1200">
                <a:latin typeface="Microsoft YaHei" charset="-122"/>
                <a:ea typeface="Microsoft YaHei" charset="-122"/>
              </a:rPr>
              <a:t>参数，音量</a:t>
            </a:r>
            <a:endParaRPr lang="en-US" altLang="en-US" sz="1200">
              <a:latin typeface="Microsoft YaHei" charset="-122"/>
              <a:ea typeface="Microsoft YaHei" charset="-122"/>
            </a:endParaRPr>
          </a:p>
        </p:txBody>
      </p:sp>
      <p:sp>
        <p:nvSpPr>
          <p:cNvPr id="118" name="文本框 13"/>
          <p:cNvSpPr txBox="true"/>
          <p:nvPr/>
        </p:nvSpPr>
        <p:spPr>
          <a:xfrm>
            <a:off x="1134745" y="2353310"/>
            <a:ext cx="1929130" cy="30670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false">
            <a:spAutoFit/>
          </a:bodyPr>
          <a:p>
            <a:pPr algn="ctr"/>
            <a:r>
              <a:rPr lang="zh-CN" altLang="en-US" sz="1400">
                <a:sym typeface="+mn-ea"/>
              </a:rPr>
              <a:t>基于神经网络模型</a:t>
            </a:r>
            <a:endParaRPr lang="en-US" sz="1400">
              <a:latin typeface="Microsoft YaHei" charset="-122"/>
              <a:ea typeface="Microsoft YaHei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圆角矩形 12"/>
          <p:cNvSpPr/>
          <p:nvPr/>
        </p:nvSpPr>
        <p:spPr>
          <a:xfrm>
            <a:off x="14605" y="1043305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语音转文字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121" name="图片 1" descr="v2-92347fcd73ede3f8775a6f4bc0e87adf"/>
          <p:cNvPicPr>
            <a:picLocks noChangeAspect="true"/>
          </p:cNvPicPr>
          <p:nvPr/>
        </p:nvPicPr>
        <p:blipFill>
          <a:blip r:embed="rId1"/>
          <a:srcRect l="-265" t="20545" r="85152" b="58758"/>
          <a:stretch>
            <a:fillRect/>
          </a:stretch>
        </p:blipFill>
        <p:spPr>
          <a:xfrm>
            <a:off x="155575" y="2114550"/>
            <a:ext cx="3070225" cy="2628900"/>
          </a:xfrm>
          <a:prstGeom prst="rect">
            <a:avLst/>
          </a:prstGeom>
        </p:spPr>
      </p:pic>
      <p:sp>
        <p:nvSpPr>
          <p:cNvPr id="122" name="文本框 3"/>
          <p:cNvSpPr txBox="true"/>
          <p:nvPr/>
        </p:nvSpPr>
        <p:spPr>
          <a:xfrm>
            <a:off x="4184650" y="2114550"/>
            <a:ext cx="6673850" cy="1476375"/>
          </a:xfrm>
          <a:prstGeom prst="rect">
            <a:avLst/>
          </a:prstGeom>
          <a:noFill/>
        </p:spPr>
        <p:txBody>
          <a:bodyPr wrap="square" rtlCol="false">
            <a:spAutoFit/>
          </a:bodyPr>
          <a:p>
            <a:pPr/>
            <a:r>
              <a:rPr lang="en-US" altLang="zh-CN"/>
              <a:t>模型：sherpa_ncnn （基于LSTM）</a:t>
            </a:r>
            <a:endParaRPr lang="en-US" altLang="zh-CN"/>
          </a:p>
          <a:p>
            <a:pPr/>
            <a:endParaRPr lang="en-US" altLang="zh-CN"/>
          </a:p>
          <a:p>
            <a:pPr/>
            <a:r>
              <a:rPr lang="en-US" altLang="zh-CN"/>
              <a:t>实时转换，模型检测到停顿过长自动认为问话结束</a:t>
            </a:r>
            <a:endParaRPr lang="en-US" altLang="zh-CN"/>
          </a:p>
          <a:p>
            <a:pPr/>
            <a:endParaRPr lang="en-US" altLang="zh-CN"/>
          </a:p>
          <a:p>
            <a:pPr/>
            <a:r>
              <a:rPr lang="en-US" altLang="zh-CN"/>
              <a:t>可以满足目前需求，四个过程中最稳定的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圆角矩形 12"/>
          <p:cNvSpPr/>
          <p:nvPr/>
        </p:nvSpPr>
        <p:spPr>
          <a:xfrm>
            <a:off x="14605" y="1043305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文字对话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背景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125" name="图片 3" descr="图片1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5841365" y="1043305"/>
            <a:ext cx="6233795" cy="2743200"/>
          </a:xfrm>
          <a:prstGeom prst="rect">
            <a:avLst/>
          </a:prstGeom>
        </p:spPr>
      </p:pic>
      <p:pic>
        <p:nvPicPr>
          <p:cNvPr id="126" name="图片 4" descr="图片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610" y="4016375"/>
            <a:ext cx="6119495" cy="1927860"/>
          </a:xfrm>
          <a:prstGeom prst="rect">
            <a:avLst/>
          </a:prstGeom>
        </p:spPr>
      </p:pic>
      <p:sp>
        <p:nvSpPr>
          <p:cNvPr id="127" name="文本框 5"/>
          <p:cNvSpPr txBox="true"/>
          <p:nvPr/>
        </p:nvSpPr>
        <p:spPr>
          <a:xfrm>
            <a:off x="306705" y="2122170"/>
            <a:ext cx="5297805" cy="3784600"/>
          </a:xfrm>
          <a:prstGeom prst="rect">
            <a:avLst/>
          </a:prstGeom>
          <a:noFill/>
        </p:spPr>
        <p:txBody>
          <a:bodyPr wrap="square" rtlCol="false">
            <a:spAutoFit/>
          </a:bodyPr>
          <a:p>
            <a:pPr/>
            <a:r>
              <a:rPr lang="en-US" altLang="zh-CN" sz="2400">
                <a:latin typeface="SimSun" pitchFamily="2" charset="-122"/>
                <a:ea typeface="SimSun" pitchFamily="2" charset="-122"/>
                <a:cs typeface="SimSun" pitchFamily="2" charset="-122"/>
              </a:rPr>
              <a:t>基于</a:t>
            </a:r>
            <a:r>
              <a:rPr lang="zh-CN" altLang="en-US" sz="2400">
                <a:latin typeface="SimSun" pitchFamily="2" charset="-122"/>
                <a:ea typeface="SimSun" pitchFamily="2" charset="-122"/>
                <a:cs typeface="SimSun" pitchFamily="2" charset="-122"/>
              </a:rPr>
              <a:t>神经网络的发展，人们提出了预训练语言模型。</a:t>
            </a:r>
            <a:endParaRPr lang="zh-CN" altLang="en-US" sz="2400">
              <a:latin typeface="SimSun" pitchFamily="2" charset="-122"/>
              <a:ea typeface="SimSun" pitchFamily="2" charset="-122"/>
              <a:cs typeface="SimSun" pitchFamily="2" charset="-122"/>
            </a:endParaRPr>
          </a:p>
          <a:p>
            <a:pPr/>
            <a:endParaRPr lang="zh-CN" altLang="en-US" sz="2400">
              <a:latin typeface="SimSun" pitchFamily="2" charset="-122"/>
              <a:ea typeface="SimSun" pitchFamily="2" charset="-122"/>
              <a:cs typeface="SimSun" pitchFamily="2" charset="-122"/>
            </a:endParaRPr>
          </a:p>
          <a:p>
            <a:pPr/>
            <a:r>
              <a:rPr lang="zh-CN" altLang="en-US" sz="2400">
                <a:latin typeface="SimSun" pitchFamily="2" charset="-122"/>
                <a:ea typeface="SimSun" pitchFamily="2" charset="-122"/>
                <a:cs typeface="SimSun" pitchFamily="2" charset="-122"/>
              </a:rPr>
              <a:t>当其参数超过一定规模，其性能不仅得到了提升，还获得了小参数模型没有的功能（如上下文学习）</a:t>
            </a:r>
            <a:r>
              <a:rPr lang="en-US" altLang="zh-CN" sz="2400">
                <a:latin typeface="SimSun" pitchFamily="2" charset="-122"/>
                <a:ea typeface="SimSun" pitchFamily="2" charset="-122"/>
                <a:cs typeface="SimSun" pitchFamily="2" charset="-122"/>
              </a:rPr>
              <a:t>。</a:t>
            </a:r>
            <a:endParaRPr lang="en-US" altLang="zh-CN" sz="2400">
              <a:latin typeface="SimSun" pitchFamily="2" charset="-122"/>
              <a:ea typeface="SimSun" pitchFamily="2" charset="-122"/>
              <a:cs typeface="SimSun" pitchFamily="2" charset="-122"/>
            </a:endParaRPr>
          </a:p>
          <a:p>
            <a:pPr/>
            <a:endParaRPr lang="en-US" altLang="zh-CN" sz="2400">
              <a:latin typeface="SimSun" pitchFamily="2" charset="-122"/>
              <a:ea typeface="SimSun" pitchFamily="2" charset="-122"/>
              <a:cs typeface="SimSun" pitchFamily="2" charset="-122"/>
            </a:endParaRPr>
          </a:p>
          <a:p>
            <a:pPr/>
            <a:r>
              <a:rPr lang="zh-CN" altLang="en-US" sz="2400">
                <a:latin typeface="SimSun" pitchFamily="2" charset="-122"/>
                <a:ea typeface="SimSun" pitchFamily="2" charset="-122"/>
                <a:cs typeface="SimSun" pitchFamily="2" charset="-122"/>
              </a:rPr>
              <a:t>大语言模型（</a:t>
            </a:r>
            <a:r>
              <a:rPr lang="en-US" altLang="zh-CN" sz="2400">
                <a:latin typeface="SimSun" pitchFamily="2" charset="-122"/>
                <a:ea typeface="SimSun" pitchFamily="2" charset="-122"/>
                <a:cs typeface="SimSun" pitchFamily="2" charset="-122"/>
              </a:rPr>
              <a:t>LLM</a:t>
            </a:r>
            <a:r>
              <a:rPr lang="zh-CN" altLang="en-US" sz="2400">
                <a:latin typeface="SimSun" pitchFamily="2" charset="-122"/>
                <a:ea typeface="SimSun" pitchFamily="2" charset="-122"/>
                <a:cs typeface="SimSun" pitchFamily="2" charset="-122"/>
              </a:rPr>
              <a:t>）指代大参数量的预训练语言模型。</a:t>
            </a:r>
            <a:endParaRPr lang="zh-CN" altLang="en-US" sz="2400">
              <a:latin typeface="SimSun" pitchFamily="2" charset="-122"/>
              <a:ea typeface="SimSun" pitchFamily="2" charset="-122"/>
              <a:cs typeface="SimSun" pitchFamily="2" charset="-122"/>
            </a:endParaRPr>
          </a:p>
          <a:p>
            <a:pPr/>
            <a:endParaRPr lang="zh-CN" altLang="en-US" sz="2400">
              <a:latin typeface="SimSun" pitchFamily="2" charset="-122"/>
              <a:ea typeface="SimSun" pitchFamily="2" charset="-122"/>
              <a:cs typeface="SimSun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/>
          <p:cNvSpPr txBox="true"/>
          <p:nvPr/>
        </p:nvSpPr>
        <p:spPr>
          <a:xfrm>
            <a:off x="2211705" y="1757680"/>
            <a:ext cx="9356725" cy="1186180"/>
          </a:xfrm>
          <a:prstGeom prst="rect">
            <a:avLst/>
          </a:prstGeom>
          <a:noFill/>
        </p:spPr>
        <p:txBody>
          <a:bodyPr wrap="square" rtlCol="false">
            <a:noAutofit/>
          </a:bodyPr>
          <a:p>
            <a:pPr/>
            <a:r>
              <a:rPr lang="zh-CN" altLang="en-US" sz="2400">
                <a:latin typeface="SimSun" pitchFamily="2" charset="-122"/>
                <a:ea typeface="SimSun" pitchFamily="2" charset="-122"/>
                <a:cs typeface="SimSun" pitchFamily="2" charset="-122"/>
              </a:rPr>
              <a:t>近些年的研究极大推进了针对</a:t>
            </a:r>
            <a:r>
              <a:rPr lang="en-US" altLang="zh-CN" sz="2400">
                <a:latin typeface="SimSun" pitchFamily="2" charset="-122"/>
                <a:ea typeface="SimSun" pitchFamily="2" charset="-122"/>
                <a:cs typeface="SimSun" pitchFamily="2" charset="-122"/>
              </a:rPr>
              <a:t>LLM</a:t>
            </a:r>
            <a:r>
              <a:rPr lang="zh-CN" altLang="en-US" sz="2400">
                <a:latin typeface="SimSun" pitchFamily="2" charset="-122"/>
                <a:ea typeface="SimSun" pitchFamily="2" charset="-122"/>
                <a:cs typeface="SimSun" pitchFamily="2" charset="-122"/>
              </a:rPr>
              <a:t>的研究，一个最显著的进展是</a:t>
            </a:r>
            <a:r>
              <a:rPr lang="en-US" altLang="zh-CN" sz="2400">
                <a:latin typeface="SimSun" pitchFamily="2" charset="-122"/>
                <a:ea typeface="SimSun" pitchFamily="2" charset="-122"/>
                <a:cs typeface="SimSun" pitchFamily="2" charset="-122"/>
              </a:rPr>
              <a:t>ChatGPT</a:t>
            </a:r>
            <a:r>
              <a:rPr lang="zh-CN" altLang="en-US" sz="2400">
                <a:latin typeface="SimSun" pitchFamily="2" charset="-122"/>
                <a:ea typeface="SimSun" pitchFamily="2" charset="-122"/>
                <a:cs typeface="SimSun" pitchFamily="2" charset="-122"/>
              </a:rPr>
              <a:t>的出现，引起了社会的广泛关注。相比于过去的传统语言模型，大语言模型具有以下优势：</a:t>
            </a:r>
            <a:endParaRPr lang="zh-CN" altLang="en-US" sz="2400">
              <a:latin typeface="SimSun" pitchFamily="2" charset="-122"/>
              <a:ea typeface="SimSun" pitchFamily="2" charset="-122"/>
              <a:cs typeface="SimSun" pitchFamily="2" charset="-122"/>
            </a:endParaRPr>
          </a:p>
          <a:p>
            <a:pPr/>
            <a:endParaRPr lang="zh-CN" altLang="en-US" sz="2400">
              <a:latin typeface="SimSun" pitchFamily="2" charset="-122"/>
              <a:ea typeface="SimSun" pitchFamily="2" charset="-122"/>
              <a:cs typeface="SimSun" pitchFamily="2" charset="-122"/>
            </a:endParaRPr>
          </a:p>
        </p:txBody>
      </p:sp>
      <p:pic>
        <p:nvPicPr>
          <p:cNvPr id="5" name="图片 1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236345" y="3042920"/>
            <a:ext cx="1592580" cy="10668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345" y="4208780"/>
            <a:ext cx="1562100" cy="1005840"/>
          </a:xfrm>
          <a:prstGeom prst="rect">
            <a:avLst/>
          </a:prstGeom>
        </p:spPr>
      </p:pic>
      <p:pic>
        <p:nvPicPr>
          <p:cNvPr id="7" name="图片 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785" y="5600700"/>
            <a:ext cx="1379220" cy="982980"/>
          </a:xfrm>
          <a:prstGeom prst="rect">
            <a:avLst/>
          </a:prstGeom>
        </p:spPr>
      </p:pic>
      <p:sp>
        <p:nvSpPr>
          <p:cNvPr id="8" name="文本框 9"/>
          <p:cNvSpPr txBox="true"/>
          <p:nvPr/>
        </p:nvSpPr>
        <p:spPr>
          <a:xfrm>
            <a:off x="3164205" y="3042920"/>
            <a:ext cx="8325485" cy="829945"/>
          </a:xfrm>
          <a:prstGeom prst="rect">
            <a:avLst/>
          </a:prstGeom>
          <a:noFill/>
        </p:spPr>
        <p:txBody>
          <a:bodyPr wrap="square" rtlCol="false">
            <a:spAutoFit/>
          </a:bodyPr>
          <a:p>
            <a:pPr/>
            <a:r>
              <a:rPr lang="zh-CN" altLang="en-US" sz="2400">
                <a:latin typeface="SimSun" pitchFamily="2" charset="-122"/>
                <a:ea typeface="SimSun" pitchFamily="2" charset="-122"/>
              </a:rPr>
              <a:t>大语言模型可以使用海量数据进行学习，使得对话更加自然流畅，提高用户的交互体验。</a:t>
            </a:r>
            <a:endParaRPr lang="zh-CN" altLang="en-US" sz="2400">
              <a:latin typeface="SimSun" pitchFamily="2" charset="-122"/>
              <a:ea typeface="SimSun" pitchFamily="2" charset="-122"/>
            </a:endParaRPr>
          </a:p>
        </p:txBody>
      </p:sp>
      <p:sp>
        <p:nvSpPr>
          <p:cNvPr id="9" name="文本框 10"/>
          <p:cNvSpPr txBox="true"/>
          <p:nvPr/>
        </p:nvSpPr>
        <p:spPr>
          <a:xfrm>
            <a:off x="3164205" y="4208780"/>
            <a:ext cx="8324850" cy="1129030"/>
          </a:xfrm>
          <a:prstGeom prst="rect">
            <a:avLst/>
          </a:prstGeom>
          <a:noFill/>
        </p:spPr>
        <p:txBody>
          <a:bodyPr wrap="square" rtlCol="false">
            <a:noAutofit/>
          </a:bodyPr>
          <a:p>
            <a:pPr/>
            <a:r>
              <a:rPr lang="zh-CN" altLang="en-US" sz="2400">
                <a:latin typeface="SimSun" pitchFamily="2" charset="-122"/>
                <a:ea typeface="SimSun" pitchFamily="2" charset="-122"/>
              </a:rPr>
              <a:t>大语言模型拥有强大的上下文理解能力，既可以根据上下文总结信息，也可以通过不断添加上下文信息，使模型拥有更强的对话能力。</a:t>
            </a:r>
            <a:endParaRPr lang="zh-CN" altLang="en-US" sz="2400">
              <a:latin typeface="SimSun" pitchFamily="2" charset="-122"/>
              <a:ea typeface="SimSun" pitchFamily="2" charset="-122"/>
            </a:endParaRPr>
          </a:p>
        </p:txBody>
      </p:sp>
      <p:sp>
        <p:nvSpPr>
          <p:cNvPr id="10" name="文本框 12"/>
          <p:cNvSpPr txBox="true"/>
          <p:nvPr/>
        </p:nvSpPr>
        <p:spPr>
          <a:xfrm>
            <a:off x="3164205" y="5509895"/>
            <a:ext cx="8324850" cy="829945"/>
          </a:xfrm>
          <a:prstGeom prst="rect">
            <a:avLst/>
          </a:prstGeom>
          <a:noFill/>
        </p:spPr>
        <p:txBody>
          <a:bodyPr wrap="square" rtlCol="false">
            <a:spAutoFit/>
          </a:bodyPr>
          <a:p>
            <a:pPr/>
            <a:r>
              <a:rPr lang="zh-CN" altLang="en-US" sz="2400">
                <a:latin typeface="SimSun" pitchFamily="2" charset="-122"/>
                <a:ea typeface="SimSun" pitchFamily="2" charset="-122"/>
              </a:rPr>
              <a:t>大语言模型可以根据用户的提示词来改变生成文字的主题、语气，格式等内容，并且生成的文字衔接自然、结构清晰。</a:t>
            </a:r>
            <a:endParaRPr lang="zh-CN" altLang="en-US" sz="2400">
              <a:latin typeface="SimSun" pitchFamily="2" charset="-122"/>
              <a:ea typeface="SimSun" pitchFamily="2" charset="-122"/>
            </a:endParaRPr>
          </a:p>
        </p:txBody>
      </p:sp>
      <p:sp>
        <p:nvSpPr>
          <p:cNvPr id="11" name="圆角矩形 3"/>
          <p:cNvSpPr/>
          <p:nvPr/>
        </p:nvSpPr>
        <p:spPr>
          <a:xfrm>
            <a:off x="14605" y="1043305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文字对话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大模型--GPT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16="http://schemas.microsoft.com/office/drawing/2014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3"/>
          <p:cNvSpPr/>
          <p:nvPr/>
        </p:nvSpPr>
        <p:spPr>
          <a:xfrm>
            <a:off x="14605" y="1043305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文字对话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实际应用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14" name="文本框 2"/>
          <p:cNvSpPr txBox="true"/>
          <p:nvPr/>
        </p:nvSpPr>
        <p:spPr>
          <a:xfrm>
            <a:off x="192405" y="2289175"/>
            <a:ext cx="4569460" cy="1938020"/>
          </a:xfrm>
          <a:prstGeom prst="rect">
            <a:avLst/>
          </a:prstGeom>
          <a:noFill/>
        </p:spPr>
        <p:txBody>
          <a:bodyPr wrap="square" rtlCol="false">
            <a:spAutoFit/>
          </a:bodyPr>
          <a:p>
            <a:pPr/>
            <a:r>
              <a:rPr lang="en-US" altLang="zh-CN" sz="2400">
                <a:latin typeface="SimSun" pitchFamily="2" charset="-122"/>
                <a:ea typeface="SimSun" pitchFamily="2" charset="-122"/>
                <a:cs typeface="SimSun" pitchFamily="2" charset="-122"/>
              </a:rPr>
              <a:t>ChatGLM3-6B</a:t>
            </a:r>
            <a:r>
              <a:rPr lang="zh-CN" altLang="en-US" sz="2400">
                <a:latin typeface="SimSun" pitchFamily="2" charset="-122"/>
                <a:ea typeface="SimSun" pitchFamily="2" charset="-122"/>
                <a:cs typeface="SimSun" pitchFamily="2" charset="-122"/>
              </a:rPr>
              <a:t>是一个开源、双语的对话语言模型，可以在消费级显卡上进行本地部署，结合各种微调技术使得，个人进行大模型的使用和训练成为可能。</a:t>
            </a:r>
            <a:endParaRPr lang="zh-CN" altLang="en-US" sz="2400">
              <a:latin typeface="SimSun" pitchFamily="2" charset="-122"/>
              <a:ea typeface="SimSun" pitchFamily="2" charset="-122"/>
              <a:cs typeface="SimSun" pitchFamily="2" charset="-122"/>
            </a:endParaRPr>
          </a:p>
        </p:txBody>
      </p:sp>
      <p:graphicFrame>
        <p:nvGraphicFramePr>
          <p:cNvPr id="15" name="表格 5"/>
          <p:cNvGraphicFramePr/>
          <p:nvPr/>
        </p:nvGraphicFramePr>
        <p:xfrm>
          <a:off x="502920" y="4829175"/>
          <a:ext cx="3337560" cy="918210"/>
        </p:xfrm>
        <a:graphic>
          <a:graphicData uri="http://schemas.openxmlformats.org/drawingml/2006/table">
            <a:tbl>
              <a:tblPr firstRow="true" bandRow="true">
                <a:tableStyleId>{5940675A-B579-460E-94D1-54222C63F5DA}</a:tableStyleId>
              </a:tblPr>
              <a:tblGrid>
                <a:gridCol w="1112520">
                  <a:extLst>
                    <a:ext uri="{9D8B030D-6E8A-4147-A177-3AD203B41FA5}">
                      <a16:colId val="1"/>
                    </a:ext>
                  </a:extLst>
                </a:gridCol>
                <a:gridCol w="1112520">
                  <a:extLst>
                    <a:ext uri="{9D8B030D-6E8A-4147-A177-3AD203B41FA5}">
                      <a16:colId val="2"/>
                    </a:ext>
                  </a:extLst>
                </a:gridCol>
                <a:gridCol w="1112520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4591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false">
                          <a:latin typeface="+mj-ea"/>
                          <a:cs typeface="+mj-ea"/>
                        </a:rPr>
                        <a:t>int4-量化</a:t>
                      </a:r>
                      <a:endParaRPr lang="en-US" altLang="en-US" sz="1400" b="false">
                        <a:latin typeface="+mj-ea"/>
                        <a:ea typeface="Arial" panose="02080604020202020204" pitchFamily="34" charset="0"/>
                        <a:cs typeface="+mj-ea"/>
                      </a:endParaRPr>
                    </a:p>
                  </a:txBody>
                  <a:tcPr marL="76200" marR="76200" marT="38100" marB="19050" vert="horz" anchor="t">
                    <a:lnL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false">
                          <a:latin typeface="+mj-ea"/>
                          <a:cs typeface="+mj-ea"/>
                        </a:rPr>
                        <a:t>int8-量化</a:t>
                      </a:r>
                      <a:endParaRPr lang="en-US" altLang="en-US" sz="1400" b="false">
                        <a:latin typeface="+mj-ea"/>
                        <a:ea typeface="Arial" panose="02080604020202020204" pitchFamily="34" charset="0"/>
                        <a:cs typeface="+mj-ea"/>
                      </a:endParaRPr>
                    </a:p>
                  </a:txBody>
                  <a:tcPr marL="76200" marR="76200" marT="38100" marB="19050" vert="horz" anchor="t">
                    <a:lnL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false">
                          <a:latin typeface="+mj-ea"/>
                          <a:cs typeface="Arial" panose="02080604020202020204" pitchFamily="34" charset="0"/>
                        </a:rPr>
                        <a:t>全精度</a:t>
                      </a:r>
                      <a:endParaRPr lang="en-US" altLang="en-US" sz="1400" b="false">
                        <a:latin typeface="+mj-ea"/>
                        <a:ea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76200" marR="76200" marT="38100" marB="19050" vert="horz" anchor="t">
                    <a:lnL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591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false">
                          <a:latin typeface="+mj-ea"/>
                          <a:cs typeface="+mj-ea"/>
                        </a:rPr>
                        <a:t>5Gb左右</a:t>
                      </a:r>
                      <a:endParaRPr lang="en-US" altLang="en-US" sz="1400" b="false">
                        <a:latin typeface="+mj-ea"/>
                        <a:ea typeface="Arial" panose="02080604020202020204" pitchFamily="34" charset="0"/>
                        <a:cs typeface="+mj-ea"/>
                      </a:endParaRPr>
                    </a:p>
                  </a:txBody>
                  <a:tcPr marL="76200" marR="76200" marT="38100" marB="19050" vert="horz" anchor="t">
                    <a:lnL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false">
                          <a:latin typeface="+mj-ea"/>
                          <a:cs typeface="+mj-ea"/>
                        </a:rPr>
                        <a:t>8Gb左右</a:t>
                      </a:r>
                      <a:endParaRPr lang="en-US" altLang="en-US" sz="1400" b="false">
                        <a:latin typeface="+mj-ea"/>
                        <a:ea typeface="Arial" panose="02080604020202020204" pitchFamily="34" charset="0"/>
                        <a:cs typeface="+mj-ea"/>
                      </a:endParaRPr>
                    </a:p>
                  </a:txBody>
                  <a:tcPr marL="76200" marR="76200" marT="38100" marB="19050" vert="horz" anchor="t">
                    <a:lnL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false">
                          <a:latin typeface="+mj-ea"/>
                          <a:cs typeface="+mj-ea"/>
                        </a:rPr>
                        <a:t>13Gb左右</a:t>
                      </a:r>
                      <a:endParaRPr lang="en-US" altLang="en-US" sz="1400" b="false">
                        <a:latin typeface="+mj-ea"/>
                        <a:ea typeface="Arial" panose="02080604020202020204" pitchFamily="34" charset="0"/>
                        <a:cs typeface="+mj-ea"/>
                      </a:endParaRPr>
                    </a:p>
                  </a:txBody>
                  <a:tcPr marL="76200" marR="76200" marT="38100" marB="19050" vert="horz" anchor="t">
                    <a:lnL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</a:tbl>
          </a:graphicData>
        </a:graphic>
      </p:graphicFrame>
      <p:pic>
        <p:nvPicPr>
          <p:cNvPr id="16" name="图片 6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5344795" y="2501265"/>
            <a:ext cx="6522085" cy="3246120"/>
          </a:xfrm>
          <a:prstGeom prst="rect">
            <a:avLst/>
          </a:prstGeom>
        </p:spPr>
      </p:pic>
      <p:sp>
        <p:nvSpPr>
          <p:cNvPr id="17" name="文本框 7"/>
          <p:cNvSpPr txBox="true"/>
          <p:nvPr/>
        </p:nvSpPr>
        <p:spPr>
          <a:xfrm>
            <a:off x="2682240" y="1344295"/>
            <a:ext cx="8304530" cy="829945"/>
          </a:xfrm>
          <a:prstGeom prst="rect">
            <a:avLst/>
          </a:prstGeom>
          <a:noFill/>
        </p:spPr>
        <p:txBody>
          <a:bodyPr wrap="square" rtlCol="false" anchor="t">
            <a:spAutoFit/>
          </a:bodyPr>
          <a:p>
            <a:pPr/>
            <a:r>
              <a:rPr lang="zh-CN" altLang="en-US" sz="2400">
                <a:latin typeface="SimSun" pitchFamily="2" charset="-122"/>
                <a:ea typeface="SimSun" pitchFamily="2" charset="-122"/>
                <a:cs typeface="SimSun" pitchFamily="2" charset="-122"/>
                <a:sym typeface="+mn-ea"/>
              </a:rPr>
              <a:t>大语言模型的所需的计算资源较大，</a:t>
            </a:r>
            <a:r>
              <a:rPr lang="en-US" altLang="zh-CN" sz="2400">
                <a:latin typeface="SimSun" pitchFamily="2" charset="-122"/>
                <a:ea typeface="SimSun" pitchFamily="2" charset="-122"/>
                <a:cs typeface="SimSun" pitchFamily="2" charset="-122"/>
                <a:sym typeface="+mn-ea"/>
              </a:rPr>
              <a:t>限制了</a:t>
            </a:r>
            <a:r>
              <a:rPr lang="zh-CN" altLang="en-US" sz="2400">
                <a:latin typeface="SimSun" pitchFamily="2" charset="-122"/>
                <a:ea typeface="SimSun" pitchFamily="2" charset="-122"/>
                <a:cs typeface="SimSun" pitchFamily="2" charset="-122"/>
                <a:sym typeface="+mn-ea"/>
              </a:rPr>
              <a:t>个人使用和训练大语言模型，</a:t>
            </a:r>
            <a:r>
              <a:rPr lang="en-US" altLang="zh-CN" sz="2400">
                <a:latin typeface="SimSun" pitchFamily="2" charset="-122"/>
                <a:ea typeface="SimSun" pitchFamily="2" charset="-122"/>
                <a:cs typeface="SimSun" pitchFamily="2" charset="-122"/>
                <a:sym typeface="+mn-ea"/>
              </a:rPr>
              <a:t>我们使用</a:t>
            </a:r>
            <a:r>
              <a:rPr lang="zh-CN" altLang="en-US" sz="2400">
                <a:latin typeface="SimSun" pitchFamily="2" charset="-122"/>
                <a:ea typeface="SimSun" pitchFamily="2" charset="-122"/>
                <a:cs typeface="SimSun" pitchFamily="2" charset="-122"/>
                <a:sym typeface="+mn-ea"/>
              </a:rPr>
              <a:t>小参数的大语言模型。</a:t>
            </a:r>
            <a:endParaRPr lang="zh-CN" altLang="en-US" sz="2400">
              <a:latin typeface="SimSun" pitchFamily="2" charset="-122"/>
              <a:ea typeface="SimSun" pitchFamily="2" charset="-122"/>
              <a:cs typeface="SimSun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角矩形 20"/>
          <p:cNvSpPr/>
          <p:nvPr/>
        </p:nvSpPr>
        <p:spPr>
          <a:xfrm>
            <a:off x="648970" y="2623820"/>
            <a:ext cx="1724025" cy="3803650"/>
          </a:xfrm>
          <a:prstGeom prst="roundRect">
            <a:avLst/>
          </a:prstGeom>
          <a:noFill/>
          <a:extLst>
            <a:ext uri="{909E8E84-426E-40DD-AFC4-6F175D3DCCD1}"/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false" anchor="ctr"/>
          <a:p>
            <a:pPr algn="ctr"/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0" name="圆角矩形 21"/>
          <p:cNvSpPr/>
          <p:nvPr/>
        </p:nvSpPr>
        <p:spPr>
          <a:xfrm>
            <a:off x="811530" y="2783205"/>
            <a:ext cx="1322705" cy="116268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false" anchor="ctr"/>
          <a:p>
            <a:pPr algn="ctr"/>
            <a:endParaRPr lang="zh-CN" altLang="en-US"/>
          </a:p>
        </p:txBody>
      </p:sp>
      <p:sp>
        <p:nvSpPr>
          <p:cNvPr id="21" name="文本框 22"/>
          <p:cNvSpPr txBox="true"/>
          <p:nvPr/>
        </p:nvSpPr>
        <p:spPr>
          <a:xfrm>
            <a:off x="1036320" y="2987040"/>
            <a:ext cx="873125" cy="306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false">
            <a:spAutoFit/>
          </a:bodyPr>
          <a:p>
            <a:pPr algn="ctr"/>
            <a:r>
              <a:rPr lang="en-US" altLang="en-US" sz="1400">
                <a:latin typeface="Microsoft YaHei" charset="-122"/>
                <a:ea typeface="Microsoft YaHei" charset="-122"/>
              </a:rPr>
              <a:t>讯飞</a:t>
            </a:r>
            <a:endParaRPr lang="en-US" altLang="en-US" sz="1400">
              <a:latin typeface="Microsoft YaHei" charset="-122"/>
              <a:ea typeface="Microsoft YaHei" charset="-122"/>
            </a:endParaRPr>
          </a:p>
        </p:txBody>
      </p:sp>
      <p:sp>
        <p:nvSpPr>
          <p:cNvPr id="22" name="文本框 23"/>
          <p:cNvSpPr txBox="true"/>
          <p:nvPr/>
        </p:nvSpPr>
        <p:spPr>
          <a:xfrm>
            <a:off x="1036320" y="3470910"/>
            <a:ext cx="873125" cy="306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false">
            <a:spAutoFit/>
          </a:bodyPr>
          <a:p>
            <a:pPr algn="ctr"/>
            <a:r>
              <a:rPr lang="en-US" altLang="en-US" sz="1400">
                <a:latin typeface="Microsoft YaHei" charset="-122"/>
                <a:ea typeface="Microsoft YaHei" charset="-122"/>
              </a:rPr>
              <a:t>gpt</a:t>
            </a:r>
            <a:endParaRPr lang="en-US" altLang="en-US" sz="1400">
              <a:latin typeface="Microsoft YaHei" charset="-122"/>
              <a:ea typeface="Microsoft YaHei" charset="-122"/>
            </a:endParaRPr>
          </a:p>
        </p:txBody>
      </p:sp>
      <p:sp>
        <p:nvSpPr>
          <p:cNvPr id="23" name="圆角矩形 24"/>
          <p:cNvSpPr/>
          <p:nvPr/>
        </p:nvSpPr>
        <p:spPr>
          <a:xfrm>
            <a:off x="811530" y="4445635"/>
            <a:ext cx="1322705" cy="187706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false" anchor="ctr"/>
          <a:p>
            <a:pPr algn="ctr"/>
            <a:endParaRPr lang="zh-CN" altLang="en-US"/>
          </a:p>
        </p:txBody>
      </p:sp>
      <p:sp>
        <p:nvSpPr>
          <p:cNvPr id="24" name="文本框 25"/>
          <p:cNvSpPr txBox="true"/>
          <p:nvPr/>
        </p:nvSpPr>
        <p:spPr>
          <a:xfrm>
            <a:off x="1036320" y="4649470"/>
            <a:ext cx="934085" cy="2755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false">
            <a:spAutoFit/>
          </a:bodyPr>
          <a:p>
            <a:pPr algn="ctr"/>
            <a:r>
              <a:rPr lang="en-US" altLang="en-US" sz="1200">
                <a:latin typeface="Microsoft YaHei" charset="-122"/>
                <a:ea typeface="Microsoft YaHei" charset="-122"/>
              </a:rPr>
              <a:t>chatglm2</a:t>
            </a:r>
            <a:endParaRPr lang="en-US" altLang="en-US" sz="1200">
              <a:latin typeface="Microsoft YaHei" charset="-122"/>
              <a:ea typeface="Microsoft YaHei" charset="-122"/>
            </a:endParaRPr>
          </a:p>
        </p:txBody>
      </p:sp>
      <p:sp>
        <p:nvSpPr>
          <p:cNvPr id="25" name="文本框 27"/>
          <p:cNvSpPr txBox="true"/>
          <p:nvPr/>
        </p:nvSpPr>
        <p:spPr>
          <a:xfrm>
            <a:off x="1036320" y="4991735"/>
            <a:ext cx="934085" cy="2755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false">
            <a:spAutoFit/>
          </a:bodyPr>
          <a:p>
            <a:pPr algn="ctr"/>
            <a:r>
              <a:rPr lang="en-US" altLang="en-US" sz="1200">
                <a:latin typeface="Microsoft YaHei" charset="-122"/>
                <a:ea typeface="Microsoft YaHei" charset="-122"/>
              </a:rPr>
              <a:t>chatglm3</a:t>
            </a:r>
            <a:endParaRPr lang="en-US" altLang="en-US" sz="1200">
              <a:latin typeface="Microsoft YaHei" charset="-122"/>
              <a:ea typeface="Microsoft YaHei" charset="-122"/>
            </a:endParaRPr>
          </a:p>
        </p:txBody>
      </p:sp>
      <p:sp>
        <p:nvSpPr>
          <p:cNvPr id="26" name="文本框 2"/>
          <p:cNvSpPr txBox="true"/>
          <p:nvPr/>
        </p:nvSpPr>
        <p:spPr>
          <a:xfrm>
            <a:off x="1036320" y="5337810"/>
            <a:ext cx="934085" cy="2755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false">
            <a:spAutoFit/>
          </a:bodyPr>
          <a:p>
            <a:pPr algn="ctr"/>
            <a:r>
              <a:rPr lang="en-US" altLang="en-US" sz="1200">
                <a:latin typeface="Microsoft YaHei" charset="-122"/>
                <a:ea typeface="Microsoft YaHei" charset="-122"/>
              </a:rPr>
              <a:t>llma</a:t>
            </a:r>
            <a:endParaRPr lang="en-US" altLang="en-US" sz="1200">
              <a:latin typeface="Microsoft YaHei" charset="-122"/>
              <a:ea typeface="Microsoft YaHei" charset="-122"/>
            </a:endParaRPr>
          </a:p>
        </p:txBody>
      </p:sp>
      <p:sp>
        <p:nvSpPr>
          <p:cNvPr id="27" name="文本框 7"/>
          <p:cNvSpPr txBox="true"/>
          <p:nvPr/>
        </p:nvSpPr>
        <p:spPr>
          <a:xfrm>
            <a:off x="1036320" y="5704205"/>
            <a:ext cx="934085" cy="4603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false">
            <a:spAutoFit/>
          </a:bodyPr>
          <a:p>
            <a:pPr algn="ctr"/>
            <a:r>
              <a:rPr lang="en-US" altLang="en-US" sz="1200">
                <a:latin typeface="Microsoft YaHei" charset="-122"/>
                <a:ea typeface="Microsoft YaHei" charset="-122"/>
              </a:rPr>
              <a:t>VisualGLM-6b</a:t>
            </a:r>
            <a:endParaRPr lang="en-US" altLang="en-US" sz="1200">
              <a:latin typeface="Microsoft YaHei" charset="-122"/>
              <a:ea typeface="Microsoft YaHei" charset="-122"/>
            </a:endParaRPr>
          </a:p>
        </p:txBody>
      </p:sp>
      <p:cxnSp>
        <p:nvCxnSpPr>
          <p:cNvPr id="28" name="肘形连接符 13"/>
          <p:cNvCxnSpPr/>
          <p:nvPr/>
        </p:nvCxnSpPr>
        <p:spPr>
          <a:xfrm flipV="true">
            <a:off x="1970405" y="5136515"/>
            <a:ext cx="892810" cy="5715"/>
          </a:xfrm>
          <a:prstGeom prst="bentConnector3">
            <a:avLst>
              <a:gd name="adj1" fmla="val 50071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14"/>
          <p:cNvSpPr txBox="true"/>
          <p:nvPr/>
        </p:nvSpPr>
        <p:spPr>
          <a:xfrm>
            <a:off x="2863215" y="4991735"/>
            <a:ext cx="934085" cy="2755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false">
            <a:spAutoFit/>
          </a:bodyPr>
          <a:p>
            <a:pPr algn="ctr"/>
            <a:r>
              <a:rPr lang="en-US" altLang="en-US" sz="1200">
                <a:latin typeface="Microsoft YaHei" charset="-122"/>
                <a:ea typeface="Microsoft YaHei" charset="-122"/>
              </a:rPr>
              <a:t>微调</a:t>
            </a:r>
            <a:endParaRPr lang="en-US" altLang="en-US" sz="1200">
              <a:latin typeface="Microsoft YaHei" charset="-122"/>
              <a:ea typeface="Microsoft YaHei" charset="-122"/>
            </a:endParaRPr>
          </a:p>
        </p:txBody>
      </p:sp>
      <p:sp>
        <p:nvSpPr>
          <p:cNvPr id="30" name="文本框 15"/>
          <p:cNvSpPr txBox="true"/>
          <p:nvPr/>
        </p:nvSpPr>
        <p:spPr>
          <a:xfrm>
            <a:off x="2863215" y="4535170"/>
            <a:ext cx="934085" cy="2755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false">
            <a:spAutoFit/>
          </a:bodyPr>
          <a:p>
            <a:pPr algn="ctr"/>
            <a:r>
              <a:rPr lang="en-US" altLang="en-US" sz="1200">
                <a:latin typeface="Microsoft YaHei" charset="-122"/>
                <a:ea typeface="Microsoft YaHei" charset="-122"/>
              </a:rPr>
              <a:t>langchain</a:t>
            </a:r>
            <a:endParaRPr lang="en-US" altLang="en-US" sz="1200">
              <a:latin typeface="Microsoft YaHei" charset="-122"/>
              <a:ea typeface="Microsoft YaHei" charset="-122"/>
            </a:endParaRPr>
          </a:p>
        </p:txBody>
      </p:sp>
      <p:cxnSp>
        <p:nvCxnSpPr>
          <p:cNvPr id="31" name="肘形连接符 16"/>
          <p:cNvCxnSpPr>
            <a:stCxn id="25" idx="3"/>
            <a:endCxn id="30" idx="1"/>
          </p:cNvCxnSpPr>
          <p:nvPr/>
        </p:nvCxnSpPr>
        <p:spPr>
          <a:xfrm flipV="true">
            <a:off x="1970405" y="4672965"/>
            <a:ext cx="892810" cy="45656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圆角矩形 3"/>
          <p:cNvSpPr/>
          <p:nvPr/>
        </p:nvSpPr>
        <p:spPr>
          <a:xfrm>
            <a:off x="14605" y="1043305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文字对话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实际应用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3" name="Drawing 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4476750" y="1280160"/>
            <a:ext cx="6789420" cy="1426845"/>
          </a:xfrm>
          <a:prstGeom prst="rect">
            <a:avLst/>
          </a:prstGeom>
        </p:spPr>
      </p:pic>
      <p:pic>
        <p:nvPicPr>
          <p:cNvPr id="34" name="Drawing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365" y="3257550"/>
            <a:ext cx="4393565" cy="32873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圆角矩形 3"/>
          <p:cNvSpPr/>
          <p:nvPr/>
        </p:nvSpPr>
        <p:spPr>
          <a:xfrm>
            <a:off x="14605" y="1043305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文字转语音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37" name="文本框 4"/>
          <p:cNvSpPr txBox="true"/>
          <p:nvPr/>
        </p:nvSpPr>
        <p:spPr>
          <a:xfrm>
            <a:off x="963295" y="2480945"/>
            <a:ext cx="1162050" cy="306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false">
            <a:spAutoFit/>
          </a:bodyPr>
          <a:p>
            <a:pPr algn="ctr"/>
            <a:r>
              <a:rPr lang="en-US" sz="1400">
                <a:sym typeface="+mn-ea"/>
              </a:rPr>
              <a:t>llm</a:t>
            </a:r>
            <a:r>
              <a:rPr lang="en-US" sz="1400">
                <a:latin typeface="Microsoft YaHei" charset="-122"/>
                <a:ea typeface="Microsoft YaHei" charset="-122"/>
              </a:rPr>
              <a:t>回复</a:t>
            </a:r>
            <a:endParaRPr lang="en-US" sz="1400">
              <a:latin typeface="Microsoft YaHei" charset="-122"/>
              <a:ea typeface="Microsoft YaHei" charset="-122"/>
            </a:endParaRPr>
          </a:p>
        </p:txBody>
      </p:sp>
      <p:sp>
        <p:nvSpPr>
          <p:cNvPr id="38" name="文本框 5"/>
          <p:cNvSpPr txBox="true"/>
          <p:nvPr/>
        </p:nvSpPr>
        <p:spPr>
          <a:xfrm>
            <a:off x="963295" y="4086225"/>
            <a:ext cx="859155" cy="5219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false">
            <a:spAutoFit/>
          </a:bodyPr>
          <a:p>
            <a:pPr algn="ctr"/>
            <a:r>
              <a:rPr lang="en-US" sz="1400">
                <a:latin typeface="Microsoft YaHei" charset="-122"/>
                <a:ea typeface="Microsoft YaHei" charset="-122"/>
              </a:rPr>
              <a:t>合成</a:t>
            </a:r>
            <a:endParaRPr lang="en-US" sz="1400">
              <a:latin typeface="Microsoft YaHei" charset="-122"/>
              <a:ea typeface="Microsoft YaHei" charset="-122"/>
            </a:endParaRPr>
          </a:p>
          <a:p>
            <a:pPr algn="ctr"/>
            <a:r>
              <a:rPr lang="en-US" sz="1400">
                <a:latin typeface="Microsoft YaHei" charset="-122"/>
                <a:ea typeface="Microsoft YaHei" charset="-122"/>
              </a:rPr>
              <a:t>.wav</a:t>
            </a:r>
            <a:endParaRPr lang="en-US" sz="1400">
              <a:latin typeface="Microsoft YaHei" charset="-122"/>
              <a:ea typeface="Microsoft YaHei" charset="-122"/>
            </a:endParaRPr>
          </a:p>
        </p:txBody>
      </p:sp>
      <p:sp>
        <p:nvSpPr>
          <p:cNvPr id="39" name="下箭头 6"/>
          <p:cNvSpPr/>
          <p:nvPr/>
        </p:nvSpPr>
        <p:spPr>
          <a:xfrm>
            <a:off x="748665" y="2973070"/>
            <a:ext cx="1376680" cy="907415"/>
          </a:xfrm>
          <a:prstGeom prst="downArrow">
            <a:avLst/>
          </a:prstGeom>
          <a:noFill/>
          <a:extLst>
            <a:ext uri="{909E8E84-426E-40DD-AFC4-6F175D3DCCD1}"/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vits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40" name="下箭头 7"/>
          <p:cNvSpPr/>
          <p:nvPr/>
        </p:nvSpPr>
        <p:spPr>
          <a:xfrm>
            <a:off x="704850" y="4880610"/>
            <a:ext cx="1376680" cy="907415"/>
          </a:xfrm>
          <a:prstGeom prst="downArrow">
            <a:avLst/>
          </a:prstGeom>
          <a:noFill/>
          <a:extLst>
            <a:ext uri="{909E8E84-426E-40DD-AFC4-6F175D3DCCD1}"/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play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41" name="文本框 8"/>
          <p:cNvSpPr txBox="true"/>
          <p:nvPr/>
        </p:nvSpPr>
        <p:spPr>
          <a:xfrm>
            <a:off x="3174365" y="2450465"/>
            <a:ext cx="7661275" cy="368300"/>
          </a:xfrm>
          <a:prstGeom prst="rect">
            <a:avLst/>
          </a:prstGeom>
          <a:noFill/>
        </p:spPr>
        <p:txBody>
          <a:bodyPr wrap="square" rtlCol="false">
            <a:spAutoFit/>
          </a:bodyPr>
          <a:p>
            <a:pPr/>
            <a:r>
              <a:rPr lang="en-US" altLang="zh-CN"/>
              <a:t>我们的vits模型是在预训练模型基础上基于同一个人物声音训练得到的。</a:t>
            </a:r>
            <a:endParaRPr lang="en-US" altLang="zh-CN"/>
          </a:p>
        </p:txBody>
      </p:sp>
      <p:sp>
        <p:nvSpPr>
          <p:cNvPr id="42" name="文本框 9"/>
          <p:cNvSpPr txBox="true"/>
          <p:nvPr/>
        </p:nvSpPr>
        <p:spPr>
          <a:xfrm>
            <a:off x="3174365" y="4022725"/>
            <a:ext cx="7256145" cy="922020"/>
          </a:xfrm>
          <a:prstGeom prst="rect">
            <a:avLst/>
          </a:prstGeom>
          <a:noFill/>
        </p:spPr>
        <p:txBody>
          <a:bodyPr wrap="square" rtlCol="false" anchor="t">
            <a:spAutoFit/>
          </a:bodyPr>
          <a:p>
            <a:pPr/>
            <a:r>
              <a:rPr lang="zh-CN" altLang="en-US"/>
              <a:t>SummerTTS</a:t>
            </a:r>
            <a:r>
              <a:rPr lang="en-US" altLang="zh-CN"/>
              <a:t>原模型是</a:t>
            </a:r>
            <a:r>
              <a:rPr lang="en-US" altLang="zh-CN"/>
              <a:t>训练完成的，无法继续训练，但是效果也不错</a:t>
            </a:r>
            <a:endParaRPr lang="en-US" altLang="zh-CN"/>
          </a:p>
          <a:p>
            <a:pPr/>
            <a:endParaRPr lang="en-US" altLang="zh-CN"/>
          </a:p>
          <a:p>
            <a:pPr/>
            <a:r>
              <a:rPr lang="en-US" altLang="zh-CN"/>
              <a:t>优点：基于C++，轻量化，说明书中说可以在树莓派上运行</a:t>
            </a:r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圆角矩形 18"/>
          <p:cNvSpPr/>
          <p:nvPr/>
        </p:nvSpPr>
        <p:spPr>
          <a:xfrm>
            <a:off x="1750695" y="4483100"/>
            <a:ext cx="8886190" cy="1720850"/>
          </a:xfrm>
          <a:prstGeom prst="roundRect">
            <a:avLst/>
          </a:prstGeom>
          <a:noFill/>
          <a:extLst>
            <a:ext uri="{909E8E84-426E-40DD-AFC4-6F175D3DCCD1}"/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false" anchor="ctr"/>
          <a:p>
            <a:pPr algn="l"/>
            <a:endParaRPr lang="en-US" altLang="zh-CN">
              <a:solidFill>
                <a:schemeClr val="tx1"/>
              </a:solidFill>
              <a:sym typeface="+mn-ea"/>
            </a:endParaRPr>
          </a:p>
          <a:p>
            <a:pPr algn="l"/>
            <a:r>
              <a:rPr lang="en-US" altLang="zh-CN"/>
              <a:t>1.语音唤醒</a:t>
            </a:r>
            <a:r>
              <a:rPr lang="en-US" altLang="en-US"/>
              <a:t>：</a:t>
            </a:r>
            <a:r>
              <a:rPr lang="en-US" altLang="zh-CN">
                <a:sym typeface="+mn-ea"/>
              </a:rPr>
              <a:t>替换或者优化snowboy，解决嘈杂环境误唤醒</a:t>
            </a:r>
            <a:r>
              <a:rPr lang="en-US" altLang="en-US">
                <a:sym typeface="+mn-ea"/>
              </a:rPr>
              <a:t>，评价标准是难点</a:t>
            </a:r>
            <a:endParaRPr lang="en-US" altLang="zh-CN"/>
          </a:p>
          <a:p>
            <a:pPr algn="l"/>
            <a:r>
              <a:rPr lang="en-US" altLang="zh-CN"/>
              <a:t>2.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语音转文字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：</a:t>
            </a:r>
            <a:r>
              <a:rPr lang="en-US" altLang="en-US">
                <a:solidFill>
                  <a:schemeClr val="tx1"/>
                </a:solidFill>
                <a:sym typeface="+mn-ea"/>
              </a:rPr>
              <a:t>暂时</a:t>
            </a:r>
            <a:r>
              <a:rPr lang="en-US" altLang="zh-CN"/>
              <a:t>不需要</a:t>
            </a:r>
            <a:endParaRPr lang="en-US" altLang="zh-CN"/>
          </a:p>
          <a:p>
            <a:pPr algn="l"/>
            <a:r>
              <a:rPr lang="en-US" altLang="zh-CN"/>
              <a:t>3.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文字对话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：</a:t>
            </a:r>
            <a:r>
              <a:rPr lang="en-US" altLang="en-US"/>
              <a:t>新的模型，</a:t>
            </a:r>
            <a:r>
              <a:rPr lang="en-US" altLang="zh-CN">
                <a:sym typeface="+mn-ea"/>
              </a:rPr>
              <a:t>sft 微调  </a:t>
            </a:r>
            <a:endParaRPr lang="en-US" altLang="zh-CN">
              <a:sym typeface="+mn-ea"/>
            </a:endParaRPr>
          </a:p>
          <a:p>
            <a:pPr algn="l"/>
            <a:r>
              <a:rPr lang="en-US" altLang="zh-CN"/>
              <a:t>4.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文字转语音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：</a:t>
            </a:r>
            <a:r>
              <a:rPr lang="en-US" altLang="zh-CN"/>
              <a:t>tts   vits  summerspeech  性能线程优化，卡顿</a:t>
            </a:r>
            <a:endParaRPr lang="en-US" altLang="zh-CN"/>
          </a:p>
          <a:p>
            <a:pPr algn="l"/>
            <a:r>
              <a:rPr lang="en-US" altLang="en-US"/>
              <a:t>5.整体：2，3，4速度优化</a:t>
            </a:r>
            <a:endParaRPr lang="en-US" altLang="zh-CN"/>
          </a:p>
          <a:p>
            <a:pPr algn="l"/>
            <a:endParaRPr lang="en-US" altLang="zh-CN"/>
          </a:p>
        </p:txBody>
      </p:sp>
      <p:sp>
        <p:nvSpPr>
          <p:cNvPr id="45" name="文本框 8"/>
          <p:cNvSpPr txBox="true"/>
          <p:nvPr/>
        </p:nvSpPr>
        <p:spPr>
          <a:xfrm>
            <a:off x="2265680" y="1628140"/>
            <a:ext cx="7661275" cy="368300"/>
          </a:xfrm>
          <a:prstGeom prst="rect">
            <a:avLst/>
          </a:prstGeom>
          <a:noFill/>
        </p:spPr>
        <p:txBody>
          <a:bodyPr wrap="square" rtlCol="false">
            <a:spAutoFit/>
          </a:bodyPr>
          <a:p>
            <a:pPr algn="ctr"/>
            <a:r>
              <a:rPr lang="en-US" altLang="en-US"/>
              <a:t>说完话到开始回答时间在3s以内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圆角矩形 3"/>
          <p:cNvSpPr/>
          <p:nvPr/>
        </p:nvSpPr>
        <p:spPr>
          <a:xfrm>
            <a:off x="1475105" y="3053080"/>
            <a:ext cx="1485265" cy="87439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语音唤醒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wakeup_pkg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48" name="圆角矩形 4"/>
          <p:cNvSpPr/>
          <p:nvPr/>
        </p:nvSpPr>
        <p:spPr>
          <a:xfrm>
            <a:off x="3853815" y="3583940"/>
            <a:ext cx="1485265" cy="87439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语音转文字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VoiceOffline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49" name="圆角矩形 6"/>
          <p:cNvSpPr/>
          <p:nvPr/>
        </p:nvSpPr>
        <p:spPr>
          <a:xfrm>
            <a:off x="6145530" y="3583940"/>
            <a:ext cx="1485265" cy="8743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文字对话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llm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50" name="圆角矩形 10"/>
          <p:cNvSpPr/>
          <p:nvPr/>
        </p:nvSpPr>
        <p:spPr>
          <a:xfrm>
            <a:off x="8437245" y="3583940"/>
            <a:ext cx="1485265" cy="87439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语音合成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vits/EmotiVoice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51" name="右箭头 14"/>
          <p:cNvSpPr/>
          <p:nvPr/>
        </p:nvSpPr>
        <p:spPr>
          <a:xfrm>
            <a:off x="3279140" y="3927475"/>
            <a:ext cx="328295" cy="19748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false" anchor="ctr"/>
          <a:p>
            <a:pPr algn="ctr"/>
            <a:endParaRPr lang="zh-CN" altLang="en-US"/>
          </a:p>
        </p:txBody>
      </p:sp>
      <p:sp>
        <p:nvSpPr>
          <p:cNvPr id="52" name="右箭头 15"/>
          <p:cNvSpPr/>
          <p:nvPr/>
        </p:nvSpPr>
        <p:spPr>
          <a:xfrm>
            <a:off x="5578475" y="3927475"/>
            <a:ext cx="328295" cy="19748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false" anchor="ctr"/>
          <a:p>
            <a:pPr algn="ctr"/>
            <a:endParaRPr lang="zh-CN" altLang="en-US"/>
          </a:p>
        </p:txBody>
      </p:sp>
      <p:sp>
        <p:nvSpPr>
          <p:cNvPr id="53" name="右箭头 16"/>
          <p:cNvSpPr/>
          <p:nvPr/>
        </p:nvSpPr>
        <p:spPr>
          <a:xfrm>
            <a:off x="7869555" y="3927475"/>
            <a:ext cx="328295" cy="19748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false" anchor="ctr"/>
          <a:p>
            <a:pPr algn="ctr"/>
            <a:endParaRPr lang="zh-CN" altLang="en-US"/>
          </a:p>
        </p:txBody>
      </p:sp>
      <p:sp>
        <p:nvSpPr>
          <p:cNvPr id="54" name="圆角矩形 1"/>
          <p:cNvSpPr/>
          <p:nvPr/>
        </p:nvSpPr>
        <p:spPr>
          <a:xfrm>
            <a:off x="1475105" y="4124960"/>
            <a:ext cx="1485265" cy="87439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声纹识别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vpr_pkg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pic>
        <p:nvPicPr>
          <p:cNvPr id="55" name="图片 11"/>
          <p:cNvPicPr>
            <a:picLocks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61315" y="3583940"/>
            <a:ext cx="379730" cy="8153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2024-12-23T15:45:16Z</dcterms:created>
  <dcterms:modified xsi:type="dcterms:W3CDTF">2024-12-23T15:45:16Z</dcterms:modified>
</cp:coreProperties>
</file>